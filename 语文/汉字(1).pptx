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7" r:id="rId24"/>
    <p:sldId id="280" r:id="rId25"/>
    <p:sldId id="282" r:id="rId26"/>
    <p:sldId id="283" r:id="rId27"/>
    <p:sldId id="284"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97" autoAdjust="0"/>
    <p:restoredTop sz="94660"/>
  </p:normalViewPr>
  <p:slideViewPr>
    <p:cSldViewPr snapToGrid="0">
      <p:cViewPr varScale="1">
        <p:scale>
          <a:sx n="91" d="100"/>
          <a:sy n="91" d="100"/>
        </p:scale>
        <p:origin x="954"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413927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95604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019263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687174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43840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175075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17218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879026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3303142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202825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1226685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C39A181-9E1C-4CCC-9AE9-01F4A593E8A3}"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350196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1D4EB0C-0D81-4EE7-A59A-082430051AD2}"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812314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D8D53CB-32BA-4B69-9B1B-1A243F351CF3}"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025016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dirty="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C834F632-A1B5-4B49-A158-4587022555D4}"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956790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dirty="0">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ADB6CC04-D4FD-4D97-8214-A2B6AE7916DD}"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064139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dirty="0">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E785E0B9-E14B-4D4F-9CF0-29CDE9303442}"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441105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dirty="0">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951D51BC-7043-46BF-BCD4-6D8F297A90CC}"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248612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dirty="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BB12B545-4D7C-4134-865B-DF44FE58534C}"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760861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dirty="0">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27B043D-0DED-4118-BAC1-110BBAD6D97A}"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1540291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10F3851-0183-4371-9CD7-4282AF660C58}"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35900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dirty="0">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dirty="0">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E4CCD65-2945-4184-93DB-7A8EABCF324D}" type="slidenum">
              <a:rPr lang="en-US" altLang="zh-CN">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513634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B11BF-E65B-4CA9-9D25-563CE31164E3}" type="datetimeFigureOut">
              <a:rPr lang="zh-CN" altLang="en-US" smtClean="0"/>
              <a:t>2017/11/8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606CB2-EE3F-4210-853A-018115DB30D2}" type="slidenum">
              <a:rPr lang="zh-CN" altLang="en-US" smtClean="0"/>
              <a:t>‹#›</a:t>
            </a:fld>
            <a:endParaRPr lang="zh-CN" altLang="en-US"/>
          </a:p>
        </p:txBody>
      </p:sp>
    </p:spTree>
    <p:extLst>
      <p:ext uri="{BB962C8B-B14F-4D97-AF65-F5344CB8AC3E}">
        <p14:creationId xmlns:p14="http://schemas.microsoft.com/office/powerpoint/2010/main" val="77072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9318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9318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zh-CN" dirty="0">
              <a:solidFill>
                <a:srgbClr val="000000"/>
              </a:solidFill>
            </a:endParaRPr>
          </a:p>
        </p:txBody>
      </p:sp>
      <p:sp>
        <p:nvSpPr>
          <p:cNvPr id="9318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zh-CN" dirty="0">
              <a:solidFill>
                <a:srgbClr val="000000"/>
              </a:solidFill>
            </a:endParaRPr>
          </a:p>
        </p:txBody>
      </p:sp>
      <p:sp>
        <p:nvSpPr>
          <p:cNvPr id="9319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E6D14010-6C10-4E3A-A236-0905E48BA1CA}" type="slidenum">
              <a:rPr lang="en-US" altLang="zh-CN">
                <a:solidFill>
                  <a:srgbClr val="000000"/>
                </a:solidFill>
              </a:rPr>
              <a:pPr fontAlgn="base">
                <a:spcBef>
                  <a:spcPct val="0"/>
                </a:spcBef>
                <a:spcAft>
                  <a:spcPct val="0"/>
                </a:spcAft>
              </a:pPr>
              <a:t>‹#›</a:t>
            </a:fld>
            <a:endParaRPr lang="en-US" altLang="zh-CN" dirty="0">
              <a:solidFill>
                <a:srgbClr val="000000"/>
              </a:solidFill>
            </a:endParaRPr>
          </a:p>
        </p:txBody>
      </p:sp>
    </p:spTree>
    <p:extLst>
      <p:ext uri="{BB962C8B-B14F-4D97-AF65-F5344CB8AC3E}">
        <p14:creationId xmlns:p14="http://schemas.microsoft.com/office/powerpoint/2010/main" val="26307239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hyperlink" Target="http://www.pwez.com/asp/Article_Show.asp?ArticleID=1174"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http://appd1.beiwaionline.com/CourseContent/ggk/xdhy/new/content/3/xingtiyanbian/IMAGES/A081.GIF" TargetMode="External"/><Relationship Id="rId7" Type="http://schemas.openxmlformats.org/officeDocument/2006/relationships/image" Target="http://appd1.beiwaionline.com/CourseContent/ggk/xdhy/new/content/3/xingtiyanbian/IMAGES/A083.GIF" TargetMode="External"/><Relationship Id="rId12" Type="http://schemas.openxmlformats.org/officeDocument/2006/relationships/image" Target="../media/image32.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1.png"/><Relationship Id="rId5" Type="http://schemas.openxmlformats.org/officeDocument/2006/relationships/image" Target="http://appd1.beiwaionline.com/CourseContent/ggk/xdhy/new/content/3/xingtiyanbian/IMAGES/A082.GIF" TargetMode="Externa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http://appd1.beiwaionline.com/CourseContent/ggk/xdhy/new/content/3/xingtiyanbian/IMAGES/A084.GI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7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descr="demo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143000"/>
            <a:ext cx="7467600" cy="3586163"/>
          </a:xfrm>
          <a:prstGeom prst="rect">
            <a:avLst/>
          </a:prstGeom>
          <a:noFill/>
          <a:extLst>
            <a:ext uri="{909E8E84-426E-40DD-AFC4-6F175D3DCCD1}">
              <a14:hiddenFill xmlns:a14="http://schemas.microsoft.com/office/drawing/2010/main">
                <a:solidFill>
                  <a:srgbClr val="FFFFFF"/>
                </a:solidFill>
              </a14:hiddenFill>
            </a:ext>
          </a:extLst>
        </p:spPr>
      </p:pic>
      <p:sp>
        <p:nvSpPr>
          <p:cNvPr id="3090" name="WordArt 18"/>
          <p:cNvSpPr>
            <a:spLocks noChangeArrowheads="1" noChangeShapeType="1" noTextEdit="1"/>
          </p:cNvSpPr>
          <p:nvPr/>
        </p:nvSpPr>
        <p:spPr bwMode="auto">
          <a:xfrm>
            <a:off x="1979613" y="2133600"/>
            <a:ext cx="4897437" cy="1582738"/>
          </a:xfrm>
          <a:prstGeom prst="rect">
            <a:avLst/>
          </a:prstGeom>
        </p:spPr>
        <p:txBody>
          <a:bodyPr wrap="none" fromWordArt="1">
            <a:prstTxWarp prst="textPlain">
              <a:avLst>
                <a:gd name="adj" fmla="val 50000"/>
              </a:avLst>
            </a:prstTxWarp>
          </a:bodyPr>
          <a:lstStyle/>
          <a:p>
            <a:pPr algn="ctr"/>
            <a:r>
              <a:rPr lang="zh-CN" altLang="en-US" sz="3600" kern="10">
                <a:ln w="19050">
                  <a:solidFill>
                    <a:srgbClr val="000080"/>
                  </a:solidFill>
                  <a:round/>
                  <a:headEnd/>
                  <a:tailEnd/>
                </a:ln>
                <a:solidFill>
                  <a:srgbClr val="000080"/>
                </a:solidFill>
                <a:effectLst>
                  <a:outerShdw dist="35921" dir="2700000" algn="ctr" rotWithShape="0">
                    <a:srgbClr val="990000"/>
                  </a:outerShdw>
                </a:effectLst>
                <a:latin typeface="华文新魏" panose="02010800040101010101" pitchFamily="2" charset="-122"/>
                <a:ea typeface="华文新魏" panose="02010800040101010101" pitchFamily="2" charset="-122"/>
              </a:rPr>
              <a:t>专题汉字</a:t>
            </a:r>
          </a:p>
        </p:txBody>
      </p:sp>
    </p:spTree>
    <p:extLst>
      <p:ext uri="{BB962C8B-B14F-4D97-AF65-F5344CB8AC3E}">
        <p14:creationId xmlns:p14="http://schemas.microsoft.com/office/powerpoint/2010/main" val="3938918171"/>
      </p:ext>
    </p:extLst>
  </p:cSld>
  <p:clrMapOvr>
    <a:masterClrMapping/>
  </p:clrMapOvr>
  <p:transition>
    <p:zoom/>
    <p:sndAc>
      <p:stSnd>
        <p:snd r:embed="rId2" name="chimes.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ChangeArrowheads="1"/>
          </p:cNvSpPr>
          <p:nvPr/>
        </p:nvSpPr>
        <p:spPr bwMode="auto">
          <a:xfrm>
            <a:off x="468313" y="0"/>
            <a:ext cx="3798887" cy="1524000"/>
          </a:xfrm>
          <a:prstGeom prst="horizontalScroll">
            <a:avLst>
              <a:gd name="adj" fmla="val 12500"/>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4400" b="1">
                <a:solidFill>
                  <a:srgbClr val="FF3300"/>
                </a:solidFill>
                <a:ea typeface="华文行楷" panose="02010800040101010101" pitchFamily="2" charset="-122"/>
              </a:rPr>
              <a:t>汉字的起源</a:t>
            </a:r>
          </a:p>
        </p:txBody>
      </p:sp>
      <p:sp>
        <p:nvSpPr>
          <p:cNvPr id="7171" name="Text Box 3"/>
          <p:cNvSpPr txBox="1">
            <a:spLocks noChangeArrowheads="1"/>
          </p:cNvSpPr>
          <p:nvPr/>
        </p:nvSpPr>
        <p:spPr bwMode="auto">
          <a:xfrm>
            <a:off x="4500563" y="960438"/>
            <a:ext cx="401955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lnSpc>
                <a:spcPct val="130000"/>
              </a:lnSpc>
              <a:spcBef>
                <a:spcPct val="50000"/>
              </a:spcBef>
            </a:pPr>
            <a:r>
              <a:rPr kumimoji="1" lang="en-US" altLang="zh-CN" sz="4000" b="1" dirty="0">
                <a:latin typeface="华文新魏" panose="02010800040101010101" pitchFamily="2" charset="-122"/>
                <a:ea typeface="华文新魏" panose="02010800040101010101" pitchFamily="2" charset="-122"/>
              </a:rPr>
              <a:t>    </a:t>
            </a:r>
            <a:r>
              <a:rPr kumimoji="1" lang="zh-CN" altLang="en-US" sz="4000" b="1" dirty="0">
                <a:latin typeface="华文新魏" panose="02010800040101010101" pitchFamily="2" charset="-122"/>
                <a:ea typeface="华文新魏" panose="02010800040101010101" pitchFamily="2" charset="-122"/>
              </a:rPr>
              <a:t>汉字是广大劳动人民根据 实际生活的需要，经过长 期的社会实践才慢慢地丰 富和发展起来的。 </a:t>
            </a:r>
          </a:p>
        </p:txBody>
      </p:sp>
      <p:pic>
        <p:nvPicPr>
          <p:cNvPr id="7173" name="Picture 5" descr="%2Fimages%2Fjingdian%2F%E5%A7%D1%F4%2F%B2%D6%F2%A1%C1%EA%D2%C5%D6%B7%2F238D%2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484313"/>
            <a:ext cx="3657600" cy="4219575"/>
          </a:xfrm>
          <a:prstGeom prst="rect">
            <a:avLst/>
          </a:prstGeom>
          <a:noFill/>
          <a:extLst>
            <a:ext uri="{909E8E84-426E-40DD-AFC4-6F175D3DCCD1}">
              <a14:hiddenFill xmlns:a14="http://schemas.microsoft.com/office/drawing/2010/main">
                <a:solidFill>
                  <a:srgbClr val="FFFFFF"/>
                </a:solidFill>
              </a14:hiddenFill>
            </a:ext>
          </a:extLst>
        </p:spPr>
      </p:pic>
      <p:sp>
        <p:nvSpPr>
          <p:cNvPr id="7174" name="Text Box 6"/>
          <p:cNvSpPr txBox="1">
            <a:spLocks noChangeArrowheads="1"/>
          </p:cNvSpPr>
          <p:nvPr/>
        </p:nvSpPr>
        <p:spPr bwMode="auto">
          <a:xfrm>
            <a:off x="533400" y="5943600"/>
            <a:ext cx="3505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zh-CN" altLang="en-US" sz="4000" b="1">
                <a:solidFill>
                  <a:srgbClr val="0000FF"/>
                </a:solidFill>
                <a:latin typeface="Times New Roman" panose="02020603050405020304" pitchFamily="18" charset="0"/>
              </a:rPr>
              <a:t>造字圣人仓颉</a:t>
            </a:r>
            <a:r>
              <a:rPr kumimoji="1" lang="zh-CN" altLang="en-US">
                <a:solidFill>
                  <a:srgbClr val="0000FF"/>
                </a:solidFill>
                <a:latin typeface="Arial Unicode MS" panose="020B0604020202020204" pitchFamily="34" charset="-122"/>
                <a:ea typeface="楷体_GB2312" pitchFamily="49" charset="-122"/>
              </a:rPr>
              <a:t> </a:t>
            </a:r>
          </a:p>
        </p:txBody>
      </p:sp>
    </p:spTree>
    <p:extLst>
      <p:ext uri="{BB962C8B-B14F-4D97-AF65-F5344CB8AC3E}">
        <p14:creationId xmlns:p14="http://schemas.microsoft.com/office/powerpoint/2010/main" val="2824772855"/>
      </p:ext>
    </p:extLst>
  </p:cSld>
  <p:clrMapOvr>
    <a:masterClrMapping/>
  </p:clrMapOvr>
  <p:transition>
    <p:zoom/>
    <p:sndAc>
      <p:stSnd>
        <p:snd r:embed="rId2" name="chimes.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FF0000"/>
                </a:solidFill>
                <a:latin typeface="Times New Roman" panose="02020603050405020304" pitchFamily="18" charset="0"/>
                <a:ea typeface="黑体" panose="02010609060101010101" pitchFamily="49" charset="-122"/>
              </a:rPr>
              <a:t>汉字的起源</a:t>
            </a:r>
          </a:p>
        </p:txBody>
      </p:sp>
      <p:sp>
        <p:nvSpPr>
          <p:cNvPr id="95235" name="Rectangle 3"/>
          <p:cNvSpPr>
            <a:spLocks noChangeArrowheads="1"/>
          </p:cNvSpPr>
          <p:nvPr/>
        </p:nvSpPr>
        <p:spPr bwMode="auto">
          <a:xfrm>
            <a:off x="323850" y="1273175"/>
            <a:ext cx="8496300" cy="4537075"/>
          </a:xfrm>
          <a:prstGeom prst="rect">
            <a:avLst/>
          </a:prstGeom>
          <a:noFill/>
          <a:ln w="508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600" dirty="0">
                <a:solidFill>
                  <a:schemeClr val="accent2"/>
                </a:solidFill>
                <a:latin typeface="华文新魏" panose="02010800040101010101" pitchFamily="2" charset="-122"/>
                <a:ea typeface="华文新魏" panose="02010800040101010101" pitchFamily="2" charset="-122"/>
              </a:rPr>
              <a:t>        </a:t>
            </a:r>
            <a:r>
              <a:rPr lang="zh-CN" altLang="en-US" sz="3600" b="1" dirty="0">
                <a:latin typeface="华文新魏" panose="02010800040101010101" pitchFamily="2" charset="-122"/>
                <a:ea typeface="华文新魏" panose="02010800040101010101" pitchFamily="2" charset="-122"/>
              </a:rPr>
              <a:t>汉字已有五千年的历史。</a:t>
            </a:r>
            <a:r>
              <a:rPr lang="zh-CN" altLang="en-US" sz="3600" b="1" dirty="0">
                <a:solidFill>
                  <a:srgbClr val="0000FF"/>
                </a:solidFill>
                <a:latin typeface="华文新魏" panose="02010800040101010101" pitchFamily="2" charset="-122"/>
                <a:ea typeface="华文新魏" panose="02010800040101010101" pitchFamily="2" charset="-122"/>
              </a:rPr>
              <a:t>它由记事符号和记事图画演变而成。</a:t>
            </a:r>
            <a:r>
              <a:rPr lang="zh-CN" altLang="en-US" sz="3600" b="1" dirty="0">
                <a:latin typeface="华文新魏" panose="02010800040101010101" pitchFamily="2" charset="-122"/>
                <a:ea typeface="华文新魏" panose="02010800040101010101" pitchFamily="2" charset="-122"/>
              </a:rPr>
              <a:t>早在新石器时代晚期的彩陶上，就出现图画和符号，它就是汉字的前身。现在所能看到的最早成熟汉字，是公元前十四世纪（商代）刻于兽骨和龟甲上的文字，称甲骨文。已使用单字四千六百多个，形声字已占一定比例，已是发展成熟的文字了。</a:t>
            </a:r>
          </a:p>
        </p:txBody>
      </p:sp>
    </p:spTree>
    <p:extLst>
      <p:ext uri="{BB962C8B-B14F-4D97-AF65-F5344CB8AC3E}">
        <p14:creationId xmlns:p14="http://schemas.microsoft.com/office/powerpoint/2010/main" val="23685668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96259" name="Rectangle 3"/>
          <p:cNvSpPr>
            <a:spLocks noChangeArrowheads="1"/>
          </p:cNvSpPr>
          <p:nvPr/>
        </p:nvSpPr>
        <p:spPr bwMode="auto">
          <a:xfrm>
            <a:off x="323850" y="1163638"/>
            <a:ext cx="5256213" cy="564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latin typeface="+mn-ea"/>
              </a:rPr>
              <a:t>    </a:t>
            </a:r>
            <a:r>
              <a:rPr lang="zh-CN" altLang="en-US" sz="2800" b="1" dirty="0">
                <a:solidFill>
                  <a:srgbClr val="FF0000"/>
                </a:solidFill>
                <a:latin typeface="+mn-ea"/>
              </a:rPr>
              <a:t>甲骨文，是商朝刻在龟甲和兽骨上的文字。</a:t>
            </a:r>
            <a:r>
              <a:rPr lang="zh-CN" altLang="en-US" sz="2800" b="1" dirty="0">
                <a:latin typeface="+mn-ea"/>
              </a:rPr>
              <a:t>由于它是以记录占卜之事为主的，所以又被称为“卜辞”、“契文”；又因为最早是在殷墟（商朝后期的都城遗址，在今河南安阳小屯村）发现的，又叫“殷墟文字”。已收集到的甲骨文单字约有四千多个，其中一千多字可以释读。这种文字已较完备，但是有许多字的笔画和偏旁尚未完全定型。周朝早期也有少量甲骨文出土。 </a:t>
            </a:r>
          </a:p>
          <a:p>
            <a:pPr eaLnBrk="0" hangingPunct="0"/>
            <a:endParaRPr lang="en-US" altLang="zh-CN" sz="2800" b="1" dirty="0">
              <a:latin typeface="+mn-ea"/>
            </a:endParaRPr>
          </a:p>
        </p:txBody>
      </p:sp>
      <p:pic>
        <p:nvPicPr>
          <p:cNvPr id="96260" name="Picture 4" descr="xinsimple_3811012414205559522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25" y="260350"/>
            <a:ext cx="2189163"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1" name="Picture 5" descr="oracle inscrip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3500438"/>
            <a:ext cx="1905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2" name="Rectangle 6">
            <a:hlinkClick r:id="" action="ppaction://noaction" highlightClick="1"/>
          </p:cNvPr>
          <p:cNvSpPr>
            <a:spLocks noChangeArrowheads="1"/>
          </p:cNvSpPr>
          <p:nvPr/>
        </p:nvSpPr>
        <p:spPr bwMode="auto">
          <a:xfrm>
            <a:off x="3635375" y="260350"/>
            <a:ext cx="14065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①</a:t>
            </a:r>
            <a:r>
              <a:rPr lang="en-US" altLang="zh-CN" sz="4800" b="1" dirty="0">
                <a:solidFill>
                  <a:srgbClr val="0000FF"/>
                </a:solidFill>
                <a:latin typeface="Times New Roman" panose="02020603050405020304" pitchFamily="18" charset="0"/>
                <a:ea typeface="黑体" panose="02010609060101010101" pitchFamily="49" charset="-122"/>
              </a:rPr>
              <a:t>    </a:t>
            </a:r>
          </a:p>
        </p:txBody>
      </p:sp>
    </p:spTree>
    <p:extLst>
      <p:ext uri="{BB962C8B-B14F-4D97-AF65-F5344CB8AC3E}">
        <p14:creationId xmlns:p14="http://schemas.microsoft.com/office/powerpoint/2010/main" val="1703016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97283" name="Rectangle 3"/>
          <p:cNvSpPr>
            <a:spLocks noChangeArrowheads="1"/>
          </p:cNvSpPr>
          <p:nvPr/>
        </p:nvSpPr>
        <p:spPr bwMode="auto">
          <a:xfrm>
            <a:off x="323850" y="1163638"/>
            <a:ext cx="4319588" cy="478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latin typeface="+mn-ea"/>
              </a:rPr>
              <a:t>    </a:t>
            </a:r>
            <a:r>
              <a:rPr lang="zh-CN" altLang="en-US" sz="2800" b="1" dirty="0">
                <a:solidFill>
                  <a:srgbClr val="FF0000"/>
                </a:solidFill>
                <a:latin typeface="+mn-ea"/>
              </a:rPr>
              <a:t>金文，是商、周时期刻铸在青铜器上的文字，又叫“钟鼎文”。</a:t>
            </a:r>
            <a:r>
              <a:rPr lang="zh-CN" altLang="en-US" sz="2800" b="1" dirty="0">
                <a:latin typeface="+mn-ea"/>
              </a:rPr>
              <a:t>这种文字前期字体与甲骨文相近，有的还保留了早期图画文字的痕迹；后期与小篆相近。已收集到的金文单字有五六千个，多半可以释读。金文的形体结构比较成熟，周朝的金文铭辞有的一篇长达五百字。 </a:t>
            </a:r>
          </a:p>
        </p:txBody>
      </p:sp>
      <p:sp>
        <p:nvSpPr>
          <p:cNvPr id="97284" name="Rectangle 4">
            <a:hlinkClick r:id="" action="ppaction://noaction" highlightClick="1"/>
          </p:cNvPr>
          <p:cNvSpPr>
            <a:spLocks noChangeArrowheads="1"/>
          </p:cNvSpPr>
          <p:nvPr/>
        </p:nvSpPr>
        <p:spPr bwMode="auto">
          <a:xfrm>
            <a:off x="3635375" y="260350"/>
            <a:ext cx="14065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②</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97285" name="Picture 5" descr="金文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284538"/>
            <a:ext cx="3168650" cy="2538412"/>
          </a:xfrm>
          <a:prstGeom prst="rect">
            <a:avLst/>
          </a:prstGeom>
          <a:noFill/>
          <a:extLst>
            <a:ext uri="{909E8E84-426E-40DD-AFC4-6F175D3DCCD1}">
              <a14:hiddenFill xmlns:a14="http://schemas.microsoft.com/office/drawing/2010/main">
                <a:solidFill>
                  <a:srgbClr val="FFFFFF"/>
                </a:solidFill>
              </a14:hiddenFill>
            </a:ext>
          </a:extLst>
        </p:spPr>
      </p:pic>
      <p:pic>
        <p:nvPicPr>
          <p:cNvPr id="97286" name="Picture 6" descr="xinsimple_37110124142091414684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476250"/>
            <a:ext cx="3024187" cy="250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63253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98307" name="Rectangle 3"/>
          <p:cNvSpPr>
            <a:spLocks noChangeArrowheads="1"/>
          </p:cNvSpPr>
          <p:nvPr/>
        </p:nvSpPr>
        <p:spPr bwMode="auto">
          <a:xfrm>
            <a:off x="250825" y="1163638"/>
            <a:ext cx="475297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solidFill>
                  <a:srgbClr val="FF0000"/>
                </a:solidFill>
                <a:latin typeface="+mn-ea"/>
              </a:rPr>
              <a:t>        </a:t>
            </a:r>
            <a:r>
              <a:rPr lang="zh-CN" altLang="en-US" sz="2800" b="1" dirty="0">
                <a:solidFill>
                  <a:srgbClr val="FF0000"/>
                </a:solidFill>
                <a:latin typeface="+mn-ea"/>
              </a:rPr>
              <a:t>小篆</a:t>
            </a:r>
            <a:r>
              <a:rPr lang="zh-CN" altLang="en-US" sz="2800" b="1" dirty="0">
                <a:latin typeface="+mn-ea"/>
              </a:rPr>
              <a:t>，是</a:t>
            </a:r>
            <a:r>
              <a:rPr lang="zh-CN" altLang="en-US" sz="2800" b="1" dirty="0">
                <a:solidFill>
                  <a:srgbClr val="FF0000"/>
                </a:solidFill>
                <a:latin typeface="+mn-ea"/>
              </a:rPr>
              <a:t>秦朝</a:t>
            </a:r>
            <a:r>
              <a:rPr lang="zh-CN" altLang="en-US" sz="2800" b="1" dirty="0">
                <a:latin typeface="+mn-ea"/>
              </a:rPr>
              <a:t>通行的文字，又称“秦篆”。战国时期，中国各地文字异形；秦始皇统一中国之后，对文字加以整理和简化，在“</a:t>
            </a:r>
            <a:r>
              <a:rPr lang="zh-CN" altLang="en-US" sz="2800" b="1" dirty="0">
                <a:solidFill>
                  <a:srgbClr val="FF0000"/>
                </a:solidFill>
                <a:latin typeface="+mn-ea"/>
              </a:rPr>
              <a:t>大篆</a:t>
            </a:r>
            <a:r>
              <a:rPr lang="zh-CN" altLang="en-US" sz="2800" b="1" dirty="0">
                <a:latin typeface="+mn-ea"/>
              </a:rPr>
              <a:t>”（又称“</a:t>
            </a:r>
            <a:r>
              <a:rPr lang="zh-CN" altLang="en-US" sz="2800" b="1" dirty="0">
                <a:solidFill>
                  <a:srgbClr val="FF0000"/>
                </a:solidFill>
                <a:latin typeface="+mn-ea"/>
              </a:rPr>
              <a:t>籀文</a:t>
            </a:r>
            <a:r>
              <a:rPr lang="zh-CN" altLang="en-US" sz="2800" b="1" dirty="0">
                <a:latin typeface="+mn-ea"/>
              </a:rPr>
              <a:t>”，春秋战国间通行于秦国）的基础上，规定了一种标准字体，这就是“小篆”。秦朝的这一统一全国文字的重要措施，对汉字的规范化起了很大的作用。</a:t>
            </a:r>
            <a:r>
              <a:rPr lang="zh-CN" altLang="en-US" sz="2400" b="1" dirty="0">
                <a:latin typeface="+mn-ea"/>
              </a:rPr>
              <a:t> </a:t>
            </a:r>
          </a:p>
        </p:txBody>
      </p:sp>
      <p:sp>
        <p:nvSpPr>
          <p:cNvPr id="98308" name="Rectangle 4">
            <a:hlinkClick r:id="" action="ppaction://noaction" highlightClick="1"/>
          </p:cNvPr>
          <p:cNvSpPr>
            <a:spLocks noChangeArrowheads="1"/>
          </p:cNvSpPr>
          <p:nvPr/>
        </p:nvSpPr>
        <p:spPr bwMode="auto">
          <a:xfrm>
            <a:off x="3635375" y="260350"/>
            <a:ext cx="15621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黑体" panose="02010609060101010101" pitchFamily="49" charset="-122"/>
                <a:ea typeface="黑体" panose="02010609060101010101" pitchFamily="49" charset="-122"/>
              </a:rPr>
              <a:t>③</a:t>
            </a:r>
            <a:r>
              <a:rPr lang="en-US" altLang="zh-CN" sz="4800" b="1" dirty="0">
                <a:solidFill>
                  <a:srgbClr val="0000FF"/>
                </a:solidFill>
                <a:latin typeface="黑体" panose="02010609060101010101" pitchFamily="49" charset="-122"/>
                <a:ea typeface="黑体" panose="02010609060101010101" pitchFamily="49" charset="-122"/>
              </a:rPr>
              <a:t> </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98309" name="Picture 5" descr="篆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425450"/>
            <a:ext cx="3097213" cy="2033588"/>
          </a:xfrm>
          <a:prstGeom prst="rect">
            <a:avLst/>
          </a:prstGeom>
          <a:noFill/>
          <a:extLst>
            <a:ext uri="{909E8E84-426E-40DD-AFC4-6F175D3DCCD1}">
              <a14:hiddenFill xmlns:a14="http://schemas.microsoft.com/office/drawing/2010/main">
                <a:solidFill>
                  <a:srgbClr val="FFFFFF"/>
                </a:solidFill>
              </a14:hiddenFill>
            </a:ext>
          </a:extLst>
        </p:spPr>
      </p:pic>
      <p:pic>
        <p:nvPicPr>
          <p:cNvPr id="98310" name="Picture 6" descr="xinsimple_4511012414206856753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4076700"/>
            <a:ext cx="2592387"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1" name="Picture 7" descr="xinsimple_36110124142016220457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2852738"/>
            <a:ext cx="2735263"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282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99331" name="Rectangle 3"/>
          <p:cNvSpPr>
            <a:spLocks noChangeArrowheads="1"/>
          </p:cNvSpPr>
          <p:nvPr/>
        </p:nvSpPr>
        <p:spPr bwMode="auto">
          <a:xfrm>
            <a:off x="323850" y="1125538"/>
            <a:ext cx="8351838"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10000"/>
              </a:lnSpc>
            </a:pPr>
            <a:r>
              <a:rPr lang="en-US" altLang="zh-CN" sz="2800" b="1" dirty="0">
                <a:latin typeface="+mn-ea"/>
              </a:rPr>
              <a:t>    </a:t>
            </a:r>
            <a:r>
              <a:rPr lang="zh-CN" altLang="en-US" sz="2800" b="1" dirty="0">
                <a:solidFill>
                  <a:srgbClr val="FF0000"/>
                </a:solidFill>
                <a:latin typeface="+mn-ea"/>
              </a:rPr>
              <a:t>隶书，是汉朝通用的文字。始于秦未，沿至三国。</a:t>
            </a:r>
            <a:r>
              <a:rPr lang="zh-CN" altLang="en-US" sz="2800" b="1" dirty="0">
                <a:latin typeface="+mn-ea"/>
              </a:rPr>
              <a:t>又称“汉隶”、“佐书、“八分”等。早期的隶书保留了一些小篆的形迹；后来波磔的笔法增多，这成为隶书字体的一个显著的特点。</a:t>
            </a:r>
            <a:r>
              <a:rPr lang="zh-CN" altLang="en-US" sz="2800" b="1" dirty="0">
                <a:solidFill>
                  <a:srgbClr val="FF0000"/>
                </a:solidFill>
                <a:latin typeface="+mn-ea"/>
              </a:rPr>
              <a:t>隶书的出现，为后来的楷书奠定了基础，标志着汉字发展史上的一个重要的转折点，那就是由古文字阶段进入了今文字阶段。 </a:t>
            </a:r>
          </a:p>
        </p:txBody>
      </p:sp>
      <p:sp>
        <p:nvSpPr>
          <p:cNvPr id="99332" name="Rectangle 4">
            <a:hlinkClick r:id="" action="ppaction://noaction" highlightClick="1"/>
          </p:cNvPr>
          <p:cNvSpPr>
            <a:spLocks noChangeArrowheads="1"/>
          </p:cNvSpPr>
          <p:nvPr/>
        </p:nvSpPr>
        <p:spPr bwMode="auto">
          <a:xfrm>
            <a:off x="3635375" y="260350"/>
            <a:ext cx="15621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④</a:t>
            </a:r>
            <a:r>
              <a:rPr lang="en-US" altLang="zh-CN" sz="4800" b="1" dirty="0">
                <a:solidFill>
                  <a:srgbClr val="0000FF"/>
                </a:solidFill>
                <a:latin typeface="黑体" panose="02010609060101010101" pitchFamily="49" charset="-122"/>
                <a:ea typeface="黑体" panose="02010609060101010101" pitchFamily="49" charset="-122"/>
              </a:rPr>
              <a:t> </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99333" name="Picture 5" descr="隶书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4745" y="4506913"/>
            <a:ext cx="3024188" cy="1744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7097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100355" name="Rectangle 3"/>
          <p:cNvSpPr>
            <a:spLocks noChangeArrowheads="1"/>
          </p:cNvSpPr>
          <p:nvPr/>
        </p:nvSpPr>
        <p:spPr bwMode="auto">
          <a:xfrm>
            <a:off x="250825" y="1236935"/>
            <a:ext cx="864235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dirty="0" smtClean="0">
                <a:solidFill>
                  <a:srgbClr val="FF0000"/>
                </a:solidFill>
                <a:latin typeface="+mn-ea"/>
              </a:rPr>
              <a:t>　　草书</a:t>
            </a:r>
            <a:r>
              <a:rPr lang="zh-CN" altLang="en-US" sz="2800" b="1" dirty="0">
                <a:solidFill>
                  <a:srgbClr val="FF0000"/>
                </a:solidFill>
                <a:latin typeface="+mn-ea"/>
              </a:rPr>
              <a:t>大约始于汉朝初期，</a:t>
            </a:r>
            <a:r>
              <a:rPr lang="zh-CN" altLang="en-US" sz="2800" b="1" dirty="0">
                <a:latin typeface="+mn-ea"/>
              </a:rPr>
              <a:t>早期的草书是书写隶书时的快捷变体，称为“草隶”，后来又叫“章草”。汉末以后，脱去章草中保留的隶书笔画的痕迹，形成一种笔势连绵回绕、偏旁相互假借的“今草”。唐朝时还出现了一种笔画更加放纵、难以辨认的“狂草”，</a:t>
            </a:r>
            <a:r>
              <a:rPr lang="zh-CN" altLang="en-US" sz="2800" b="1" dirty="0">
                <a:solidFill>
                  <a:srgbClr val="FF0000"/>
                </a:solidFill>
                <a:latin typeface="+mn-ea"/>
              </a:rPr>
              <a:t>现在一般所谓的草书指的是“今草”。 </a:t>
            </a:r>
          </a:p>
        </p:txBody>
      </p:sp>
      <p:sp>
        <p:nvSpPr>
          <p:cNvPr id="100356" name="Rectangle 4">
            <a:hlinkClick r:id="" action="ppaction://noaction" highlightClick="1"/>
          </p:cNvPr>
          <p:cNvSpPr>
            <a:spLocks noChangeArrowheads="1"/>
          </p:cNvSpPr>
          <p:nvPr/>
        </p:nvSpPr>
        <p:spPr bwMode="auto">
          <a:xfrm>
            <a:off x="3635375" y="260350"/>
            <a:ext cx="15621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⑤</a:t>
            </a:r>
            <a:r>
              <a:rPr lang="en-US" altLang="zh-CN" sz="4800" b="1" dirty="0">
                <a:solidFill>
                  <a:srgbClr val="0000FF"/>
                </a:solidFill>
                <a:latin typeface="黑体" panose="02010609060101010101" pitchFamily="49" charset="-122"/>
                <a:ea typeface="黑体" panose="02010609060101010101" pitchFamily="49" charset="-122"/>
              </a:rPr>
              <a:t> </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100357" name="Picture 5" descr="草书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386263"/>
            <a:ext cx="3887787" cy="2355850"/>
          </a:xfrm>
          <a:prstGeom prst="rect">
            <a:avLst/>
          </a:prstGeom>
          <a:noFill/>
          <a:extLst>
            <a:ext uri="{909E8E84-426E-40DD-AFC4-6F175D3DCCD1}">
              <a14:hiddenFill xmlns:a14="http://schemas.microsoft.com/office/drawing/2010/main">
                <a:solidFill>
                  <a:srgbClr val="FFFFFF"/>
                </a:solidFill>
              </a14:hiddenFill>
            </a:ext>
          </a:extLst>
        </p:spPr>
      </p:pic>
      <p:pic>
        <p:nvPicPr>
          <p:cNvPr id="100358" name="Picture 6" descr="草书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4581525"/>
            <a:ext cx="1674812"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988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101379" name="Rectangle 3"/>
          <p:cNvSpPr>
            <a:spLocks noChangeArrowheads="1"/>
          </p:cNvSpPr>
          <p:nvPr/>
        </p:nvSpPr>
        <p:spPr bwMode="auto">
          <a:xfrm>
            <a:off x="323850" y="1341438"/>
            <a:ext cx="8351838"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dirty="0" smtClean="0">
                <a:solidFill>
                  <a:srgbClr val="FF0000"/>
                </a:solidFill>
                <a:latin typeface="+mn-ea"/>
              </a:rPr>
              <a:t>　　楷书</a:t>
            </a:r>
            <a:r>
              <a:rPr lang="zh-CN" altLang="en-US" sz="2800" b="1" dirty="0">
                <a:solidFill>
                  <a:srgbClr val="FF0000"/>
                </a:solidFill>
                <a:latin typeface="+mn-ea"/>
              </a:rPr>
              <a:t>，是汉朝未年开始出现，盛行于魏晋南北朝，一直通行到今天的一种字体。</a:t>
            </a:r>
            <a:r>
              <a:rPr lang="zh-CN" altLang="en-US" sz="2800" b="1" dirty="0">
                <a:latin typeface="+mn-ea"/>
              </a:rPr>
              <a:t>楷书点画形态丰富，彻底摆脱了篆书的影响，构形单一。由于它的形体端正，笔画平直，足为楷模，所以被称为“楷书”，又叫“正书”、“真书”。历代许多书法家都是以楷书闻名于世的。</a:t>
            </a:r>
          </a:p>
        </p:txBody>
      </p:sp>
      <p:sp>
        <p:nvSpPr>
          <p:cNvPr id="101380" name="Rectangle 4">
            <a:hlinkClick r:id="" action="ppaction://noaction" highlightClick="1"/>
          </p:cNvPr>
          <p:cNvSpPr>
            <a:spLocks noChangeArrowheads="1"/>
          </p:cNvSpPr>
          <p:nvPr/>
        </p:nvSpPr>
        <p:spPr bwMode="auto">
          <a:xfrm>
            <a:off x="3635375" y="260350"/>
            <a:ext cx="15621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⑥</a:t>
            </a:r>
            <a:r>
              <a:rPr lang="en-US" altLang="zh-CN" sz="4800" b="1" dirty="0">
                <a:solidFill>
                  <a:srgbClr val="0000FF"/>
                </a:solidFill>
                <a:latin typeface="黑体" panose="02010609060101010101" pitchFamily="49" charset="-122"/>
                <a:ea typeface="黑体" panose="02010609060101010101" pitchFamily="49" charset="-122"/>
              </a:rPr>
              <a:t> </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101381" name="Picture 5" descr="楷书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0188" y="4005263"/>
            <a:ext cx="1925637" cy="2663825"/>
          </a:xfrm>
          <a:prstGeom prst="rect">
            <a:avLst/>
          </a:prstGeom>
          <a:noFill/>
          <a:extLst>
            <a:ext uri="{909E8E84-426E-40DD-AFC4-6F175D3DCCD1}">
              <a14:hiddenFill xmlns:a14="http://schemas.microsoft.com/office/drawing/2010/main">
                <a:solidFill>
                  <a:srgbClr val="FFFFFF"/>
                </a:solidFill>
              </a14:hiddenFill>
            </a:ext>
          </a:extLst>
        </p:spPr>
      </p:pic>
      <p:pic>
        <p:nvPicPr>
          <p:cNvPr id="101382" name="Picture 6" descr="楷书（瘦金体）"/>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292600"/>
            <a:ext cx="28194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872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hlinkClick r:id="" action="ppaction://noaction" highlightClick="1"/>
          </p:cNvPr>
          <p:cNvSpPr>
            <a:spLocks noChangeArrowheads="1"/>
          </p:cNvSpPr>
          <p:nvPr/>
        </p:nvSpPr>
        <p:spPr bwMode="auto">
          <a:xfrm>
            <a:off x="395288" y="188913"/>
            <a:ext cx="32321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800">
                <a:solidFill>
                  <a:srgbClr val="0000FF"/>
                </a:solidFill>
                <a:latin typeface="Times New Roman" panose="02020603050405020304" pitchFamily="18" charset="0"/>
                <a:ea typeface="黑体" panose="02010609060101010101" pitchFamily="49" charset="-122"/>
              </a:rPr>
              <a:t>汉字的演变</a:t>
            </a:r>
          </a:p>
        </p:txBody>
      </p:sp>
      <p:sp>
        <p:nvSpPr>
          <p:cNvPr id="102403" name="Rectangle 3"/>
          <p:cNvSpPr>
            <a:spLocks noChangeArrowheads="1"/>
          </p:cNvSpPr>
          <p:nvPr/>
        </p:nvSpPr>
        <p:spPr bwMode="auto">
          <a:xfrm>
            <a:off x="250825" y="1346200"/>
            <a:ext cx="8567738"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pPr>
            <a:r>
              <a:rPr lang="zh-CN" altLang="en-US" sz="2800" b="1" dirty="0" smtClean="0">
                <a:solidFill>
                  <a:srgbClr val="FF0000"/>
                </a:solidFill>
                <a:latin typeface="+mn-ea"/>
              </a:rPr>
              <a:t>　　行书</a:t>
            </a:r>
            <a:r>
              <a:rPr lang="zh-CN" altLang="en-US" sz="2800" b="1" dirty="0">
                <a:solidFill>
                  <a:srgbClr val="FF0000"/>
                </a:solidFill>
                <a:latin typeface="+mn-ea"/>
              </a:rPr>
              <a:t>，是一种介于楷书和草书之间的字体，三国和晋朝以来流行。</a:t>
            </a:r>
            <a:r>
              <a:rPr lang="zh-CN" altLang="en-US" sz="2800" b="1" dirty="0">
                <a:latin typeface="+mn-ea"/>
              </a:rPr>
              <a:t>这种字体写起来比楷书便捷，又比草书易于辨认，所以很受群众喜爱，行书中楷法多于草法的叫“行楷”，草法多于楷法的叫“行草”，但是很难有一个截然分开的界限。 </a:t>
            </a:r>
          </a:p>
        </p:txBody>
      </p:sp>
      <p:sp>
        <p:nvSpPr>
          <p:cNvPr id="102404" name="Rectangle 4">
            <a:hlinkClick r:id="" action="ppaction://noaction" highlightClick="1"/>
          </p:cNvPr>
          <p:cNvSpPr>
            <a:spLocks noChangeArrowheads="1"/>
          </p:cNvSpPr>
          <p:nvPr/>
        </p:nvSpPr>
        <p:spPr bwMode="auto">
          <a:xfrm>
            <a:off x="3635375" y="260350"/>
            <a:ext cx="15621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zh-CN" sz="4800" b="1">
                <a:solidFill>
                  <a:srgbClr val="0000FF"/>
                </a:solidFill>
                <a:latin typeface="Times New Roman" panose="02020603050405020304" pitchFamily="18" charset="0"/>
                <a:ea typeface="黑体" panose="02010609060101010101" pitchFamily="49" charset="-122"/>
              </a:rPr>
              <a:t>⑦</a:t>
            </a:r>
            <a:r>
              <a:rPr lang="en-US" altLang="zh-CN" sz="4800" b="1" dirty="0">
                <a:solidFill>
                  <a:srgbClr val="0000FF"/>
                </a:solidFill>
                <a:latin typeface="黑体" panose="02010609060101010101" pitchFamily="49" charset="-122"/>
                <a:ea typeface="黑体" panose="02010609060101010101" pitchFamily="49" charset="-122"/>
              </a:rPr>
              <a:t> </a:t>
            </a:r>
            <a:r>
              <a:rPr lang="en-US" altLang="zh-CN" sz="4800" b="1" dirty="0">
                <a:solidFill>
                  <a:srgbClr val="0000FF"/>
                </a:solidFill>
                <a:latin typeface="Times New Roman" panose="02020603050405020304" pitchFamily="18" charset="0"/>
                <a:ea typeface="黑体" panose="02010609060101010101" pitchFamily="49" charset="-122"/>
              </a:rPr>
              <a:t>   </a:t>
            </a:r>
          </a:p>
        </p:txBody>
      </p:sp>
      <p:pic>
        <p:nvPicPr>
          <p:cNvPr id="102405" name="Picture 5" descr="行草"/>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4292600"/>
            <a:ext cx="2592388" cy="1985963"/>
          </a:xfrm>
          <a:prstGeom prst="rect">
            <a:avLst/>
          </a:prstGeom>
          <a:noFill/>
          <a:extLst>
            <a:ext uri="{909E8E84-426E-40DD-AFC4-6F175D3DCCD1}">
              <a14:hiddenFill xmlns:a14="http://schemas.microsoft.com/office/drawing/2010/main">
                <a:solidFill>
                  <a:srgbClr val="FFFFFF"/>
                </a:solidFill>
              </a14:hiddenFill>
            </a:ext>
          </a:extLst>
        </p:spPr>
      </p:pic>
      <p:pic>
        <p:nvPicPr>
          <p:cNvPr id="102406" name="Picture 6" descr="行书"/>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4529138"/>
            <a:ext cx="2568575" cy="1636712"/>
          </a:xfrm>
          <a:prstGeom prst="rect">
            <a:avLst/>
          </a:prstGeom>
          <a:noFill/>
          <a:extLst>
            <a:ext uri="{909E8E84-426E-40DD-AFC4-6F175D3DCCD1}">
              <a14:hiddenFill xmlns:a14="http://schemas.microsoft.com/office/drawing/2010/main">
                <a:solidFill>
                  <a:srgbClr val="FFFFFF"/>
                </a:solidFill>
              </a14:hiddenFill>
            </a:ext>
          </a:extLst>
        </p:spPr>
      </p:pic>
      <p:sp>
        <p:nvSpPr>
          <p:cNvPr id="102407" name="Rectangle 7">
            <a:hlinkClick r:id="rId4" highlightClick="1"/>
          </p:cNvPr>
          <p:cNvSpPr>
            <a:spLocks noChangeArrowheads="1"/>
          </p:cNvSpPr>
          <p:nvPr/>
        </p:nvSpPr>
        <p:spPr bwMode="auto">
          <a:xfrm>
            <a:off x="5580063" y="188913"/>
            <a:ext cx="28797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4800" b="1">
                <a:solidFill>
                  <a:srgbClr val="FF00FF"/>
                </a:solidFill>
                <a:latin typeface="Times New Roman" panose="02020603050405020304" pitchFamily="18" charset="0"/>
              </a:rPr>
              <a:t>由繁趋简</a:t>
            </a:r>
          </a:p>
        </p:txBody>
      </p:sp>
      <p:sp>
        <p:nvSpPr>
          <p:cNvPr id="102408" name="AutoShape 8"/>
          <p:cNvSpPr>
            <a:spLocks noChangeArrowheads="1"/>
          </p:cNvSpPr>
          <p:nvPr/>
        </p:nvSpPr>
        <p:spPr bwMode="auto">
          <a:xfrm>
            <a:off x="4643438" y="549275"/>
            <a:ext cx="1008062" cy="287338"/>
          </a:xfrm>
          <a:prstGeom prst="rightArrow">
            <a:avLst>
              <a:gd name="adj1" fmla="val 50000"/>
              <a:gd name="adj2" fmla="val 8770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6342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ChangeArrowheads="1"/>
          </p:cNvSpPr>
          <p:nvPr/>
        </p:nvSpPr>
        <p:spPr bwMode="auto">
          <a:xfrm>
            <a:off x="217488" y="0"/>
            <a:ext cx="3490912" cy="1125538"/>
          </a:xfrm>
          <a:prstGeom prst="horizontalScroll">
            <a:avLst>
              <a:gd name="adj" fmla="val 12500"/>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4400" b="1">
                <a:solidFill>
                  <a:srgbClr val="FF3300"/>
                </a:solidFill>
                <a:ea typeface="华文行楷" panose="02010800040101010101" pitchFamily="2" charset="-122"/>
              </a:rPr>
              <a:t>汉字的演变</a:t>
            </a:r>
          </a:p>
        </p:txBody>
      </p:sp>
      <p:pic>
        <p:nvPicPr>
          <p:cNvPr id="9219" name="Picture 3"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47800"/>
            <a:ext cx="12954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descr="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524000"/>
            <a:ext cx="1371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descr="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600200"/>
            <a:ext cx="13716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6" descr="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2800" y="1524000"/>
            <a:ext cx="15240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7" descr="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191000"/>
            <a:ext cx="121920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8" descr="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4419600"/>
            <a:ext cx="12954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Picture 9" descr="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4343400"/>
            <a:ext cx="12858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10" descr="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5200" y="4419600"/>
            <a:ext cx="12858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7" name="Text Box 11"/>
          <p:cNvSpPr txBox="1">
            <a:spLocks noChangeArrowheads="1"/>
          </p:cNvSpPr>
          <p:nvPr/>
        </p:nvSpPr>
        <p:spPr bwMode="auto">
          <a:xfrm>
            <a:off x="381000" y="3429000"/>
            <a:ext cx="1981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1.</a:t>
            </a:r>
            <a:r>
              <a:rPr kumimoji="1" lang="zh-CN" altLang="en-US" sz="2800" b="1" dirty="0">
                <a:solidFill>
                  <a:srgbClr val="0000FF"/>
                </a:solidFill>
                <a:latin typeface="+mn-ea"/>
              </a:rPr>
              <a:t>甲骨文</a:t>
            </a:r>
          </a:p>
        </p:txBody>
      </p:sp>
      <p:sp>
        <p:nvSpPr>
          <p:cNvPr id="9228" name="Text Box 12"/>
          <p:cNvSpPr txBox="1">
            <a:spLocks noChangeArrowheads="1"/>
          </p:cNvSpPr>
          <p:nvPr/>
        </p:nvSpPr>
        <p:spPr bwMode="auto">
          <a:xfrm>
            <a:off x="2667000" y="3429000"/>
            <a:ext cx="152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2.</a:t>
            </a:r>
            <a:r>
              <a:rPr kumimoji="1" lang="zh-CN" altLang="en-US" sz="2800" b="1">
                <a:solidFill>
                  <a:srgbClr val="0000FF"/>
                </a:solidFill>
                <a:latin typeface="+mn-ea"/>
              </a:rPr>
              <a:t>金文</a:t>
            </a:r>
          </a:p>
        </p:txBody>
      </p:sp>
      <p:sp>
        <p:nvSpPr>
          <p:cNvPr id="9229" name="Text Box 13"/>
          <p:cNvSpPr txBox="1">
            <a:spLocks noChangeArrowheads="1"/>
          </p:cNvSpPr>
          <p:nvPr/>
        </p:nvSpPr>
        <p:spPr bwMode="auto">
          <a:xfrm>
            <a:off x="5105400" y="3429000"/>
            <a:ext cx="167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3.</a:t>
            </a:r>
            <a:r>
              <a:rPr kumimoji="1" lang="zh-CN" altLang="en-US" sz="2800" b="1" dirty="0">
                <a:solidFill>
                  <a:srgbClr val="0000FF"/>
                </a:solidFill>
                <a:latin typeface="+mn-ea"/>
              </a:rPr>
              <a:t>大篆</a:t>
            </a:r>
          </a:p>
        </p:txBody>
      </p:sp>
      <p:sp>
        <p:nvSpPr>
          <p:cNvPr id="9230" name="Text Box 14"/>
          <p:cNvSpPr txBox="1">
            <a:spLocks noChangeArrowheads="1"/>
          </p:cNvSpPr>
          <p:nvPr/>
        </p:nvSpPr>
        <p:spPr bwMode="auto">
          <a:xfrm>
            <a:off x="7239000" y="3429000"/>
            <a:ext cx="1447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4.</a:t>
            </a:r>
            <a:r>
              <a:rPr kumimoji="1" lang="zh-CN" altLang="en-US" sz="2800" b="1">
                <a:solidFill>
                  <a:srgbClr val="0000FF"/>
                </a:solidFill>
                <a:latin typeface="+mn-ea"/>
              </a:rPr>
              <a:t>小篆</a:t>
            </a:r>
          </a:p>
        </p:txBody>
      </p:sp>
      <p:sp>
        <p:nvSpPr>
          <p:cNvPr id="9231" name="Text Box 15"/>
          <p:cNvSpPr txBox="1">
            <a:spLocks noChangeArrowheads="1"/>
          </p:cNvSpPr>
          <p:nvPr/>
        </p:nvSpPr>
        <p:spPr bwMode="auto">
          <a:xfrm>
            <a:off x="609600" y="6021388"/>
            <a:ext cx="1447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5.</a:t>
            </a:r>
            <a:r>
              <a:rPr kumimoji="1" lang="zh-CN" altLang="en-US" sz="2800" b="1">
                <a:solidFill>
                  <a:srgbClr val="0000FF"/>
                </a:solidFill>
                <a:latin typeface="+mn-ea"/>
              </a:rPr>
              <a:t>隶书</a:t>
            </a:r>
          </a:p>
        </p:txBody>
      </p:sp>
      <p:sp>
        <p:nvSpPr>
          <p:cNvPr id="9232" name="Text Box 16"/>
          <p:cNvSpPr txBox="1">
            <a:spLocks noChangeArrowheads="1"/>
          </p:cNvSpPr>
          <p:nvPr/>
        </p:nvSpPr>
        <p:spPr bwMode="auto">
          <a:xfrm>
            <a:off x="2743200" y="6019800"/>
            <a:ext cx="1447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6.</a:t>
            </a:r>
            <a:r>
              <a:rPr kumimoji="1" lang="zh-CN" altLang="en-US" sz="2800" b="1">
                <a:solidFill>
                  <a:srgbClr val="0000FF"/>
                </a:solidFill>
                <a:latin typeface="+mn-ea"/>
              </a:rPr>
              <a:t>楷书</a:t>
            </a:r>
          </a:p>
        </p:txBody>
      </p:sp>
      <p:sp>
        <p:nvSpPr>
          <p:cNvPr id="9233" name="Text Box 17"/>
          <p:cNvSpPr txBox="1">
            <a:spLocks noChangeArrowheads="1"/>
          </p:cNvSpPr>
          <p:nvPr/>
        </p:nvSpPr>
        <p:spPr bwMode="auto">
          <a:xfrm>
            <a:off x="4953000" y="6019800"/>
            <a:ext cx="152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7.</a:t>
            </a:r>
            <a:r>
              <a:rPr kumimoji="1" lang="zh-CN" altLang="en-US" sz="2800" b="1">
                <a:solidFill>
                  <a:srgbClr val="0000FF"/>
                </a:solidFill>
                <a:latin typeface="+mn-ea"/>
              </a:rPr>
              <a:t>行书</a:t>
            </a:r>
          </a:p>
        </p:txBody>
      </p:sp>
      <p:sp>
        <p:nvSpPr>
          <p:cNvPr id="9234" name="Text Box 18"/>
          <p:cNvSpPr txBox="1">
            <a:spLocks noChangeArrowheads="1"/>
          </p:cNvSpPr>
          <p:nvPr/>
        </p:nvSpPr>
        <p:spPr bwMode="auto">
          <a:xfrm>
            <a:off x="7162800" y="6019800"/>
            <a:ext cx="1752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ctr">
              <a:spcBef>
                <a:spcPct val="50000"/>
              </a:spcBef>
            </a:pPr>
            <a:r>
              <a:rPr kumimoji="1" lang="en-US" altLang="zh-CN" sz="2800" b="1" dirty="0">
                <a:solidFill>
                  <a:srgbClr val="0000FF"/>
                </a:solidFill>
                <a:latin typeface="+mn-ea"/>
              </a:rPr>
              <a:t>8.</a:t>
            </a:r>
            <a:r>
              <a:rPr kumimoji="1" lang="zh-CN" altLang="en-US" sz="2800" b="1">
                <a:solidFill>
                  <a:srgbClr val="0000FF"/>
                </a:solidFill>
                <a:latin typeface="+mn-ea"/>
              </a:rPr>
              <a:t>草书</a:t>
            </a:r>
          </a:p>
        </p:txBody>
      </p:sp>
    </p:spTree>
    <p:extLst>
      <p:ext uri="{BB962C8B-B14F-4D97-AF65-F5344CB8AC3E}">
        <p14:creationId xmlns:p14="http://schemas.microsoft.com/office/powerpoint/2010/main" val="2955076888"/>
      </p:ext>
    </p:extLst>
  </p:cSld>
  <p:clrMapOvr>
    <a:masterClrMapping/>
  </p:clrMapOvr>
  <p:transition>
    <p:zoom/>
    <p:sndAc>
      <p:stSnd>
        <p:snd r:embed="rId2" name="chimes.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http://appd1.beiwaionline.com/CourseContent/ggk/xdhy/new/content/3/xingtiyanbian/IMAGES/A081.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172429" y="2395139"/>
            <a:ext cx="80962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80899" name="Picture 3" descr="http://appd1.beiwaionline.com/CourseContent/ggk/xdhy/new/content/3/xingtiyanbian/IMAGES/A082.GIF"/>
          <p:cNvPicPr>
            <a:picLocks noChangeAspect="1" noChangeArrowheads="1"/>
          </p:cNvPicPr>
          <p:nvPr/>
        </p:nvPicPr>
        <p:blipFill>
          <a:blip r:embed="rId4" r:link="rId5" cstate="print">
            <a:extLst>
              <a:ext uri="{28A0092B-C50C-407E-A947-70E740481C1C}">
                <a14:useLocalDpi xmlns:a14="http://schemas.microsoft.com/office/drawing/2010/main" val="0"/>
              </a:ext>
            </a:extLst>
          </a:blip>
          <a:srcRect/>
          <a:stretch>
            <a:fillRect/>
          </a:stretch>
        </p:blipFill>
        <p:spPr bwMode="auto">
          <a:xfrm>
            <a:off x="172429" y="2395139"/>
            <a:ext cx="80962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80900" name="Picture 4" descr="http://appd1.beiwaionline.com/CourseContent/ggk/xdhy/new/content/3/xingtiyanbian/IMAGES/A083.GIF"/>
          <p:cNvPicPr>
            <a:picLocks noChangeAspect="1" noChangeArrowheads="1"/>
          </p:cNvPicPr>
          <p:nvPr/>
        </p:nvPicPr>
        <p:blipFill>
          <a:blip r:embed="rId6" r:link="rId7" cstate="print">
            <a:extLst>
              <a:ext uri="{28A0092B-C50C-407E-A947-70E740481C1C}">
                <a14:useLocalDpi xmlns:a14="http://schemas.microsoft.com/office/drawing/2010/main" val="0"/>
              </a:ext>
            </a:extLst>
          </a:blip>
          <a:srcRect/>
          <a:stretch>
            <a:fillRect/>
          </a:stretch>
        </p:blipFill>
        <p:spPr bwMode="auto">
          <a:xfrm>
            <a:off x="172429" y="2395139"/>
            <a:ext cx="80962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80901" name="Picture 5" descr="http://appd1.beiwaionline.com/CourseContent/ggk/xdhy/new/content/3/xingtiyanbian/IMAGES/A084.GIF"/>
          <p:cNvPicPr>
            <a:picLocks noChangeAspect="1" noChangeArrowheads="1"/>
          </p:cNvPicPr>
          <p:nvPr/>
        </p:nvPicPr>
        <p:blipFill>
          <a:blip r:embed="rId8" r:link="rId9" cstate="print">
            <a:extLst>
              <a:ext uri="{28A0092B-C50C-407E-A947-70E740481C1C}">
                <a14:useLocalDpi xmlns:a14="http://schemas.microsoft.com/office/drawing/2010/main" val="0"/>
              </a:ext>
            </a:extLst>
          </a:blip>
          <a:srcRect/>
          <a:stretch>
            <a:fillRect/>
          </a:stretch>
        </p:blipFill>
        <p:spPr bwMode="auto">
          <a:xfrm>
            <a:off x="172429" y="2395139"/>
            <a:ext cx="523875" cy="619125"/>
          </a:xfrm>
          <a:prstGeom prst="rect">
            <a:avLst/>
          </a:prstGeom>
          <a:noFill/>
          <a:extLst>
            <a:ext uri="{909E8E84-426E-40DD-AFC4-6F175D3DCCD1}">
              <a14:hiddenFill xmlns:a14="http://schemas.microsoft.com/office/drawing/2010/main">
                <a:solidFill>
                  <a:srgbClr val="FFFFFF"/>
                </a:solidFill>
              </a14:hiddenFill>
            </a:ext>
          </a:extLst>
        </p:spPr>
      </p:pic>
      <p:sp>
        <p:nvSpPr>
          <p:cNvPr id="80902" name="Rectangle 6"/>
          <p:cNvSpPr>
            <a:spLocks noChangeArrowheads="1"/>
          </p:cNvSpPr>
          <p:nvPr/>
        </p:nvSpPr>
        <p:spPr bwMode="auto">
          <a:xfrm>
            <a:off x="172429" y="2395139"/>
            <a:ext cx="1554163" cy="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spAutoFit/>
            <a:flatTx/>
          </a:bodyPr>
          <a:lstStyle/>
          <a:p>
            <a:endParaRPr lang="zh-CN" altLang="en-US"/>
          </a:p>
        </p:txBody>
      </p:sp>
      <p:sp>
        <p:nvSpPr>
          <p:cNvPr id="80903" name="Rectangle 7"/>
          <p:cNvSpPr>
            <a:spLocks noChangeArrowheads="1"/>
          </p:cNvSpPr>
          <p:nvPr/>
        </p:nvSpPr>
        <p:spPr bwMode="auto">
          <a:xfrm>
            <a:off x="172429" y="2395139"/>
            <a:ext cx="1463675" cy="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spAutoFit/>
            <a:flatTx/>
          </a:bodyPr>
          <a:lstStyle/>
          <a:p>
            <a:endParaRPr lang="zh-CN" altLang="en-US"/>
          </a:p>
        </p:txBody>
      </p:sp>
      <p:sp>
        <p:nvSpPr>
          <p:cNvPr id="80904" name="Rectangle 8"/>
          <p:cNvSpPr>
            <a:spLocks noChangeArrowheads="1"/>
          </p:cNvSpPr>
          <p:nvPr/>
        </p:nvSpPr>
        <p:spPr bwMode="auto">
          <a:xfrm>
            <a:off x="172429" y="2395139"/>
            <a:ext cx="1554163" cy="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spAutoFit/>
            <a:flatTx/>
          </a:bodyPr>
          <a:lstStyle/>
          <a:p>
            <a:endParaRPr lang="zh-CN" altLang="en-US"/>
          </a:p>
        </p:txBody>
      </p:sp>
      <p:sp>
        <p:nvSpPr>
          <p:cNvPr id="80905" name="Rectangle 9"/>
          <p:cNvSpPr>
            <a:spLocks noChangeArrowheads="1"/>
          </p:cNvSpPr>
          <p:nvPr/>
        </p:nvSpPr>
        <p:spPr bwMode="auto">
          <a:xfrm>
            <a:off x="172429" y="2395139"/>
            <a:ext cx="1646238" cy="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wrap="none" anchor="ctr">
            <a:spAutoFit/>
            <a:flatTx/>
          </a:bodyPr>
          <a:lstStyle/>
          <a:p>
            <a:endParaRPr lang="zh-CN" altLang="en-US"/>
          </a:p>
        </p:txBody>
      </p:sp>
      <p:graphicFrame>
        <p:nvGraphicFramePr>
          <p:cNvPr id="80929" name="Group 33"/>
          <p:cNvGraphicFramePr>
            <a:graphicFrameLocks noGrp="1"/>
          </p:cNvGraphicFramePr>
          <p:nvPr>
            <p:extLst>
              <p:ext uri="{D42A27DB-BD31-4B8C-83A1-F6EECF244321}">
                <p14:modId xmlns:p14="http://schemas.microsoft.com/office/powerpoint/2010/main" val="349371037"/>
              </p:ext>
            </p:extLst>
          </p:nvPr>
        </p:nvGraphicFramePr>
        <p:xfrm>
          <a:off x="172429" y="2380851"/>
          <a:ext cx="8820150" cy="3339783"/>
        </p:xfrm>
        <a:graphic>
          <a:graphicData uri="http://schemas.openxmlformats.org/drawingml/2006/table">
            <a:tbl>
              <a:tblPr/>
              <a:tblGrid>
                <a:gridCol w="1547813"/>
                <a:gridCol w="1362075"/>
                <a:gridCol w="1500187"/>
                <a:gridCol w="1587500"/>
                <a:gridCol w="1411288"/>
                <a:gridCol w="1411287"/>
              </a:tblGrid>
              <a:tr h="27606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cap="flat">
                      <a:noFill/>
                    </a:lnL>
                    <a:lnR>
                      <a:noFill/>
                    </a:lnR>
                    <a:lnT cap="fla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3600" b="0" i="0" u="none" strike="noStrike" cap="none" normalizeH="0" baseline="0" smtClean="0">
                          <a:ln>
                            <a:noFill/>
                          </a:ln>
                          <a:solidFill>
                            <a:srgbClr val="000000"/>
                          </a:solidFill>
                          <a:effectLst/>
                          <a:latin typeface="Arial" panose="020B0604020202020204" pitchFamily="34" charset="0"/>
                          <a:ea typeface="隶书" panose="02010509060101010101" pitchFamily="49" charset="-122"/>
                          <a:cs typeface="宋体" panose="02010600030101010101" pitchFamily="2" charset="-122"/>
                        </a:rPr>
                        <a:t>牛</a:t>
                      </a:r>
                      <a:endParaRPr kumimoji="0" lang="zh-CN" altLang="en-US" sz="2400" b="0" i="0" u="none" strike="noStrike" cap="none" normalizeH="0" baseline="0" smtClean="0">
                        <a:ln>
                          <a:noFill/>
                        </a:ln>
                        <a:solidFill>
                          <a:schemeClr val="tx1"/>
                        </a:solidFill>
                        <a:effectLst/>
                        <a:latin typeface="Arial" panose="020B0604020202020204" pitchFamily="34" charset="0"/>
                        <a:ea typeface="隶书" panose="02010509060101010101" pitchFamily="49" charset="-122"/>
                        <a:cs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3600" b="0" i="0" u="none" strike="noStrike" cap="none" normalizeH="0" baseline="0" smtClean="0">
                          <a:ln>
                            <a:noFill/>
                          </a:ln>
                          <a:solidFill>
                            <a:srgbClr val="000000"/>
                          </a:solidFill>
                          <a:effectLst/>
                          <a:latin typeface="Arial" panose="020B0604020202020204" pitchFamily="34" charset="0"/>
                          <a:ea typeface="楷体_GB2312" pitchFamily="49" charset="-122"/>
                          <a:cs typeface="宋体" panose="02010600030101010101" pitchFamily="2" charset="-122"/>
                        </a:rPr>
                        <a:t>牛</a:t>
                      </a:r>
                      <a:endPara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cs typeface="宋体" panose="02010600030101010101" pitchFamily="2" charset="-122"/>
                      </a:endParaRPr>
                    </a:p>
                  </a:txBody>
                  <a:tcPr anchor="ctr" horzOverflow="overflow">
                    <a:lnL>
                      <a:noFill/>
                    </a:lnL>
                    <a:lnR cap="flat">
                      <a:noFill/>
                    </a:lnR>
                    <a:lnT cap="flat">
                      <a:noFill/>
                    </a:lnT>
                    <a:lnB>
                      <a:noFill/>
                    </a:lnB>
                    <a:lnTlToBr>
                      <a:noFill/>
                    </a:lnTlToBr>
                    <a:lnBlToTr>
                      <a:noFill/>
                    </a:lnBlToTr>
                    <a:noFill/>
                  </a:tcPr>
                </a:tc>
              </a:tr>
              <a:tr h="40640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smtClean="0">
                          <a:ln>
                            <a:noFill/>
                          </a:ln>
                          <a:solidFill>
                            <a:srgbClr val="FF3300"/>
                          </a:solidFill>
                          <a:effectLst/>
                          <a:latin typeface="Arial" panose="020B0604020202020204" pitchFamily="34" charset="0"/>
                          <a:ea typeface="黑体" panose="02010609060101010101" pitchFamily="49" charset="-122"/>
                        </a:rPr>
                        <a:t>甲骨文</a:t>
                      </a:r>
                    </a:p>
                  </a:txBody>
                  <a:tcPr anchor="ctr" horzOverflow="overflow">
                    <a:lnL cap="flat">
                      <a:noFill/>
                    </a:lnL>
                    <a:lnR>
                      <a:noFill/>
                    </a:lnR>
                    <a:lnT>
                      <a:noFill/>
                    </a:lnT>
                    <a:lnB cap="flat">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smtClean="0">
                          <a:ln>
                            <a:noFill/>
                          </a:ln>
                          <a:solidFill>
                            <a:srgbClr val="FF3300"/>
                          </a:solidFill>
                          <a:effectLst/>
                          <a:latin typeface="Arial" panose="020B0604020202020204" pitchFamily="34" charset="0"/>
                          <a:ea typeface="黑体" panose="02010609060101010101" pitchFamily="49" charset="-122"/>
                        </a:rPr>
                        <a:t>金文</a:t>
                      </a:r>
                    </a:p>
                  </a:txBody>
                  <a:tcPr anchor="ctr" horzOverflow="overflow">
                    <a:lnL>
                      <a:noFill/>
                    </a:lnL>
                    <a:lnR>
                      <a:noFill/>
                    </a:lnR>
                    <a:lnT>
                      <a:noFill/>
                    </a:lnT>
                    <a:lnB cap="flat">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smtClean="0">
                          <a:ln>
                            <a:noFill/>
                          </a:ln>
                          <a:solidFill>
                            <a:srgbClr val="FF3300"/>
                          </a:solidFill>
                          <a:effectLst/>
                          <a:latin typeface="Arial" panose="020B0604020202020204" pitchFamily="34" charset="0"/>
                          <a:ea typeface="黑体" panose="02010609060101010101" pitchFamily="49" charset="-122"/>
                        </a:rPr>
                        <a:t>大篆</a:t>
                      </a:r>
                    </a:p>
                  </a:txBody>
                  <a:tcPr anchor="ctr" horzOverflow="overflow">
                    <a:lnL>
                      <a:noFill/>
                    </a:lnL>
                    <a:lnR>
                      <a:noFill/>
                    </a:lnR>
                    <a:lnT>
                      <a:noFill/>
                    </a:lnT>
                    <a:lnB cap="flat">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smtClean="0">
                          <a:ln>
                            <a:noFill/>
                          </a:ln>
                          <a:solidFill>
                            <a:srgbClr val="FF3300"/>
                          </a:solidFill>
                          <a:effectLst/>
                          <a:latin typeface="Arial" panose="020B0604020202020204" pitchFamily="34" charset="0"/>
                          <a:ea typeface="黑体" panose="02010609060101010101" pitchFamily="49" charset="-122"/>
                        </a:rPr>
                        <a:t>小篆</a:t>
                      </a:r>
                    </a:p>
                  </a:txBody>
                  <a:tcPr anchor="ctr" horzOverflow="overflow">
                    <a:lnL>
                      <a:noFill/>
                    </a:lnL>
                    <a:lnR>
                      <a:noFill/>
                    </a:lnR>
                    <a:lnT>
                      <a:noFill/>
                    </a:lnT>
                    <a:lnB cap="flat">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rgbClr val="FF3300"/>
                          </a:solidFill>
                          <a:effectLst/>
                          <a:latin typeface="Arial" panose="020B0604020202020204" pitchFamily="34" charset="0"/>
                          <a:ea typeface="黑体" panose="02010609060101010101" pitchFamily="49" charset="-122"/>
                        </a:rPr>
                        <a:t>隶书</a:t>
                      </a:r>
                    </a:p>
                  </a:txBody>
                  <a:tcPr anchor="ctr" horzOverflow="overflow">
                    <a:lnL>
                      <a:noFill/>
                    </a:lnL>
                    <a:lnR>
                      <a:noFill/>
                    </a:lnR>
                    <a:lnT>
                      <a:noFill/>
                    </a:lnT>
                    <a:lnB cap="flat">
                      <a:noFill/>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smtClean="0">
                          <a:ln>
                            <a:noFill/>
                          </a:ln>
                          <a:solidFill>
                            <a:srgbClr val="FF3300"/>
                          </a:solidFill>
                          <a:effectLst/>
                          <a:latin typeface="Arial" panose="020B0604020202020204" pitchFamily="34" charset="0"/>
                          <a:ea typeface="黑体" panose="02010609060101010101" pitchFamily="49" charset="-122"/>
                        </a:rPr>
                        <a:t>楷书</a:t>
                      </a:r>
                    </a:p>
                  </a:txBody>
                  <a:tcPr anchor="ctr" horzOverflow="overflow">
                    <a:lnL>
                      <a:noFill/>
                    </a:lnL>
                    <a:lnR cap="flat">
                      <a:noFill/>
                    </a:lnR>
                    <a:lnT>
                      <a:noFill/>
                    </a:lnT>
                    <a:lnB cap="flat">
                      <a:noFill/>
                    </a:lnB>
                    <a:lnTlToBr>
                      <a:noFill/>
                    </a:lnTlToBr>
                    <a:lnBlToTr>
                      <a:noFill/>
                    </a:lnBlToTr>
                    <a:noFill/>
                  </a:tcPr>
                </a:tc>
              </a:tr>
            </a:tbl>
          </a:graphicData>
        </a:graphic>
      </p:graphicFrame>
      <p:pic>
        <p:nvPicPr>
          <p:cNvPr id="80923" name="Picture 27" descr="A08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1206" y="1444225"/>
            <a:ext cx="1320800"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4" name="Picture 28" descr="A08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97756" y="771126"/>
            <a:ext cx="1100138"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5" name="Picture 29" descr="A08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334249" y="1687113"/>
            <a:ext cx="132397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26" name="Picture 30" descr="A0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5614" y="2795188"/>
            <a:ext cx="1438275"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2218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81000" y="1752600"/>
            <a:ext cx="838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4000" dirty="0">
                <a:latin typeface="Times New Roman" panose="02020603050405020304" pitchFamily="18" charset="0"/>
              </a:rPr>
              <a:t>         </a:t>
            </a:r>
            <a:r>
              <a:rPr kumimoji="1" lang="zh-CN" altLang="en-US" sz="4000" b="1" dirty="0">
                <a:latin typeface="Times New Roman" panose="02020603050405020304" pitchFamily="18" charset="0"/>
              </a:rPr>
              <a:t>汉字属于</a:t>
            </a:r>
            <a:r>
              <a:rPr kumimoji="1" lang="zh-CN" altLang="en-US" sz="4000" b="1" dirty="0">
                <a:solidFill>
                  <a:srgbClr val="0000FF"/>
                </a:solidFill>
                <a:latin typeface="Times New Roman" panose="02020603050405020304" pitchFamily="18" charset="0"/>
              </a:rPr>
              <a:t>表意体系</a:t>
            </a:r>
            <a:r>
              <a:rPr kumimoji="1" lang="zh-CN" altLang="en-US" sz="4000" b="1" dirty="0">
                <a:latin typeface="Times New Roman" panose="02020603050405020304" pitchFamily="18" charset="0"/>
              </a:rPr>
              <a:t>的文字，字形和字义有着密切的关系。</a:t>
            </a:r>
          </a:p>
        </p:txBody>
      </p:sp>
      <p:sp>
        <p:nvSpPr>
          <p:cNvPr id="10243" name="AutoShape 3"/>
          <p:cNvSpPr>
            <a:spLocks noChangeArrowheads="1"/>
          </p:cNvSpPr>
          <p:nvPr/>
        </p:nvSpPr>
        <p:spPr bwMode="auto">
          <a:xfrm>
            <a:off x="250825" y="115888"/>
            <a:ext cx="3563938" cy="1196975"/>
          </a:xfrm>
          <a:prstGeom prst="horizontalScroll">
            <a:avLst>
              <a:gd name="adj" fmla="val 12500"/>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4400" b="1">
                <a:solidFill>
                  <a:srgbClr val="FF3300"/>
                </a:solidFill>
                <a:latin typeface="华文行楷" panose="02010800040101010101" pitchFamily="2" charset="-122"/>
                <a:ea typeface="华文行楷" panose="02010800040101010101" pitchFamily="2" charset="-122"/>
              </a:rPr>
              <a:t>汉字的构成</a:t>
            </a:r>
            <a:r>
              <a:rPr lang="zh-CN" altLang="en-US" sz="4400" b="1">
                <a:solidFill>
                  <a:srgbClr val="FF3300"/>
                </a:solidFill>
                <a:ea typeface="华文行楷" panose="02010800040101010101" pitchFamily="2" charset="-122"/>
              </a:rPr>
              <a:t> </a:t>
            </a:r>
          </a:p>
        </p:txBody>
      </p:sp>
      <p:sp>
        <p:nvSpPr>
          <p:cNvPr id="10244" name="Text Box 4"/>
          <p:cNvSpPr txBox="1">
            <a:spLocks noChangeArrowheads="1"/>
          </p:cNvSpPr>
          <p:nvPr/>
        </p:nvSpPr>
        <p:spPr bwMode="auto">
          <a:xfrm>
            <a:off x="533400" y="3505200"/>
            <a:ext cx="8001000" cy="185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A50021"/>
              </a:buClr>
              <a:buSzPct val="75000"/>
              <a:buFont typeface="Wingdings" panose="05000000000000000000" pitchFamily="2" charset="2"/>
              <a:buNone/>
            </a:pPr>
            <a:r>
              <a:rPr kumimoji="1" lang="en-US" altLang="zh-CN" sz="4000" dirty="0">
                <a:latin typeface="Times New Roman" panose="02020603050405020304" pitchFamily="18" charset="0"/>
              </a:rPr>
              <a:t>       </a:t>
            </a:r>
            <a:r>
              <a:rPr kumimoji="1" lang="zh-CN" altLang="en-US" sz="4000" b="1" dirty="0">
                <a:latin typeface="Times New Roman" panose="02020603050405020304" pitchFamily="18" charset="0"/>
              </a:rPr>
              <a:t>汉字集</a:t>
            </a:r>
            <a:r>
              <a:rPr kumimoji="1" lang="zh-CN" altLang="en-US" sz="4000" b="1" dirty="0">
                <a:solidFill>
                  <a:srgbClr val="0000FF"/>
                </a:solidFill>
                <a:latin typeface="Times New Roman" panose="02020603050405020304" pitchFamily="18" charset="0"/>
              </a:rPr>
              <a:t>形体、声音、辞义</a:t>
            </a:r>
            <a:r>
              <a:rPr kumimoji="1" lang="zh-CN" altLang="en-US" sz="4000" b="1" dirty="0">
                <a:latin typeface="Times New Roman" panose="02020603050405020304" pitchFamily="18" charset="0"/>
              </a:rPr>
              <a:t>三者于一体，具有独特的魅力。</a:t>
            </a:r>
          </a:p>
          <a:p>
            <a:pPr>
              <a:spcBef>
                <a:spcPct val="50000"/>
              </a:spcBef>
            </a:pPr>
            <a:endParaRPr kumimoji="1" lang="en-US" altLang="zh-CN" sz="2400" b="1" dirty="0">
              <a:latin typeface="Times New Roman" panose="02020603050405020304" pitchFamily="18" charset="0"/>
            </a:endParaRPr>
          </a:p>
        </p:txBody>
      </p:sp>
    </p:spTree>
    <p:extLst>
      <p:ext uri="{BB962C8B-B14F-4D97-AF65-F5344CB8AC3E}">
        <p14:creationId xmlns:p14="http://schemas.microsoft.com/office/powerpoint/2010/main" val="40278642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hlinkClick r:id="" action="ppaction://noaction" highlightClick="1"/>
          </p:cNvPr>
          <p:cNvSpPr>
            <a:spLocks noChangeArrowheads="1"/>
          </p:cNvSpPr>
          <p:nvPr/>
        </p:nvSpPr>
        <p:spPr bwMode="auto">
          <a:xfrm>
            <a:off x="395288" y="138113"/>
            <a:ext cx="2978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4400">
                <a:solidFill>
                  <a:srgbClr val="FF00FF"/>
                </a:solidFill>
                <a:latin typeface="Times New Roman" panose="02020603050405020304" pitchFamily="18" charset="0"/>
                <a:ea typeface="黑体" panose="02010609060101010101" pitchFamily="49" charset="-122"/>
              </a:rPr>
              <a:t>汉字的构造</a:t>
            </a:r>
          </a:p>
        </p:txBody>
      </p:sp>
      <p:sp>
        <p:nvSpPr>
          <p:cNvPr id="103427" name="Rectangle 3"/>
          <p:cNvSpPr>
            <a:spLocks noChangeArrowheads="1"/>
          </p:cNvSpPr>
          <p:nvPr/>
        </p:nvSpPr>
        <p:spPr bwMode="auto">
          <a:xfrm>
            <a:off x="434975" y="1039813"/>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600" b="1">
                <a:solidFill>
                  <a:srgbClr val="0000FF"/>
                </a:solidFill>
                <a:latin typeface="Times New Roman" panose="02020603050405020304" pitchFamily="18" charset="0"/>
                <a:ea typeface="华文新魏" panose="02010800040101010101" pitchFamily="2" charset="-122"/>
              </a:rPr>
              <a:t>汉字的构造单位：        、        。</a:t>
            </a:r>
          </a:p>
        </p:txBody>
      </p:sp>
      <p:sp>
        <p:nvSpPr>
          <p:cNvPr id="103428" name="Rectangle 4"/>
          <p:cNvSpPr>
            <a:spLocks noChangeArrowheads="1"/>
          </p:cNvSpPr>
          <p:nvPr/>
        </p:nvSpPr>
        <p:spPr bwMode="auto">
          <a:xfrm>
            <a:off x="504825" y="1839912"/>
            <a:ext cx="82073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latin typeface="+mn-ea"/>
              </a:rPr>
              <a:t>    </a:t>
            </a:r>
            <a:r>
              <a:rPr lang="zh-CN" altLang="en-US" sz="2800" b="1" dirty="0" smtClean="0">
                <a:latin typeface="+mn-ea"/>
              </a:rPr>
              <a:t>笔画</a:t>
            </a:r>
            <a:r>
              <a:rPr lang="zh-CN" altLang="en-US" sz="2800" b="1" dirty="0">
                <a:latin typeface="+mn-ea"/>
              </a:rPr>
              <a:t>是书写楷体字时不停顿不提笔一次写完的连续不断的线段。</a:t>
            </a:r>
          </a:p>
        </p:txBody>
      </p:sp>
      <p:sp>
        <p:nvSpPr>
          <p:cNvPr id="103429" name="Rectangle 5"/>
          <p:cNvSpPr>
            <a:spLocks noChangeArrowheads="1"/>
          </p:cNvSpPr>
          <p:nvPr/>
        </p:nvSpPr>
        <p:spPr bwMode="auto">
          <a:xfrm>
            <a:off x="468313" y="2967962"/>
            <a:ext cx="8280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800" b="1" dirty="0">
                <a:latin typeface="+mn-ea"/>
              </a:rPr>
              <a:t>    </a:t>
            </a:r>
            <a:r>
              <a:rPr lang="zh-CN" altLang="en-US" sz="2800" b="1" dirty="0" smtClean="0">
                <a:latin typeface="+mn-ea"/>
              </a:rPr>
              <a:t>偏旁</a:t>
            </a:r>
            <a:r>
              <a:rPr lang="zh-CN" altLang="en-US" sz="2800" b="1" dirty="0">
                <a:latin typeface="+mn-ea"/>
              </a:rPr>
              <a:t>是合体字中常见的组成部分，也称部件、部首。汉字的上边、下边、左边、右边、周围、中间都可以称偏旁。</a:t>
            </a:r>
          </a:p>
        </p:txBody>
      </p:sp>
      <p:sp>
        <p:nvSpPr>
          <p:cNvPr id="103430" name="Rectangle 6"/>
          <p:cNvSpPr>
            <a:spLocks noChangeArrowheads="1"/>
          </p:cNvSpPr>
          <p:nvPr/>
        </p:nvSpPr>
        <p:spPr bwMode="auto">
          <a:xfrm>
            <a:off x="438150" y="4568825"/>
            <a:ext cx="521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600" b="1" dirty="0">
                <a:solidFill>
                  <a:srgbClr val="0000FF"/>
                </a:solidFill>
                <a:latin typeface="Times New Roman" panose="02020603050405020304" pitchFamily="18" charset="0"/>
                <a:ea typeface="华文新魏" panose="02010800040101010101" pitchFamily="2" charset="-122"/>
              </a:rPr>
              <a:t>汉字的构造方式：        。</a:t>
            </a:r>
          </a:p>
        </p:txBody>
      </p:sp>
      <p:sp>
        <p:nvSpPr>
          <p:cNvPr id="103431" name="Rectangle 7"/>
          <p:cNvSpPr>
            <a:spLocks noChangeArrowheads="1"/>
          </p:cNvSpPr>
          <p:nvPr/>
        </p:nvSpPr>
        <p:spPr bwMode="auto">
          <a:xfrm>
            <a:off x="3995738" y="1046163"/>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600" b="1">
                <a:solidFill>
                  <a:srgbClr val="FF0000"/>
                </a:solidFill>
                <a:latin typeface="Times New Roman" panose="02020603050405020304" pitchFamily="18" charset="0"/>
                <a:ea typeface="华文新魏" panose="02010800040101010101" pitchFamily="2" charset="-122"/>
              </a:rPr>
              <a:t>笔画</a:t>
            </a:r>
          </a:p>
        </p:txBody>
      </p:sp>
      <p:sp>
        <p:nvSpPr>
          <p:cNvPr id="103432" name="Rectangle 8"/>
          <p:cNvSpPr>
            <a:spLocks noChangeArrowheads="1"/>
          </p:cNvSpPr>
          <p:nvPr/>
        </p:nvSpPr>
        <p:spPr bwMode="auto">
          <a:xfrm>
            <a:off x="5364163" y="1052513"/>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600" b="1">
                <a:solidFill>
                  <a:srgbClr val="FF0000"/>
                </a:solidFill>
                <a:latin typeface="Times New Roman" panose="02020603050405020304" pitchFamily="18" charset="0"/>
                <a:ea typeface="华文新魏" panose="02010800040101010101" pitchFamily="2" charset="-122"/>
              </a:rPr>
              <a:t>偏旁</a:t>
            </a:r>
          </a:p>
        </p:txBody>
      </p:sp>
      <p:sp>
        <p:nvSpPr>
          <p:cNvPr id="103433" name="Rectangle 9"/>
          <p:cNvSpPr>
            <a:spLocks noChangeArrowheads="1"/>
          </p:cNvSpPr>
          <p:nvPr/>
        </p:nvSpPr>
        <p:spPr bwMode="auto">
          <a:xfrm>
            <a:off x="3995738" y="4587875"/>
            <a:ext cx="109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3600" b="1">
                <a:solidFill>
                  <a:srgbClr val="FF0000"/>
                </a:solidFill>
                <a:latin typeface="Times New Roman" panose="02020603050405020304" pitchFamily="18" charset="0"/>
                <a:ea typeface="华文新魏" panose="02010800040101010101" pitchFamily="2" charset="-122"/>
              </a:rPr>
              <a:t>六书</a:t>
            </a:r>
          </a:p>
        </p:txBody>
      </p:sp>
    </p:spTree>
    <p:extLst>
      <p:ext uri="{BB962C8B-B14F-4D97-AF65-F5344CB8AC3E}">
        <p14:creationId xmlns:p14="http://schemas.microsoft.com/office/powerpoint/2010/main" val="30825060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Text Box 5"/>
          <p:cNvSpPr txBox="1">
            <a:spLocks noChangeArrowheads="1"/>
          </p:cNvSpPr>
          <p:nvPr/>
        </p:nvSpPr>
        <p:spPr bwMode="auto">
          <a:xfrm>
            <a:off x="680783" y="1430219"/>
            <a:ext cx="7921625" cy="3979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50000"/>
              </a:spcBef>
            </a:pPr>
            <a:r>
              <a:rPr kumimoji="1" lang="zh-CN" altLang="en-US" sz="4000" b="1" dirty="0" smtClean="0">
                <a:solidFill>
                  <a:srgbClr val="0000FF"/>
                </a:solidFill>
                <a:latin typeface="黑体" panose="02010609060101010101" pitchFamily="49" charset="-122"/>
                <a:ea typeface="黑体" panose="02010609060101010101" pitchFamily="49" charset="-122"/>
              </a:rPr>
              <a:t>　　东汉</a:t>
            </a:r>
            <a:r>
              <a:rPr kumimoji="1" lang="zh-CN" altLang="en-US" sz="4000" b="1" dirty="0">
                <a:solidFill>
                  <a:srgbClr val="0000FF"/>
                </a:solidFill>
                <a:latin typeface="黑体" panose="02010609060101010101" pitchFamily="49" charset="-122"/>
                <a:ea typeface="黑体" panose="02010609060101010101" pitchFamily="49" charset="-122"/>
              </a:rPr>
              <a:t>的许慎，写成了我国第一部字典</a:t>
            </a:r>
            <a:r>
              <a:rPr kumimoji="1" lang="en-US" altLang="zh-CN" sz="4000" b="1" dirty="0">
                <a:solidFill>
                  <a:srgbClr val="0000FF"/>
                </a:solidFill>
                <a:latin typeface="黑体" panose="02010609060101010101" pitchFamily="49" charset="-122"/>
                <a:ea typeface="黑体" panose="02010609060101010101" pitchFamily="49" charset="-122"/>
              </a:rPr>
              <a:t>——《</a:t>
            </a:r>
            <a:r>
              <a:rPr kumimoji="1" lang="zh-CN" altLang="en-US" sz="4000" b="1" dirty="0">
                <a:solidFill>
                  <a:srgbClr val="0000FF"/>
                </a:solidFill>
                <a:latin typeface="黑体" panose="02010609060101010101" pitchFamily="49" charset="-122"/>
                <a:ea typeface="黑体" panose="02010609060101010101" pitchFamily="49" charset="-122"/>
              </a:rPr>
              <a:t>说文解字</a:t>
            </a:r>
            <a:r>
              <a:rPr kumimoji="1" lang="en-US" altLang="zh-CN" sz="4000" b="1" dirty="0">
                <a:solidFill>
                  <a:srgbClr val="0000FF"/>
                </a:solidFill>
                <a:latin typeface="黑体" panose="02010609060101010101" pitchFamily="49" charset="-122"/>
                <a:ea typeface="黑体" panose="02010609060101010101" pitchFamily="49" charset="-122"/>
              </a:rPr>
              <a:t>》</a:t>
            </a:r>
            <a:r>
              <a:rPr kumimoji="1" lang="zh-CN" altLang="en-US" sz="4000" b="1" dirty="0">
                <a:solidFill>
                  <a:srgbClr val="0000FF"/>
                </a:solidFill>
                <a:latin typeface="黑体" panose="02010609060101010101" pitchFamily="49" charset="-122"/>
                <a:ea typeface="黑体" panose="02010609060101010101" pitchFamily="49" charset="-122"/>
              </a:rPr>
              <a:t>。</a:t>
            </a:r>
            <a:r>
              <a:rPr kumimoji="1" lang="zh-CN" altLang="en-US" sz="4000" b="1" dirty="0">
                <a:latin typeface="黑体" panose="02010609060101010101" pitchFamily="49" charset="-122"/>
                <a:ea typeface="黑体" panose="02010609060101010101" pitchFamily="49" charset="-122"/>
              </a:rPr>
              <a:t>他把古代的造字方法归纳成六类，叫做“</a:t>
            </a:r>
            <a:r>
              <a:rPr kumimoji="1" lang="zh-CN" altLang="en-US" sz="4000" b="1" dirty="0">
                <a:solidFill>
                  <a:srgbClr val="FF3300"/>
                </a:solidFill>
                <a:latin typeface="黑体" panose="02010609060101010101" pitchFamily="49" charset="-122"/>
                <a:ea typeface="黑体" panose="02010609060101010101" pitchFamily="49" charset="-122"/>
              </a:rPr>
              <a:t>六书</a:t>
            </a:r>
            <a:r>
              <a:rPr kumimoji="1" lang="zh-CN" altLang="en-US" sz="4000" b="1" dirty="0">
                <a:latin typeface="黑体" panose="02010609060101010101" pitchFamily="49" charset="-122"/>
                <a:ea typeface="黑体" panose="02010609060101010101" pitchFamily="49" charset="-122"/>
              </a:rPr>
              <a:t>”，即</a:t>
            </a:r>
            <a:r>
              <a:rPr kumimoji="1" lang="zh-CN" altLang="en-US" sz="4000" b="1" dirty="0">
                <a:solidFill>
                  <a:srgbClr val="FF3300"/>
                </a:solidFill>
                <a:latin typeface="黑体" panose="02010609060101010101" pitchFamily="49" charset="-122"/>
                <a:ea typeface="黑体" panose="02010609060101010101" pitchFamily="49" charset="-122"/>
              </a:rPr>
              <a:t>象形、指事、会意、形声、转注、假借</a:t>
            </a:r>
            <a:r>
              <a:rPr kumimoji="1" lang="zh-CN" altLang="en-US" sz="4000" b="1" dirty="0" smtClean="0">
                <a:solidFill>
                  <a:srgbClr val="FF3300"/>
                </a:solidFill>
                <a:latin typeface="黑体" panose="02010609060101010101" pitchFamily="49" charset="-122"/>
                <a:ea typeface="黑体" panose="02010609060101010101" pitchFamily="49" charset="-122"/>
              </a:rPr>
              <a:t>。</a:t>
            </a:r>
            <a:endParaRPr kumimoji="1" lang="zh-CN" altLang="en-US" sz="4000" b="1" dirty="0">
              <a:solidFill>
                <a:srgbClr val="FF3300"/>
              </a:solidFill>
              <a:latin typeface="黑体" panose="02010609060101010101" pitchFamily="49" charset="-122"/>
              <a:ea typeface="黑体" panose="02010609060101010101" pitchFamily="49" charset="-122"/>
            </a:endParaRPr>
          </a:p>
        </p:txBody>
      </p:sp>
      <p:sp>
        <p:nvSpPr>
          <p:cNvPr id="58374" name="Text Box 6"/>
          <p:cNvSpPr txBox="1">
            <a:spLocks noChangeArrowheads="1"/>
          </p:cNvSpPr>
          <p:nvPr/>
        </p:nvSpPr>
        <p:spPr bwMode="auto">
          <a:xfrm>
            <a:off x="2773615" y="631207"/>
            <a:ext cx="373596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4000" b="1" dirty="0">
                <a:solidFill>
                  <a:srgbClr val="FF3300"/>
                </a:solidFill>
              </a:rPr>
              <a:t>造字六法</a:t>
            </a:r>
          </a:p>
        </p:txBody>
      </p:sp>
    </p:spTree>
    <p:extLst>
      <p:ext uri="{BB962C8B-B14F-4D97-AF65-F5344CB8AC3E}">
        <p14:creationId xmlns:p14="http://schemas.microsoft.com/office/powerpoint/2010/main" val="1302189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23850" y="404813"/>
            <a:ext cx="38163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400" b="1">
                <a:solidFill>
                  <a:srgbClr val="FF3300"/>
                </a:solidFill>
                <a:latin typeface="Times New Roman" panose="02020603050405020304" pitchFamily="18" charset="0"/>
              </a:rPr>
              <a:t>（</a:t>
            </a:r>
            <a:r>
              <a:rPr kumimoji="1" lang="en-US" altLang="zh-CN" sz="4400" b="1" dirty="0">
                <a:solidFill>
                  <a:srgbClr val="FF3300"/>
                </a:solidFill>
                <a:latin typeface="Times New Roman" panose="02020603050405020304" pitchFamily="18" charset="0"/>
              </a:rPr>
              <a:t>1</a:t>
            </a:r>
            <a:r>
              <a:rPr kumimoji="1" lang="zh-CN" altLang="en-US" sz="4400" b="1">
                <a:solidFill>
                  <a:srgbClr val="FF3300"/>
                </a:solidFill>
                <a:latin typeface="Times New Roman" panose="02020603050405020304" pitchFamily="18" charset="0"/>
              </a:rPr>
              <a:t>）象形</a:t>
            </a:r>
          </a:p>
        </p:txBody>
      </p:sp>
      <p:sp>
        <p:nvSpPr>
          <p:cNvPr id="13315" name="Text Box 3"/>
          <p:cNvSpPr txBox="1">
            <a:spLocks noChangeArrowheads="1"/>
          </p:cNvSpPr>
          <p:nvPr/>
        </p:nvSpPr>
        <p:spPr bwMode="auto">
          <a:xfrm>
            <a:off x="323850" y="1644451"/>
            <a:ext cx="4103688" cy="251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kumimoji="1" lang="en-US" altLang="zh-CN" sz="3600" b="1" dirty="0">
                <a:latin typeface="Times New Roman" panose="02020603050405020304" pitchFamily="18" charset="0"/>
              </a:rPr>
              <a:t>        </a:t>
            </a:r>
            <a:r>
              <a:rPr kumimoji="1" lang="zh-CN" altLang="en-US" sz="3600" b="1" dirty="0">
                <a:latin typeface="Times New Roman" panose="02020603050405020304" pitchFamily="18" charset="0"/>
              </a:rPr>
              <a:t>象形字就是依照实在的、具体的事物，勾勒出它们的样子。</a:t>
            </a:r>
          </a:p>
        </p:txBody>
      </p:sp>
      <p:pic>
        <p:nvPicPr>
          <p:cNvPr id="13316" name="Picture 4" descr="汉字与书法的起源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0" y="0"/>
            <a:ext cx="3959225" cy="4797425"/>
          </a:xfrm>
          <a:prstGeom prst="rect">
            <a:avLst/>
          </a:prstGeom>
          <a:noFill/>
          <a:extLst>
            <a:ext uri="{909E8E84-426E-40DD-AFC4-6F175D3DCCD1}">
              <a14:hiddenFill xmlns:a14="http://schemas.microsoft.com/office/drawing/2010/main">
                <a:solidFill>
                  <a:srgbClr val="FFFFFF"/>
                </a:solidFill>
              </a14:hiddenFill>
            </a:ext>
          </a:extLst>
        </p:spPr>
      </p:pic>
      <p:sp>
        <p:nvSpPr>
          <p:cNvPr id="13317" name="Text Box 5"/>
          <p:cNvSpPr txBox="1">
            <a:spLocks noChangeArrowheads="1"/>
          </p:cNvSpPr>
          <p:nvPr/>
        </p:nvSpPr>
        <p:spPr bwMode="auto">
          <a:xfrm>
            <a:off x="539750" y="5373688"/>
            <a:ext cx="81724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000" b="1" dirty="0">
                <a:solidFill>
                  <a:srgbClr val="0000FF"/>
                </a:solidFill>
                <a:latin typeface="华文新魏" panose="02010800040101010101" pitchFamily="2" charset="-122"/>
                <a:ea typeface="华文新魏" panose="02010800040101010101" pitchFamily="2" charset="-122"/>
              </a:rPr>
              <a:t>（日、月、山、水、牛、羊、鹿）</a:t>
            </a:r>
          </a:p>
        </p:txBody>
      </p:sp>
    </p:spTree>
    <p:extLst>
      <p:ext uri="{BB962C8B-B14F-4D97-AF65-F5344CB8AC3E}">
        <p14:creationId xmlns:p14="http://schemas.microsoft.com/office/powerpoint/2010/main" val="4093026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blinds(horizontal)">
                                      <p:cBhvr>
                                        <p:cTn id="7"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50825" y="434975"/>
            <a:ext cx="304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400" b="1">
                <a:solidFill>
                  <a:srgbClr val="FF3300"/>
                </a:solidFill>
                <a:latin typeface="Times New Roman" panose="02020603050405020304" pitchFamily="18" charset="0"/>
              </a:rPr>
              <a:t>（</a:t>
            </a:r>
            <a:r>
              <a:rPr kumimoji="1" lang="en-US" altLang="zh-CN" sz="4400" b="1" dirty="0">
                <a:solidFill>
                  <a:srgbClr val="FF3300"/>
                </a:solidFill>
                <a:latin typeface="Times New Roman" panose="02020603050405020304" pitchFamily="18" charset="0"/>
              </a:rPr>
              <a:t>2</a:t>
            </a:r>
            <a:r>
              <a:rPr kumimoji="1" lang="zh-CN" altLang="en-US" sz="4400" b="1">
                <a:solidFill>
                  <a:srgbClr val="FF3300"/>
                </a:solidFill>
                <a:latin typeface="Times New Roman" panose="02020603050405020304" pitchFamily="18" charset="0"/>
              </a:rPr>
              <a:t>）指事</a:t>
            </a:r>
          </a:p>
        </p:txBody>
      </p:sp>
      <p:sp>
        <p:nvSpPr>
          <p:cNvPr id="14339" name="Text Box 3"/>
          <p:cNvSpPr txBox="1">
            <a:spLocks noChangeArrowheads="1"/>
          </p:cNvSpPr>
          <p:nvPr/>
        </p:nvSpPr>
        <p:spPr bwMode="auto">
          <a:xfrm>
            <a:off x="323850" y="1268413"/>
            <a:ext cx="3600450"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kumimoji="1" lang="en-US" altLang="zh-CN" sz="2400" dirty="0">
                <a:latin typeface="Times New Roman" panose="02020603050405020304" pitchFamily="18" charset="0"/>
              </a:rPr>
              <a:t>             </a:t>
            </a:r>
            <a:r>
              <a:rPr kumimoji="1" lang="zh-CN" altLang="en-US" sz="3600" b="1" dirty="0">
                <a:latin typeface="Times New Roman" panose="02020603050405020304" pitchFamily="18" charset="0"/>
              </a:rPr>
              <a:t>指事就是用象征性的符号或在象形字上加提示符号来表示意义的造字方法。</a:t>
            </a:r>
          </a:p>
        </p:txBody>
      </p:sp>
      <p:pic>
        <p:nvPicPr>
          <p:cNvPr id="14340" name="Picture 4" descr="汉字与书法的起源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1628775"/>
            <a:ext cx="5029200" cy="3098800"/>
          </a:xfrm>
          <a:prstGeom prst="rect">
            <a:avLst/>
          </a:prstGeom>
          <a:noFill/>
          <a:extLst>
            <a:ext uri="{909E8E84-426E-40DD-AFC4-6F175D3DCCD1}">
              <a14:hiddenFill xmlns:a14="http://schemas.microsoft.com/office/drawing/2010/main">
                <a:solidFill>
                  <a:srgbClr val="FFFFFF"/>
                </a:solidFill>
              </a14:hiddenFill>
            </a:ext>
          </a:extLst>
        </p:spPr>
      </p:pic>
      <p:sp>
        <p:nvSpPr>
          <p:cNvPr id="14341" name="Text Box 5"/>
          <p:cNvSpPr txBox="1">
            <a:spLocks noChangeArrowheads="1"/>
          </p:cNvSpPr>
          <p:nvPr/>
        </p:nvSpPr>
        <p:spPr bwMode="auto">
          <a:xfrm>
            <a:off x="1979613" y="5589588"/>
            <a:ext cx="66976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000" b="1" dirty="0">
                <a:solidFill>
                  <a:srgbClr val="0000FF"/>
                </a:solidFill>
                <a:latin typeface="华文新魏" panose="02010800040101010101" pitchFamily="2" charset="-122"/>
                <a:ea typeface="华文新魏" panose="02010800040101010101" pitchFamily="2" charset="-122"/>
              </a:rPr>
              <a:t>（上、下、本、末、刃）</a:t>
            </a:r>
          </a:p>
        </p:txBody>
      </p:sp>
    </p:spTree>
    <p:extLst>
      <p:ext uri="{BB962C8B-B14F-4D97-AF65-F5344CB8AC3E}">
        <p14:creationId xmlns:p14="http://schemas.microsoft.com/office/powerpoint/2010/main" val="2504099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additive="base">
                                        <p:cTn id="7" dur="2000" fill="hold"/>
                                        <p:tgtEl>
                                          <p:spTgt spid="14341"/>
                                        </p:tgtEl>
                                        <p:attrNameLst>
                                          <p:attrName>ppt_x</p:attrName>
                                        </p:attrNameLst>
                                      </p:cBhvr>
                                      <p:tavLst>
                                        <p:tav tm="0">
                                          <p:val>
                                            <p:strVal val="#ppt_x"/>
                                          </p:val>
                                        </p:tav>
                                        <p:tav tm="100000">
                                          <p:val>
                                            <p:strVal val="#ppt_x"/>
                                          </p:val>
                                        </p:tav>
                                      </p:tavLst>
                                    </p:anim>
                                    <p:anim calcmode="lin" valueType="num">
                                      <p:cBhvr additive="base">
                                        <p:cTn id="8" dur="2000" fill="hold"/>
                                        <p:tgtEl>
                                          <p:spTgt spid="1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250825" y="260350"/>
            <a:ext cx="49577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4400" b="1" dirty="0">
                <a:solidFill>
                  <a:srgbClr val="FF3300"/>
                </a:solidFill>
                <a:latin typeface="Times New Roman" panose="02020603050405020304" pitchFamily="18" charset="0"/>
              </a:rPr>
              <a:t>    </a:t>
            </a:r>
            <a:r>
              <a:rPr kumimoji="1" lang="zh-CN" altLang="en-US" sz="4400" b="1">
                <a:solidFill>
                  <a:srgbClr val="FF3300"/>
                </a:solidFill>
                <a:latin typeface="Times New Roman" panose="02020603050405020304" pitchFamily="18" charset="0"/>
              </a:rPr>
              <a:t>（</a:t>
            </a:r>
            <a:r>
              <a:rPr kumimoji="1" lang="en-US" altLang="zh-CN" sz="4400" b="1" dirty="0">
                <a:solidFill>
                  <a:srgbClr val="FF3300"/>
                </a:solidFill>
                <a:latin typeface="Times New Roman" panose="02020603050405020304" pitchFamily="18" charset="0"/>
              </a:rPr>
              <a:t>3</a:t>
            </a:r>
            <a:r>
              <a:rPr kumimoji="1" lang="zh-CN" altLang="en-US" sz="4400" b="1">
                <a:solidFill>
                  <a:srgbClr val="FF3300"/>
                </a:solidFill>
                <a:latin typeface="Times New Roman" panose="02020603050405020304" pitchFamily="18" charset="0"/>
              </a:rPr>
              <a:t>）会意</a:t>
            </a:r>
          </a:p>
        </p:txBody>
      </p:sp>
      <p:sp>
        <p:nvSpPr>
          <p:cNvPr id="16387" name="Text Box 3"/>
          <p:cNvSpPr txBox="1">
            <a:spLocks noChangeArrowheads="1"/>
          </p:cNvSpPr>
          <p:nvPr/>
        </p:nvSpPr>
        <p:spPr bwMode="auto">
          <a:xfrm>
            <a:off x="179388" y="1125538"/>
            <a:ext cx="864076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latin typeface="Times New Roman" panose="02020603050405020304" pitchFamily="18" charset="0"/>
              </a:rPr>
              <a:t>              </a:t>
            </a:r>
            <a:r>
              <a:rPr kumimoji="1" lang="zh-CN" altLang="en-US" sz="3600" b="1">
                <a:latin typeface="Times New Roman" panose="02020603050405020304" pitchFamily="18" charset="0"/>
              </a:rPr>
              <a:t>把两个或两个以上的单体字组合在一起，表示一个新的意思。</a:t>
            </a:r>
          </a:p>
        </p:txBody>
      </p:sp>
      <p:sp>
        <p:nvSpPr>
          <p:cNvPr id="16389" name="Text Box 5"/>
          <p:cNvSpPr txBox="1">
            <a:spLocks noChangeArrowheads="1"/>
          </p:cNvSpPr>
          <p:nvPr/>
        </p:nvSpPr>
        <p:spPr bwMode="auto">
          <a:xfrm>
            <a:off x="1055688" y="2830513"/>
            <a:ext cx="7045325"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3600" b="1">
                <a:solidFill>
                  <a:srgbClr val="FF3300"/>
                </a:solidFill>
                <a:latin typeface="Times New Roman" panose="02020603050405020304" pitchFamily="18" charset="0"/>
              </a:rPr>
              <a:t>泪</a:t>
            </a:r>
            <a:r>
              <a:rPr kumimoji="1" lang="en-US" altLang="zh-CN" sz="3600" b="1" dirty="0">
                <a:solidFill>
                  <a:srgbClr val="FF3300"/>
                </a:solidFill>
                <a:latin typeface="Times New Roman" panose="02020603050405020304" pitchFamily="18" charset="0"/>
              </a:rPr>
              <a:t>:</a:t>
            </a:r>
          </a:p>
        </p:txBody>
      </p:sp>
      <p:sp>
        <p:nvSpPr>
          <p:cNvPr id="16390" name="Text Box 6"/>
          <p:cNvSpPr txBox="1">
            <a:spLocks noChangeArrowheads="1"/>
          </p:cNvSpPr>
          <p:nvPr/>
        </p:nvSpPr>
        <p:spPr bwMode="auto">
          <a:xfrm>
            <a:off x="2068268" y="2884488"/>
            <a:ext cx="64801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dirty="0">
                <a:solidFill>
                  <a:srgbClr val="0000FF"/>
                </a:solidFill>
                <a:latin typeface="华文新魏" panose="02010800040101010101" pitchFamily="2" charset="-122"/>
                <a:ea typeface="华文新魏" panose="02010800040101010101" pitchFamily="2" charset="-122"/>
              </a:rPr>
              <a:t>眼睛流水，泪水汪汪。</a:t>
            </a:r>
          </a:p>
        </p:txBody>
      </p:sp>
      <p:sp>
        <p:nvSpPr>
          <p:cNvPr id="16391" name="Text Box 7"/>
          <p:cNvSpPr txBox="1">
            <a:spLocks noChangeArrowheads="1"/>
          </p:cNvSpPr>
          <p:nvPr/>
        </p:nvSpPr>
        <p:spPr bwMode="auto">
          <a:xfrm>
            <a:off x="1092200" y="3614738"/>
            <a:ext cx="792163"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3600" b="1">
                <a:solidFill>
                  <a:srgbClr val="FF3300"/>
                </a:solidFill>
                <a:latin typeface="Times New Roman" panose="02020603050405020304" pitchFamily="18" charset="0"/>
              </a:rPr>
              <a:t>休</a:t>
            </a:r>
            <a:r>
              <a:rPr kumimoji="1" lang="en-US" altLang="zh-CN" sz="3600" b="1" dirty="0">
                <a:solidFill>
                  <a:srgbClr val="FF3300"/>
                </a:solidFill>
                <a:latin typeface="Times New Roman" panose="02020603050405020304" pitchFamily="18" charset="0"/>
              </a:rPr>
              <a:t>:</a:t>
            </a:r>
          </a:p>
        </p:txBody>
      </p:sp>
      <p:sp>
        <p:nvSpPr>
          <p:cNvPr id="16392" name="Text Box 8"/>
          <p:cNvSpPr txBox="1">
            <a:spLocks noChangeArrowheads="1"/>
          </p:cNvSpPr>
          <p:nvPr/>
        </p:nvSpPr>
        <p:spPr bwMode="auto">
          <a:xfrm>
            <a:off x="2068268" y="3669506"/>
            <a:ext cx="53641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dirty="0">
                <a:solidFill>
                  <a:srgbClr val="0000FF"/>
                </a:solidFill>
                <a:latin typeface="华文新魏" panose="02010800040101010101" pitchFamily="2" charset="-122"/>
                <a:ea typeface="华文新魏" panose="02010800040101010101" pitchFamily="2" charset="-122"/>
              </a:rPr>
              <a:t>一人倚树，立足休息。</a:t>
            </a:r>
          </a:p>
        </p:txBody>
      </p:sp>
      <p:sp>
        <p:nvSpPr>
          <p:cNvPr id="16393" name="Text Box 9"/>
          <p:cNvSpPr txBox="1">
            <a:spLocks noChangeArrowheads="1"/>
          </p:cNvSpPr>
          <p:nvPr/>
        </p:nvSpPr>
        <p:spPr bwMode="auto">
          <a:xfrm>
            <a:off x="1092200" y="4406900"/>
            <a:ext cx="720725"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3600" b="1">
                <a:solidFill>
                  <a:srgbClr val="FF3300"/>
                </a:solidFill>
                <a:latin typeface="Times New Roman" panose="02020603050405020304" pitchFamily="18" charset="0"/>
              </a:rPr>
              <a:t>明</a:t>
            </a:r>
            <a:r>
              <a:rPr kumimoji="1" lang="en-US" altLang="zh-CN" sz="3600" b="1" dirty="0">
                <a:solidFill>
                  <a:srgbClr val="FF3300"/>
                </a:solidFill>
                <a:latin typeface="Times New Roman" panose="02020603050405020304" pitchFamily="18" charset="0"/>
              </a:rPr>
              <a:t>:</a:t>
            </a:r>
          </a:p>
        </p:txBody>
      </p:sp>
      <p:sp>
        <p:nvSpPr>
          <p:cNvPr id="16394" name="Text Box 10"/>
          <p:cNvSpPr txBox="1">
            <a:spLocks noChangeArrowheads="1"/>
          </p:cNvSpPr>
          <p:nvPr/>
        </p:nvSpPr>
        <p:spPr bwMode="auto">
          <a:xfrm>
            <a:off x="2068268" y="4461669"/>
            <a:ext cx="57610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dirty="0">
                <a:solidFill>
                  <a:srgbClr val="0000FF"/>
                </a:solidFill>
                <a:latin typeface="华文新魏" panose="02010800040101010101" pitchFamily="2" charset="-122"/>
                <a:ea typeface="华文新魏" panose="02010800040101010101" pitchFamily="2" charset="-122"/>
              </a:rPr>
              <a:t>日月齐照，大放光明。</a:t>
            </a:r>
          </a:p>
        </p:txBody>
      </p:sp>
      <p:sp>
        <p:nvSpPr>
          <p:cNvPr id="16395" name="Text Box 11"/>
          <p:cNvSpPr txBox="1">
            <a:spLocks noChangeArrowheads="1"/>
          </p:cNvSpPr>
          <p:nvPr/>
        </p:nvSpPr>
        <p:spPr bwMode="auto">
          <a:xfrm>
            <a:off x="1093788" y="5341938"/>
            <a:ext cx="8636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sz="3600" b="1">
                <a:solidFill>
                  <a:srgbClr val="FF3300"/>
                </a:solidFill>
                <a:latin typeface="Times New Roman" panose="02020603050405020304" pitchFamily="18" charset="0"/>
              </a:rPr>
              <a:t>采</a:t>
            </a:r>
            <a:r>
              <a:rPr kumimoji="1" lang="en-US" altLang="zh-CN" sz="3600" b="1" dirty="0">
                <a:solidFill>
                  <a:srgbClr val="FF3300"/>
                </a:solidFill>
                <a:latin typeface="Times New Roman" panose="02020603050405020304" pitchFamily="18" charset="0"/>
              </a:rPr>
              <a:t>:</a:t>
            </a:r>
          </a:p>
        </p:txBody>
      </p:sp>
      <p:sp>
        <p:nvSpPr>
          <p:cNvPr id="16396" name="Text Box 12"/>
          <p:cNvSpPr txBox="1">
            <a:spLocks noChangeArrowheads="1"/>
          </p:cNvSpPr>
          <p:nvPr/>
        </p:nvSpPr>
        <p:spPr bwMode="auto">
          <a:xfrm>
            <a:off x="2068268" y="5396706"/>
            <a:ext cx="6551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dirty="0">
                <a:solidFill>
                  <a:srgbClr val="0000FF"/>
                </a:solidFill>
                <a:latin typeface="华文新魏" panose="02010800040101010101" pitchFamily="2" charset="-122"/>
                <a:ea typeface="华文新魏" panose="02010800040101010101" pitchFamily="2" charset="-122"/>
              </a:rPr>
              <a:t>手在树上，采摘东西。</a:t>
            </a:r>
          </a:p>
        </p:txBody>
      </p:sp>
    </p:spTree>
    <p:extLst>
      <p:ext uri="{BB962C8B-B14F-4D97-AF65-F5344CB8AC3E}">
        <p14:creationId xmlns:p14="http://schemas.microsoft.com/office/powerpoint/2010/main" val="18275117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50825" y="404813"/>
            <a:ext cx="37449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4400" b="1">
                <a:solidFill>
                  <a:srgbClr val="FF3300"/>
                </a:solidFill>
                <a:latin typeface="Times New Roman" panose="02020603050405020304" pitchFamily="18" charset="0"/>
              </a:rPr>
              <a:t>（</a:t>
            </a:r>
            <a:r>
              <a:rPr kumimoji="1" lang="en-US" altLang="zh-CN" sz="4400" b="1" dirty="0">
                <a:solidFill>
                  <a:srgbClr val="FF3300"/>
                </a:solidFill>
                <a:latin typeface="Times New Roman" panose="02020603050405020304" pitchFamily="18" charset="0"/>
              </a:rPr>
              <a:t>4</a:t>
            </a:r>
            <a:r>
              <a:rPr kumimoji="1" lang="zh-CN" altLang="en-US" sz="4400" b="1">
                <a:solidFill>
                  <a:srgbClr val="FF3300"/>
                </a:solidFill>
                <a:latin typeface="Times New Roman" panose="02020603050405020304" pitchFamily="18" charset="0"/>
              </a:rPr>
              <a:t>）形声</a:t>
            </a:r>
          </a:p>
        </p:txBody>
      </p:sp>
      <p:sp>
        <p:nvSpPr>
          <p:cNvPr id="17411" name="Text Box 3"/>
          <p:cNvSpPr txBox="1">
            <a:spLocks noChangeArrowheads="1"/>
          </p:cNvSpPr>
          <p:nvPr/>
        </p:nvSpPr>
        <p:spPr bwMode="auto">
          <a:xfrm>
            <a:off x="250825" y="1268413"/>
            <a:ext cx="8569325"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kumimoji="1" lang="en-US" altLang="zh-CN" sz="2400" dirty="0">
                <a:latin typeface="Times New Roman" panose="02020603050405020304" pitchFamily="18" charset="0"/>
              </a:rPr>
              <a:t>           </a:t>
            </a:r>
            <a:r>
              <a:rPr kumimoji="1" lang="zh-CN" altLang="en-US" sz="3600" b="1" dirty="0">
                <a:latin typeface="Times New Roman" panose="02020603050405020304" pitchFamily="18" charset="0"/>
              </a:rPr>
              <a:t>形声字由形符和声符两部分组成，形符表示意义范畴，声符表读音类别。</a:t>
            </a:r>
          </a:p>
        </p:txBody>
      </p:sp>
      <p:sp>
        <p:nvSpPr>
          <p:cNvPr id="17417" name="Text Box 9"/>
          <p:cNvSpPr txBox="1">
            <a:spLocks noChangeArrowheads="1"/>
          </p:cNvSpPr>
          <p:nvPr/>
        </p:nvSpPr>
        <p:spPr bwMode="auto">
          <a:xfrm>
            <a:off x="1042988" y="2795588"/>
            <a:ext cx="36004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a:solidFill>
                  <a:srgbClr val="0000FF"/>
                </a:solidFill>
                <a:latin typeface="黑体" panose="02010609060101010101" pitchFamily="49" charset="-122"/>
                <a:ea typeface="黑体" panose="02010609060101010101" pitchFamily="49" charset="-122"/>
              </a:rPr>
              <a:t>贷款      货物</a:t>
            </a:r>
          </a:p>
        </p:txBody>
      </p:sp>
      <p:sp>
        <p:nvSpPr>
          <p:cNvPr id="17418" name="Text Box 10"/>
          <p:cNvSpPr txBox="1">
            <a:spLocks noChangeArrowheads="1"/>
          </p:cNvSpPr>
          <p:nvPr/>
        </p:nvSpPr>
        <p:spPr bwMode="auto">
          <a:xfrm>
            <a:off x="5219700" y="2795588"/>
            <a:ext cx="36004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a:solidFill>
                  <a:srgbClr val="FF00FF"/>
                </a:solidFill>
                <a:latin typeface="黑体" panose="02010609060101010101" pitchFamily="49" charset="-122"/>
                <a:ea typeface="黑体" panose="02010609060101010101" pitchFamily="49" charset="-122"/>
              </a:rPr>
              <a:t>（形旁相同）</a:t>
            </a:r>
          </a:p>
        </p:txBody>
      </p:sp>
      <p:sp>
        <p:nvSpPr>
          <p:cNvPr id="17419" name="Text Box 11"/>
          <p:cNvSpPr txBox="1">
            <a:spLocks noChangeArrowheads="1"/>
          </p:cNvSpPr>
          <p:nvPr/>
        </p:nvSpPr>
        <p:spPr bwMode="auto">
          <a:xfrm>
            <a:off x="1042988" y="3860800"/>
            <a:ext cx="4392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600" b="1">
                <a:solidFill>
                  <a:srgbClr val="0000FF"/>
                </a:solidFill>
                <a:latin typeface="黑体" panose="02010609060101010101" pitchFamily="49" charset="-122"/>
                <a:ea typeface="黑体" panose="02010609060101010101" pitchFamily="49" charset="-122"/>
              </a:rPr>
              <a:t>棕色      跟踪</a:t>
            </a:r>
          </a:p>
        </p:txBody>
      </p:sp>
      <p:sp>
        <p:nvSpPr>
          <p:cNvPr id="17420" name="Text Box 12"/>
          <p:cNvSpPr txBox="1">
            <a:spLocks noChangeArrowheads="1"/>
          </p:cNvSpPr>
          <p:nvPr/>
        </p:nvSpPr>
        <p:spPr bwMode="auto">
          <a:xfrm>
            <a:off x="5292725" y="3860800"/>
            <a:ext cx="29642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600" b="1">
                <a:solidFill>
                  <a:srgbClr val="FF00FF"/>
                </a:solidFill>
                <a:latin typeface="黑体" panose="02010609060101010101" pitchFamily="49" charset="-122"/>
                <a:ea typeface="黑体" panose="02010609060101010101" pitchFamily="49" charset="-122"/>
              </a:rPr>
              <a:t>（声旁相同）</a:t>
            </a:r>
          </a:p>
        </p:txBody>
      </p:sp>
      <p:sp>
        <p:nvSpPr>
          <p:cNvPr id="17421" name="Text Box 13"/>
          <p:cNvSpPr txBox="1">
            <a:spLocks noChangeArrowheads="1"/>
          </p:cNvSpPr>
          <p:nvPr/>
        </p:nvSpPr>
        <p:spPr bwMode="auto">
          <a:xfrm>
            <a:off x="623352" y="5180530"/>
            <a:ext cx="8424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a:solidFill>
                  <a:srgbClr val="9900CC"/>
                </a:solidFill>
                <a:latin typeface="黑体" panose="02010609060101010101" pitchFamily="49" charset="-122"/>
                <a:ea typeface="黑体" panose="02010609060101010101" pitchFamily="49" charset="-122"/>
              </a:rPr>
              <a:t>利用形旁、声旁可以辨别形似字和同音字。</a:t>
            </a:r>
          </a:p>
        </p:txBody>
      </p:sp>
    </p:spTree>
    <p:extLst>
      <p:ext uri="{BB962C8B-B14F-4D97-AF65-F5344CB8AC3E}">
        <p14:creationId xmlns:p14="http://schemas.microsoft.com/office/powerpoint/2010/main" val="27904361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323850" y="188913"/>
            <a:ext cx="3541713"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6600" b="1">
                <a:solidFill>
                  <a:srgbClr val="0000FF"/>
                </a:solidFill>
                <a:latin typeface="Times New Roman" panose="02020603050405020304" pitchFamily="18" charset="0"/>
                <a:ea typeface="华文新魏" panose="02010800040101010101" pitchFamily="2" charset="-122"/>
              </a:rPr>
              <a:t>探究“美”</a:t>
            </a:r>
          </a:p>
        </p:txBody>
      </p:sp>
      <p:sp>
        <p:nvSpPr>
          <p:cNvPr id="74755" name="Text Box 3"/>
          <p:cNvSpPr txBox="1">
            <a:spLocks noChangeArrowheads="1"/>
          </p:cNvSpPr>
          <p:nvPr/>
        </p:nvSpPr>
        <p:spPr bwMode="auto">
          <a:xfrm>
            <a:off x="381000" y="1447800"/>
            <a:ext cx="4046538" cy="404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3600" b="1" dirty="0">
                <a:solidFill>
                  <a:srgbClr val="000000"/>
                </a:solidFill>
                <a:latin typeface="华文新魏" panose="02010800040101010101" pitchFamily="2" charset="-122"/>
                <a:ea typeface="华文新魏" panose="02010800040101010101" pitchFamily="2" charset="-122"/>
              </a:rPr>
              <a:t>    </a:t>
            </a:r>
            <a:r>
              <a:rPr kumimoji="1" lang="zh-CN" altLang="en-US" sz="3600" b="1" dirty="0">
                <a:solidFill>
                  <a:srgbClr val="000000"/>
                </a:solidFill>
                <a:latin typeface="华文新魏" panose="02010800040101010101" pitchFamily="2" charset="-122"/>
                <a:ea typeface="华文新魏" panose="02010800040101010101" pitchFamily="2" charset="-122"/>
              </a:rPr>
              <a:t>右边是</a:t>
            </a:r>
            <a:r>
              <a:rPr kumimoji="1" lang="en-US" altLang="zh-CN" sz="3600" b="1" dirty="0">
                <a:solidFill>
                  <a:srgbClr val="000000"/>
                </a:solidFill>
                <a:latin typeface="华文新魏" panose="02010800040101010101" pitchFamily="2" charset="-122"/>
                <a:ea typeface="华文新魏" panose="02010800040101010101" pitchFamily="2" charset="-122"/>
              </a:rPr>
              <a:t>2008</a:t>
            </a:r>
            <a:r>
              <a:rPr kumimoji="1" lang="zh-CN" altLang="en-US" sz="3600" b="1" dirty="0">
                <a:solidFill>
                  <a:srgbClr val="000000"/>
                </a:solidFill>
                <a:latin typeface="华文新魏" panose="02010800040101010101" pitchFamily="2" charset="-122"/>
                <a:ea typeface="华文新魏" panose="02010800040101010101" pitchFamily="2" charset="-122"/>
              </a:rPr>
              <a:t>年北京奥运会会徽，请你仔细观看，然后用生动的语言说出会徽中蕴含了汉字哪些方面的美。</a:t>
            </a:r>
          </a:p>
        </p:txBody>
      </p:sp>
      <p:pic>
        <p:nvPicPr>
          <p:cNvPr id="74756" name="Picture 4" descr="ayh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96900"/>
            <a:ext cx="4398963" cy="528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640830"/>
      </p:ext>
    </p:extLst>
  </p:cSld>
  <p:clrMapOvr>
    <a:masterClrMapping/>
  </p:clrMapOvr>
  <p:transition>
    <p:zoom/>
    <p:sndAc>
      <p:stSnd>
        <p:snd r:embed="rId2" name="chimes.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p:cNvSpPr txBox="1">
            <a:spLocks noChangeArrowheads="1"/>
          </p:cNvSpPr>
          <p:nvPr/>
        </p:nvSpPr>
        <p:spPr bwMode="auto">
          <a:xfrm>
            <a:off x="250825" y="66675"/>
            <a:ext cx="8520113" cy="653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10000"/>
              </a:lnSpc>
              <a:spcBef>
                <a:spcPct val="0"/>
              </a:spcBef>
              <a:spcAft>
                <a:spcPct val="0"/>
              </a:spcAft>
            </a:pPr>
            <a:r>
              <a:rPr kumimoji="1" lang="en-US" altLang="zh-CN" sz="3200" b="1" dirty="0">
                <a:solidFill>
                  <a:srgbClr val="000000"/>
                </a:solidFill>
                <a:latin typeface="黑体" panose="02010609060101010101" pitchFamily="49" charset="-122"/>
                <a:ea typeface="黑体" panose="02010609060101010101" pitchFamily="49" charset="-122"/>
              </a:rPr>
              <a:t>    </a:t>
            </a:r>
            <a:r>
              <a:rPr kumimoji="1" lang="zh-CN" altLang="en-US" sz="3200" b="1" dirty="0">
                <a:solidFill>
                  <a:srgbClr val="000000"/>
                </a:solidFill>
                <a:latin typeface="黑体" panose="02010609060101010101" pitchFamily="49" charset="-122"/>
                <a:ea typeface="黑体" panose="02010609060101010101" pitchFamily="49" charset="-122"/>
              </a:rPr>
              <a:t>上面的笔划，像字非字，似画非画；融字于画，寓画于字；笔划之间，舞姿翩翩；舞韵之中，笔墨纵情；充分显示了汉字</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入画</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的美感。她像一个</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人</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 ，又像一个</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京</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字，还像一个</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文</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字，预示着我们首都北京将举办一个</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人文奥运</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。我们仿佛看到，一个满怀热情和希望、富有激情和活力的舞者，正舞出中国人民的豪迈欢腾；我们仿佛看到，一个充满生机与朝气、坚强与超越的运动员，正奔跑出奥运会</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更快</a:t>
            </a:r>
            <a:r>
              <a:rPr kumimoji="1" lang="en-US" altLang="zh-CN"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更高</a:t>
            </a:r>
            <a:r>
              <a:rPr kumimoji="1" lang="en-US" altLang="zh-CN"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更强</a:t>
            </a:r>
            <a:r>
              <a:rPr kumimoji="1" lang="zh-CN" altLang="en-US" sz="3200" b="1" dirty="0">
                <a:solidFill>
                  <a:srgbClr val="000000"/>
                </a:solidFill>
                <a:latin typeface="Times New Roman" panose="02020603050405020304" pitchFamily="18" charset="0"/>
                <a:ea typeface="黑体" panose="02010609060101010101" pitchFamily="49" charset="-122"/>
              </a:rPr>
              <a:t>”</a:t>
            </a:r>
            <a:r>
              <a:rPr kumimoji="1" lang="zh-CN" altLang="en-US" sz="3200" b="1" dirty="0">
                <a:solidFill>
                  <a:srgbClr val="000000"/>
                </a:solidFill>
                <a:latin typeface="黑体" panose="02010609060101010101" pitchFamily="49" charset="-122"/>
                <a:ea typeface="黑体" panose="02010609060101010101" pitchFamily="49" charset="-122"/>
              </a:rPr>
              <a:t>的理念；我们也仿佛看到，一个龙腾虎跃的中国，正以满腔热情欢迎各国喜爱运动、热爱和平的人们。 </a:t>
            </a:r>
          </a:p>
        </p:txBody>
      </p:sp>
    </p:spTree>
    <p:extLst>
      <p:ext uri="{BB962C8B-B14F-4D97-AF65-F5344CB8AC3E}">
        <p14:creationId xmlns:p14="http://schemas.microsoft.com/office/powerpoint/2010/main" val="901692242"/>
      </p:ext>
    </p:extLst>
  </p:cSld>
  <p:clrMapOvr>
    <a:masterClrMapping/>
  </p:clrMapOvr>
  <p:transition>
    <p:zoom/>
    <p:sndAc>
      <p:stSnd>
        <p:snd r:embed="rId2" name="chimes.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5961888" y="785877"/>
            <a:ext cx="2943065" cy="265749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8243" name="Rectangle 3"/>
          <p:cNvSpPr>
            <a:spLocks noChangeArrowheads="1"/>
          </p:cNvSpPr>
          <p:nvPr/>
        </p:nvSpPr>
        <p:spPr bwMode="auto">
          <a:xfrm>
            <a:off x="684213" y="3759200"/>
            <a:ext cx="7991475"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3600" b="1" u="sng" dirty="0">
                <a:solidFill>
                  <a:srgbClr val="FF0000"/>
                </a:solidFill>
                <a:latin typeface="华文新魏" panose="02010800040101010101" pitchFamily="2" charset="-122"/>
                <a:ea typeface="华文新魏" panose="02010800040101010101" pitchFamily="2" charset="-122"/>
              </a:rPr>
              <a:t>这是划船比赛项目的会标</a:t>
            </a:r>
            <a:r>
              <a:rPr lang="zh-CN" altLang="en-US" sz="3600" b="1" dirty="0">
                <a:solidFill>
                  <a:srgbClr val="FF0000"/>
                </a:solidFill>
                <a:latin typeface="华文新魏" panose="02010800040101010101" pitchFamily="2" charset="-122"/>
                <a:ea typeface="华文新魏" panose="02010800040101010101" pitchFamily="2" charset="-122"/>
              </a:rPr>
              <a:t>，</a:t>
            </a:r>
            <a:r>
              <a:rPr lang="zh-CN" altLang="en-US" sz="3600" b="1" u="sng" dirty="0">
                <a:solidFill>
                  <a:srgbClr val="FF0000"/>
                </a:solidFill>
                <a:latin typeface="华文新魏" panose="02010800040101010101" pitchFamily="2" charset="-122"/>
                <a:ea typeface="华文新魏" panose="02010800040101010101" pitchFamily="2" charset="-122"/>
              </a:rPr>
              <a:t>设计者巧妙地</a:t>
            </a:r>
            <a:r>
              <a:rPr lang="zh-CN" altLang="en-US" sz="3600" b="1" dirty="0">
                <a:solidFill>
                  <a:srgbClr val="FF0000"/>
                </a:solidFill>
                <a:latin typeface="华文新魏" panose="02010800040101010101" pitchFamily="2" charset="-122"/>
                <a:ea typeface="华文新魏" panose="02010800040101010101" pitchFamily="2" charset="-122"/>
              </a:rPr>
              <a:t>将两个划船人的正在进行比赛的姿态设计成一个“比”字，既</a:t>
            </a:r>
            <a:r>
              <a:rPr lang="zh-CN" altLang="en-US" sz="3600" b="1" u="sng" dirty="0">
                <a:solidFill>
                  <a:srgbClr val="FF0000"/>
                </a:solidFill>
                <a:latin typeface="华文新魏" panose="02010800040101010101" pitchFamily="2" charset="-122"/>
                <a:ea typeface="华文新魏" panose="02010800040101010101" pitchFamily="2" charset="-122"/>
              </a:rPr>
              <a:t>形象地表明了</a:t>
            </a:r>
            <a:r>
              <a:rPr lang="zh-CN" altLang="en-US" sz="3600" b="1" dirty="0">
                <a:solidFill>
                  <a:srgbClr val="FF0000"/>
                </a:solidFill>
                <a:latin typeface="华文新魏" panose="02010800040101010101" pitchFamily="2" charset="-122"/>
                <a:ea typeface="华文新魏" panose="02010800040101010101" pitchFamily="2" charset="-122"/>
              </a:rPr>
              <a:t>体育项目的内容，又突出“比赛”的意思</a:t>
            </a:r>
            <a:r>
              <a:rPr lang="zh-CN" altLang="en-US" sz="3600" b="1" dirty="0" smtClean="0">
                <a:solidFill>
                  <a:srgbClr val="FF0000"/>
                </a:solidFill>
                <a:latin typeface="华文新魏" panose="02010800040101010101" pitchFamily="2" charset="-122"/>
                <a:ea typeface="华文新魏" panose="02010800040101010101" pitchFamily="2" charset="-122"/>
              </a:rPr>
              <a:t>。</a:t>
            </a:r>
            <a:endParaRPr lang="en-US" altLang="zh-CN" sz="3600" b="1" dirty="0">
              <a:solidFill>
                <a:srgbClr val="FF0000"/>
              </a:solidFill>
              <a:latin typeface="华文新魏" panose="02010800040101010101" pitchFamily="2" charset="-122"/>
              <a:ea typeface="华文新魏" panose="02010800040101010101" pitchFamily="2" charset="-122"/>
            </a:endParaRPr>
          </a:p>
        </p:txBody>
      </p:sp>
      <p:sp>
        <p:nvSpPr>
          <p:cNvPr id="138244" name="Rectangle 4"/>
          <p:cNvSpPr>
            <a:spLocks noChangeArrowheads="1"/>
          </p:cNvSpPr>
          <p:nvPr/>
        </p:nvSpPr>
        <p:spPr bwMode="auto">
          <a:xfrm>
            <a:off x="407580" y="636898"/>
            <a:ext cx="55543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3600" b="1" dirty="0" smtClean="0">
                <a:latin typeface="黑体" panose="02010609060101010101" pitchFamily="49" charset="-122"/>
                <a:ea typeface="黑体" panose="02010609060101010101" pitchFamily="49" charset="-122"/>
              </a:rPr>
              <a:t>汉字</a:t>
            </a:r>
            <a:r>
              <a:rPr lang="zh-CN" altLang="en-US" sz="3600" b="1" dirty="0">
                <a:latin typeface="黑体" panose="02010609060101010101" pitchFamily="49" charset="-122"/>
                <a:ea typeface="黑体" panose="02010609060101010101" pitchFamily="49" charset="-122"/>
              </a:rPr>
              <a:t>有着其他文字所没有的独特魅力</a:t>
            </a:r>
            <a:r>
              <a:rPr lang="zh-CN" altLang="en-US" sz="3600" b="1" dirty="0" smtClean="0">
                <a:latin typeface="黑体" panose="02010609060101010101" pitchFamily="49" charset="-122"/>
                <a:ea typeface="黑体" panose="02010609060101010101" pitchFamily="49" charset="-122"/>
              </a:rPr>
              <a:t>，右面</a:t>
            </a:r>
            <a:r>
              <a:rPr lang="zh-CN" altLang="en-US" sz="3600" b="1" dirty="0">
                <a:latin typeface="黑体" panose="02010609060101010101" pitchFamily="49" charset="-122"/>
                <a:ea typeface="黑体" panose="02010609060101010101" pitchFamily="49" charset="-122"/>
              </a:rPr>
              <a:t>的图片足某体育项目的会标，请你说出它的</a:t>
            </a:r>
            <a:r>
              <a:rPr lang="zh-CN" altLang="en-US" sz="3600" b="1" dirty="0" smtClean="0">
                <a:latin typeface="黑体" panose="02010609060101010101" pitchFamily="49" charset="-122"/>
                <a:ea typeface="黑体" panose="02010609060101010101" pitchFamily="49" charset="-122"/>
              </a:rPr>
              <a:t>妙处。</a:t>
            </a:r>
            <a:endParaRPr lang="zh-CN" altLang="en-US" sz="36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3970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8243"/>
                                        </p:tgtEl>
                                        <p:attrNameLst>
                                          <p:attrName>style.visibility</p:attrName>
                                        </p:attrNameLst>
                                      </p:cBhvr>
                                      <p:to>
                                        <p:strVal val="visible"/>
                                      </p:to>
                                    </p:set>
                                    <p:animEffect transition="in" filter="blinds(horizontal)">
                                      <p:cBhvr>
                                        <p:cTn id="7" dur="500"/>
                                        <p:tgtEl>
                                          <p:spTgt spid="138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AutoShape 3"/>
          <p:cNvSpPr>
            <a:spLocks noChangeArrowheads="1"/>
          </p:cNvSpPr>
          <p:nvPr/>
        </p:nvSpPr>
        <p:spPr bwMode="auto">
          <a:xfrm>
            <a:off x="2175392" y="2405362"/>
            <a:ext cx="4608512" cy="1341438"/>
          </a:xfrm>
          <a:prstGeom prst="horizontalScroll">
            <a:avLst>
              <a:gd name="adj" fmla="val 12500"/>
            </a:avLst>
          </a:prstGeom>
          <a:solidFill>
            <a:srgbClr val="00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4400" b="1">
                <a:solidFill>
                  <a:srgbClr val="003399"/>
                </a:solidFill>
                <a:latin typeface="华文行楷" panose="02010800040101010101" pitchFamily="2" charset="-122"/>
                <a:ea typeface="华文行楷" panose="02010800040101010101" pitchFamily="2" charset="-122"/>
              </a:rPr>
              <a:t>七嘴八舌话汉字</a:t>
            </a:r>
            <a:endParaRPr lang="zh-CN" altLang="en-US" sz="4400" b="1">
              <a:solidFill>
                <a:srgbClr val="003399"/>
              </a:solidFill>
              <a:ea typeface="华文行楷" panose="02010800040101010101" pitchFamily="2" charset="-122"/>
            </a:endParaRPr>
          </a:p>
        </p:txBody>
      </p:sp>
    </p:spTree>
    <p:extLst>
      <p:ext uri="{BB962C8B-B14F-4D97-AF65-F5344CB8AC3E}">
        <p14:creationId xmlns:p14="http://schemas.microsoft.com/office/powerpoint/2010/main" val="2587573944"/>
      </p:ext>
    </p:extLst>
  </p:cSld>
  <p:clrMapOvr>
    <a:masterClrMapping/>
  </p:clrMapOvr>
  <p:transition>
    <p:zoom/>
    <p:sndAc>
      <p:stSnd>
        <p:snd r:embed="rId2" name="chimes.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Text Box 4"/>
          <p:cNvSpPr txBox="1">
            <a:spLocks noChangeArrowheads="1"/>
          </p:cNvSpPr>
          <p:nvPr/>
        </p:nvSpPr>
        <p:spPr bwMode="auto">
          <a:xfrm>
            <a:off x="250825" y="260350"/>
            <a:ext cx="8497888"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3600" b="1" dirty="0">
                <a:solidFill>
                  <a:srgbClr val="0000FF"/>
                </a:solidFill>
                <a:latin typeface="黑体" panose="02010609060101010101" pitchFamily="49" charset="-122"/>
                <a:ea typeface="黑体" panose="02010609060101010101" pitchFamily="49" charset="-122"/>
              </a:rPr>
              <a:t>    1.</a:t>
            </a:r>
            <a:r>
              <a:rPr lang="zh-CN" altLang="en-US" sz="3600" b="1" dirty="0">
                <a:solidFill>
                  <a:srgbClr val="0000FF"/>
                </a:solidFill>
                <a:latin typeface="黑体" panose="02010609060101010101" pitchFamily="49" charset="-122"/>
                <a:ea typeface="黑体" panose="02010609060101010101" pitchFamily="49" charset="-122"/>
              </a:rPr>
              <a:t>你认为汉字会在电脑时代被淘汰  吗？为什么？</a:t>
            </a:r>
          </a:p>
        </p:txBody>
      </p:sp>
      <p:sp>
        <p:nvSpPr>
          <p:cNvPr id="116741" name="Text Box 5"/>
          <p:cNvSpPr txBox="1">
            <a:spLocks noChangeArrowheads="1"/>
          </p:cNvSpPr>
          <p:nvPr/>
        </p:nvSpPr>
        <p:spPr bwMode="auto">
          <a:xfrm>
            <a:off x="323850" y="1533525"/>
            <a:ext cx="8496300" cy="513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15000"/>
              </a:lnSpc>
              <a:spcBef>
                <a:spcPct val="50000"/>
              </a:spcBef>
            </a:pPr>
            <a:r>
              <a:rPr lang="en-US" altLang="zh-CN" sz="3200" b="1" dirty="0">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中国人以自己的聪明才智，解决了汉字输入计算机并在网上传输的问题，而且输入的速度越来越快。近年来，汉字手写技术、声音输入技术等成为了中国电脑输入法未来发展的趋势，这些技术不断满足了不习惯键盘打字的人们用好电脑的需要。由此可见，是电脑接受了汉字，而不是电脑改变了汉字。古老的汉字以其雄健的生命力证明了自己存在的价值，而且在新的时代里焕发了青春。</a:t>
            </a:r>
          </a:p>
        </p:txBody>
      </p:sp>
    </p:spTree>
    <p:extLst>
      <p:ext uri="{BB962C8B-B14F-4D97-AF65-F5344CB8AC3E}">
        <p14:creationId xmlns:p14="http://schemas.microsoft.com/office/powerpoint/2010/main" val="242185137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6741"/>
                                        </p:tgtEl>
                                        <p:attrNameLst>
                                          <p:attrName>style.visibility</p:attrName>
                                        </p:attrNameLst>
                                      </p:cBhvr>
                                      <p:to>
                                        <p:strVal val="visible"/>
                                      </p:to>
                                    </p:set>
                                    <p:animEffect transition="in" filter="fade">
                                      <p:cBhvr>
                                        <p:cTn id="7" dur="1000"/>
                                        <p:tgtEl>
                                          <p:spTgt spid="116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Text Box 4"/>
          <p:cNvSpPr txBox="1">
            <a:spLocks noChangeArrowheads="1"/>
          </p:cNvSpPr>
          <p:nvPr/>
        </p:nvSpPr>
        <p:spPr bwMode="auto">
          <a:xfrm>
            <a:off x="468313" y="1773238"/>
            <a:ext cx="8066087"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spcBef>
                <a:spcPct val="50000"/>
              </a:spcBef>
            </a:pPr>
            <a:r>
              <a:rPr lang="en-US" altLang="zh-CN" sz="3200" dirty="0">
                <a:solidFill>
                  <a:schemeClr val="accent2"/>
                </a:solidFill>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我们的汉字集形体、声音和辞义三者于一体，它的独特魅力，是永远不可能改变、也是无可替代的。即使是汉语拼音，可以作为学习汉语的辅助工具，但是决不可能代替汉字本身，因为它没有也不可能具有汉字那种独一无二的魅力。</a:t>
            </a:r>
          </a:p>
        </p:txBody>
      </p:sp>
      <p:sp>
        <p:nvSpPr>
          <p:cNvPr id="117766" name="Text Box 6"/>
          <p:cNvSpPr txBox="1">
            <a:spLocks noChangeArrowheads="1"/>
          </p:cNvSpPr>
          <p:nvPr/>
        </p:nvSpPr>
        <p:spPr bwMode="auto">
          <a:xfrm>
            <a:off x="395288" y="404813"/>
            <a:ext cx="8497887"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3600" b="1" dirty="0">
                <a:solidFill>
                  <a:srgbClr val="0000FF"/>
                </a:solidFill>
                <a:latin typeface="黑体" panose="02010609060101010101" pitchFamily="49" charset="-122"/>
                <a:ea typeface="黑体" panose="02010609060101010101" pitchFamily="49" charset="-122"/>
              </a:rPr>
              <a:t>    2.</a:t>
            </a:r>
            <a:r>
              <a:rPr lang="zh-CN" altLang="en-US" sz="3600" b="1" dirty="0">
                <a:solidFill>
                  <a:srgbClr val="0000FF"/>
                </a:solidFill>
                <a:latin typeface="黑体" panose="02010609060101010101" pitchFamily="49" charset="-122"/>
                <a:ea typeface="黑体" panose="02010609060101010101" pitchFamily="49" charset="-122"/>
              </a:rPr>
              <a:t>你认为汉字将会被</a:t>
            </a:r>
            <a:r>
              <a:rPr lang="zh-CN" altLang="en-US" sz="3600" b="1" dirty="0">
                <a:solidFill>
                  <a:srgbClr val="0000FF"/>
                </a:solidFill>
                <a:latin typeface="宋体" panose="02010600030101010101" pitchFamily="2" charset="-122"/>
                <a:ea typeface="黑体" panose="02010609060101010101" pitchFamily="49" charset="-122"/>
              </a:rPr>
              <a:t>“</a:t>
            </a:r>
            <a:r>
              <a:rPr lang="zh-CN" altLang="en-US" sz="3600" b="1" dirty="0">
                <a:solidFill>
                  <a:srgbClr val="0000FF"/>
                </a:solidFill>
                <a:latin typeface="黑体" panose="02010609060101010101" pitchFamily="49" charset="-122"/>
                <a:ea typeface="黑体" panose="02010609060101010101" pitchFamily="49" charset="-122"/>
              </a:rPr>
              <a:t>拼音文字</a:t>
            </a:r>
            <a:r>
              <a:rPr lang="zh-CN" altLang="en-US" sz="3600" b="1" dirty="0">
                <a:solidFill>
                  <a:srgbClr val="0000FF"/>
                </a:solidFill>
                <a:latin typeface="宋体" panose="02010600030101010101" pitchFamily="2" charset="-122"/>
                <a:ea typeface="黑体" panose="02010609060101010101" pitchFamily="49" charset="-122"/>
              </a:rPr>
              <a:t>”</a:t>
            </a:r>
            <a:r>
              <a:rPr lang="zh-CN" altLang="en-US" sz="3600" b="1" dirty="0">
                <a:solidFill>
                  <a:srgbClr val="0000FF"/>
                </a:solidFill>
                <a:latin typeface="黑体" panose="02010609060101010101" pitchFamily="49" charset="-122"/>
                <a:ea typeface="黑体" panose="02010609060101010101" pitchFamily="49" charset="-122"/>
              </a:rPr>
              <a:t>所替代吗？为什么？</a:t>
            </a:r>
          </a:p>
        </p:txBody>
      </p:sp>
    </p:spTree>
    <p:extLst>
      <p:ext uri="{BB962C8B-B14F-4D97-AF65-F5344CB8AC3E}">
        <p14:creationId xmlns:p14="http://schemas.microsoft.com/office/powerpoint/2010/main" val="18933043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fade">
                                      <p:cBhvr>
                                        <p:cTn id="7" dur="1000"/>
                                        <p:tgtEl>
                                          <p:spTgt spid="11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Text Box 4"/>
          <p:cNvSpPr txBox="1">
            <a:spLocks noChangeArrowheads="1"/>
          </p:cNvSpPr>
          <p:nvPr/>
        </p:nvSpPr>
        <p:spPr bwMode="auto">
          <a:xfrm>
            <a:off x="468313" y="1628775"/>
            <a:ext cx="8207375" cy="481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0000"/>
              </a:lnSpc>
              <a:spcBef>
                <a:spcPct val="50000"/>
              </a:spcBef>
            </a:pPr>
            <a:r>
              <a:rPr lang="en-US" altLang="zh-CN" sz="3200" dirty="0">
                <a:solidFill>
                  <a:schemeClr val="accent2"/>
                </a:solidFill>
                <a:latin typeface="黑体" panose="02010609060101010101" pitchFamily="49" charset="-122"/>
                <a:ea typeface="黑体" panose="02010609060101010101" pitchFamily="49" charset="-122"/>
              </a:rPr>
              <a:t>    </a:t>
            </a:r>
            <a:r>
              <a:rPr lang="zh-CN" altLang="en-US" sz="3200" b="1" dirty="0" smtClean="0">
                <a:latin typeface="黑体" panose="02010609060101010101" pitchFamily="49" charset="-122"/>
                <a:ea typeface="黑体" panose="02010609060101010101" pitchFamily="49" charset="-122"/>
              </a:rPr>
              <a:t>现在</a:t>
            </a:r>
            <a:r>
              <a:rPr lang="zh-CN" altLang="en-US" sz="3200" b="1" dirty="0">
                <a:latin typeface="黑体" panose="02010609060101010101" pitchFamily="49" charset="-122"/>
                <a:ea typeface="黑体" panose="02010609060101010101" pitchFamily="49" charset="-122"/>
              </a:rPr>
              <a:t>的书刊中常有夹英文字母的情况，这反映了当今中外交流的日益频繁。在汉字中夹字母，表达比较简约、方便，但是对不懂英文的人来说，就有了阅读障碍。如果把“</a:t>
            </a:r>
            <a:r>
              <a:rPr lang="en-US" altLang="zh-CN" sz="3200" b="1" dirty="0">
                <a:latin typeface="黑体" panose="02010609060101010101" pitchFamily="49" charset="-122"/>
                <a:ea typeface="黑体" panose="02010609060101010101" pitchFamily="49" charset="-122"/>
              </a:rPr>
              <a:t>WTO”</a:t>
            </a:r>
            <a:r>
              <a:rPr lang="zh-CN" altLang="en-US" sz="3200" b="1" dirty="0">
                <a:latin typeface="黑体" panose="02010609060101010101" pitchFamily="49" charset="-122"/>
                <a:ea typeface="黑体" panose="02010609060101010101" pitchFamily="49" charset="-122"/>
              </a:rPr>
              <a:t>译成“世贸组织”，就可以让更多的中国人理解。从维护我们民族语言文字的纯洁性来说，应当尽量减少汉字中夹英文字母的情况。</a:t>
            </a:r>
          </a:p>
        </p:txBody>
      </p:sp>
      <p:sp>
        <p:nvSpPr>
          <p:cNvPr id="118790" name="Text Box 6"/>
          <p:cNvSpPr txBox="1">
            <a:spLocks noChangeArrowheads="1"/>
          </p:cNvSpPr>
          <p:nvPr/>
        </p:nvSpPr>
        <p:spPr bwMode="auto">
          <a:xfrm>
            <a:off x="323850" y="260350"/>
            <a:ext cx="85693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3600" b="1" dirty="0">
                <a:solidFill>
                  <a:srgbClr val="0000FF"/>
                </a:solidFill>
                <a:latin typeface="黑体" panose="02010609060101010101" pitchFamily="49" charset="-122"/>
                <a:ea typeface="黑体" panose="02010609060101010101" pitchFamily="49" charset="-122"/>
              </a:rPr>
              <a:t>    3.</a:t>
            </a:r>
            <a:r>
              <a:rPr lang="zh-CN" altLang="en-US" sz="3600" b="1" dirty="0">
                <a:solidFill>
                  <a:srgbClr val="0000FF"/>
                </a:solidFill>
                <a:latin typeface="黑体" panose="02010609060101010101" pitchFamily="49" charset="-122"/>
                <a:ea typeface="黑体" panose="02010609060101010101" pitchFamily="49" charset="-122"/>
              </a:rPr>
              <a:t>你认为现在的书刊中常常有汉字夹字母的情况好不好？为什么？</a:t>
            </a:r>
          </a:p>
        </p:txBody>
      </p:sp>
    </p:spTree>
    <p:extLst>
      <p:ext uri="{BB962C8B-B14F-4D97-AF65-F5344CB8AC3E}">
        <p14:creationId xmlns:p14="http://schemas.microsoft.com/office/powerpoint/2010/main" val="374484504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fade">
                                      <p:cBhvr>
                                        <p:cTn id="7" dur="1000"/>
                                        <p:tgtEl>
                                          <p:spTgt spid="118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3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411</TotalTime>
  <Words>1421</Words>
  <Application>Microsoft Office PowerPoint</Application>
  <PresentationFormat>全屏显示(4:3)</PresentationFormat>
  <Paragraphs>93</Paragraphs>
  <Slides>26</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26</vt:i4>
      </vt:variant>
    </vt:vector>
  </HeadingPairs>
  <TitlesOfParts>
    <vt:vector size="40" baseType="lpstr">
      <vt:lpstr>Arial Unicode MS</vt:lpstr>
      <vt:lpstr>黑体</vt:lpstr>
      <vt:lpstr>华文行楷</vt:lpstr>
      <vt:lpstr>华文新魏</vt:lpstr>
      <vt:lpstr>楷体_GB2312</vt:lpstr>
      <vt:lpstr>隶书</vt:lpstr>
      <vt:lpstr>宋体</vt:lpstr>
      <vt:lpstr>Arial</vt:lpstr>
      <vt:lpstr>Calibri</vt:lpstr>
      <vt:lpstr>Calibri Light</vt:lpstr>
      <vt:lpstr>Times New Roman</vt:lpstr>
      <vt:lpstr>Wingdings</vt:lpstr>
      <vt:lpstr>Office 主题</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江苏海门</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dc:creator>
  <cp:lastModifiedBy>W</cp:lastModifiedBy>
  <cp:revision>7</cp:revision>
  <dcterms:created xsi:type="dcterms:W3CDTF">2017-11-08T02:09:01Z</dcterms:created>
  <dcterms:modified xsi:type="dcterms:W3CDTF">2017-11-08T09:05:03Z</dcterms:modified>
</cp:coreProperties>
</file>