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1" r:id="rId4"/>
    <p:sldId id="281" r:id="rId5"/>
    <p:sldId id="282" r:id="rId6"/>
    <p:sldId id="263" r:id="rId7"/>
    <p:sldId id="283" r:id="rId8"/>
    <p:sldId id="278" r:id="rId9"/>
    <p:sldId id="280" r:id="rId1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66"/>
    <a:srgbClr val="6600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4"/>
    <p:restoredTop sz="92644"/>
  </p:normalViewPr>
  <p:slideViewPr>
    <p:cSldViewPr>
      <p:cViewPr varScale="1">
        <p:scale>
          <a:sx n="85" d="100"/>
          <a:sy n="85" d="100"/>
        </p:scale>
        <p:origin x="-99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4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44D924-B019-496F-8D67-A2E361CFE8E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10C04-D63D-4201-A3FD-CDBC7D7D7D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5B9E7-F18B-4183-86D0-3E2EE3C1A6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FD966-2957-4C02-983D-58F4319E4A2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C55-A07B-4513-AE2F-3DF1EE96C5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8F35F-0069-4ECB-B465-FAAC8FB021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38B71-444A-4378-AEFC-F42DA94E42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EB137-E9A1-40EF-BA11-87F0FB2D168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16005-3509-43EF-8402-7BAE529FD7E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ECA5E-753F-4544-8590-55702A2C45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79412-DD03-455B-887B-1C83D0D55E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3877FDB-80D4-42DD-B7BB-EF27444E13B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11265"/>
          <p:cNvSpPr>
            <a:spLocks noChangeArrowheads="1"/>
          </p:cNvSpPr>
          <p:nvPr/>
        </p:nvSpPr>
        <p:spPr bwMode="auto">
          <a:xfrm>
            <a:off x="250825" y="26988"/>
            <a:ext cx="88931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76225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．写借条</a:t>
            </a:r>
          </a:p>
          <a:p>
            <a:pPr indent="276225"/>
            <a:r>
              <a:rPr lang="zh-CN" altLang="en-US" sz="2800" b="1">
                <a:latin typeface="楷体_GB2312"/>
                <a:ea typeface="楷体_GB2312"/>
                <a:cs typeface="楷体_GB2312"/>
              </a:rPr>
              <a:t>    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1603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班应表演课本剧需要，准备向学校器材室借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6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个无线话筒，等到表演结束时归还。请你代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1603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班委写一张借条。</a:t>
            </a:r>
          </a:p>
        </p:txBody>
      </p:sp>
      <p:sp>
        <p:nvSpPr>
          <p:cNvPr id="11286" name="矩形 11285"/>
          <p:cNvSpPr>
            <a:spLocks noChangeArrowheads="1"/>
          </p:cNvSpPr>
          <p:nvPr/>
        </p:nvSpPr>
        <p:spPr bwMode="auto">
          <a:xfrm>
            <a:off x="250825" y="3246438"/>
            <a:ext cx="84248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/>
              <a:t>                                                          </a:t>
            </a:r>
            <a:endParaRPr lang="en-US" altLang="zh-CN" sz="2800" b="1">
              <a:solidFill>
                <a:srgbClr val="660033"/>
              </a:solidFill>
            </a:endParaRPr>
          </a:p>
        </p:txBody>
      </p:sp>
      <p:sp>
        <p:nvSpPr>
          <p:cNvPr id="13315" name="直接连接符 11286"/>
          <p:cNvSpPr>
            <a:spLocks noChangeShapeType="1"/>
          </p:cNvSpPr>
          <p:nvPr/>
        </p:nvSpPr>
        <p:spPr bwMode="auto">
          <a:xfrm>
            <a:off x="250825" y="1916113"/>
            <a:ext cx="73025" cy="3600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6" name="直接连接符 11287"/>
          <p:cNvSpPr>
            <a:spLocks noChangeShapeType="1"/>
          </p:cNvSpPr>
          <p:nvPr/>
        </p:nvSpPr>
        <p:spPr bwMode="auto">
          <a:xfrm flipV="1">
            <a:off x="323850" y="5445125"/>
            <a:ext cx="8424863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7" name="直接连接符 11288"/>
          <p:cNvSpPr>
            <a:spLocks noChangeShapeType="1"/>
          </p:cNvSpPr>
          <p:nvPr/>
        </p:nvSpPr>
        <p:spPr bwMode="auto">
          <a:xfrm flipV="1">
            <a:off x="250825" y="1773238"/>
            <a:ext cx="8424863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8" name="直接连接符 11289"/>
          <p:cNvSpPr>
            <a:spLocks noChangeShapeType="1"/>
          </p:cNvSpPr>
          <p:nvPr/>
        </p:nvSpPr>
        <p:spPr bwMode="auto">
          <a:xfrm>
            <a:off x="8675688" y="1773238"/>
            <a:ext cx="73025" cy="3671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9" name="文本框 1"/>
          <p:cNvSpPr txBox="1">
            <a:spLocks noChangeArrowheads="1"/>
          </p:cNvSpPr>
          <p:nvPr/>
        </p:nvSpPr>
        <p:spPr bwMode="auto">
          <a:xfrm>
            <a:off x="698500" y="1916113"/>
            <a:ext cx="8050213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                                           </a:t>
            </a:r>
            <a:r>
              <a:rPr lang="zh-CN" altLang="en-US" sz="2400" b="1"/>
              <a:t>借  条</a:t>
            </a:r>
          </a:p>
          <a:p>
            <a:r>
              <a:rPr lang="zh-CN" altLang="en-US" sz="2400" b="1"/>
              <a:t>      今借到学校器材室无线话筒</a:t>
            </a:r>
            <a:r>
              <a:rPr lang="zh-CN" altLang="en-US" sz="2400" b="1">
                <a:solidFill>
                  <a:srgbClr val="FF0000"/>
                </a:solidFill>
              </a:rPr>
              <a:t>陆</a:t>
            </a:r>
            <a:r>
              <a:rPr lang="zh-CN" altLang="en-US" sz="2400" b="1"/>
              <a:t>个，作课本剧表演使用。表演结束后归还。</a:t>
            </a:r>
          </a:p>
          <a:p>
            <a:r>
              <a:rPr lang="zh-CN" altLang="en-US" sz="2400" b="1"/>
              <a:t>       此据</a:t>
            </a:r>
          </a:p>
          <a:p>
            <a:r>
              <a:rPr lang="zh-CN" altLang="en-US" sz="2400" b="1"/>
              <a:t>                                                             </a:t>
            </a:r>
            <a:r>
              <a:rPr lang="en-US" altLang="zh-CN" sz="2400" b="1"/>
              <a:t>1603</a:t>
            </a:r>
            <a:r>
              <a:rPr lang="zh-CN" altLang="en-US" sz="2400" b="1"/>
              <a:t>班班委</a:t>
            </a:r>
          </a:p>
          <a:p>
            <a:r>
              <a:rPr lang="zh-CN" altLang="en-US" sz="2400" b="1"/>
              <a:t>                                                               </a:t>
            </a:r>
            <a:r>
              <a:rPr lang="en-US" altLang="zh-CN" sz="2400" b="1"/>
              <a:t>2017.11.10</a:t>
            </a:r>
          </a:p>
          <a:p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                                                      </a:t>
            </a:r>
          </a:p>
          <a:p>
            <a:r>
              <a:rPr lang="zh-CN" altLang="en-US" sz="2400" b="1"/>
              <a:t>                            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矩形 10241"/>
          <p:cNvSpPr>
            <a:spLocks noChangeArrowheads="1"/>
          </p:cNvSpPr>
          <p:nvPr/>
        </p:nvSpPr>
        <p:spPr bwMode="auto">
          <a:xfrm>
            <a:off x="179388" y="334963"/>
            <a:ext cx="8713787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558800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．写收条</a:t>
            </a:r>
          </a:p>
          <a:p>
            <a:pPr indent="558800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1603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班于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2017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年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11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8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日向学校器材室归还了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6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个无线话筒。现请你代学校器材室负责人陈丹丹老师打一个收条。</a:t>
            </a:r>
          </a:p>
        </p:txBody>
      </p:sp>
      <p:graphicFrame>
        <p:nvGraphicFramePr>
          <p:cNvPr id="10264" name="表格 10263"/>
          <p:cNvGraphicFramePr/>
          <p:nvPr/>
        </p:nvGraphicFramePr>
        <p:xfrm>
          <a:off x="611188" y="2492375"/>
          <a:ext cx="7921625" cy="3384550"/>
        </p:xfrm>
        <a:graphic>
          <a:graphicData uri="http://schemas.openxmlformats.org/drawingml/2006/table">
            <a:tbl>
              <a:tblPr/>
              <a:tblGrid>
                <a:gridCol w="7921625"/>
              </a:tblGrid>
              <a:tr h="338455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lvl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36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  </a:t>
                      </a:r>
                      <a:endParaRPr lang="zh-CN" altLang="en-US" sz="3600" dirty="0">
                        <a:solidFill>
                          <a:srgbClr val="000066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344" name="文本框 1"/>
          <p:cNvSpPr txBox="1">
            <a:spLocks noChangeArrowheads="1"/>
          </p:cNvSpPr>
          <p:nvPr/>
        </p:nvSpPr>
        <p:spPr bwMode="auto">
          <a:xfrm>
            <a:off x="1154113" y="2687638"/>
            <a:ext cx="69469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ym typeface="+mn-ea"/>
              </a:rPr>
              <a:t>                                              </a:t>
            </a:r>
            <a:r>
              <a:rPr lang="zh-CN" altLang="en-US" sz="2400" b="1">
                <a:sym typeface="+mn-ea"/>
              </a:rPr>
              <a:t>收 条</a:t>
            </a:r>
            <a:endParaRPr lang="zh-CN" altLang="en-US" sz="2400" b="1"/>
          </a:p>
          <a:p>
            <a:r>
              <a:rPr lang="zh-CN" altLang="en-US" sz="2400" b="1">
                <a:sym typeface="+mn-ea"/>
              </a:rPr>
              <a:t>      今收到</a:t>
            </a:r>
            <a:r>
              <a:rPr lang="en-US" altLang="zh-CN" sz="2400" b="1">
                <a:sym typeface="+mn-ea"/>
              </a:rPr>
              <a:t>1603</a:t>
            </a:r>
            <a:r>
              <a:rPr lang="zh-CN" altLang="en-US" sz="2400" b="1">
                <a:sym typeface="+mn-ea"/>
              </a:rPr>
              <a:t>班班委归还的无线话筒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陆</a:t>
            </a:r>
            <a:r>
              <a:rPr lang="zh-CN" altLang="en-US" sz="2400" b="1">
                <a:sym typeface="+mn-ea"/>
              </a:rPr>
              <a:t>个</a:t>
            </a:r>
            <a:r>
              <a:rPr lang="en-US" altLang="zh-CN" sz="2400" b="1">
                <a:sym typeface="+mn-ea"/>
              </a:rPr>
              <a:t>.</a:t>
            </a:r>
            <a:r>
              <a:rPr lang="zh-CN" altLang="en-US" sz="2400" b="1">
                <a:sym typeface="+mn-ea"/>
              </a:rPr>
              <a:t>      </a:t>
            </a:r>
          </a:p>
          <a:p>
            <a:r>
              <a:rPr lang="zh-CN" altLang="en-US" sz="2400" b="1">
                <a:sym typeface="+mn-ea"/>
              </a:rPr>
              <a:t>             此据</a:t>
            </a:r>
            <a:endParaRPr lang="zh-CN" altLang="en-US" sz="2400" b="1"/>
          </a:p>
          <a:p>
            <a:r>
              <a:rPr lang="zh-CN" altLang="en-US" sz="2400" b="1">
                <a:sym typeface="+mn-ea"/>
              </a:rPr>
              <a:t>                                                                 陈丹丹</a:t>
            </a:r>
          </a:p>
          <a:p>
            <a:r>
              <a:rPr lang="zh-CN" altLang="en-US" sz="2400" b="1">
                <a:sym typeface="+mn-ea"/>
              </a:rPr>
              <a:t>                                                               </a:t>
            </a:r>
            <a:r>
              <a:rPr lang="en-US" altLang="zh-CN" sz="2400" b="1">
                <a:sym typeface="+mn-ea"/>
              </a:rPr>
              <a:t>2017.11.8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20481"/>
          <p:cNvSpPr>
            <a:spLocks noGrp="1"/>
          </p:cNvSpPr>
          <p:nvPr>
            <p:ph type="title"/>
          </p:nvPr>
        </p:nvSpPr>
        <p:spPr>
          <a:xfrm>
            <a:off x="323850" y="549275"/>
            <a:ext cx="8569325" cy="1143000"/>
          </a:xfrm>
        </p:spPr>
        <p:txBody>
          <a:bodyPr/>
          <a:lstStyle/>
          <a:p>
            <a:pPr algn="l" eaLnBrk="1" hangingPunct="1"/>
            <a:r>
              <a:rPr lang="en-US" altLang="zh-CN" sz="2800" b="1" smtClean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3</a:t>
            </a:r>
            <a:r>
              <a:rPr lang="zh-CN" altLang="en-US" sz="2800" b="1" smtClean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．便条（留言条）</a:t>
            </a:r>
            <a:br>
              <a:rPr lang="zh-CN" altLang="en-US" sz="2800" b="1" smtClean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</a:br>
            <a:r>
              <a:rPr lang="zh-CN" altLang="en-US" sz="2800" b="1" smtClean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    小刚同学去找张老师，准备与他商谈一下关于学校艺术节的有关事宜。结果没有找到，张老师不在办公室。现请你代小刚写一张便条（留言条）给张老师。</a:t>
            </a:r>
          </a:p>
        </p:txBody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0" y="2133600"/>
            <a:ext cx="8893175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smtClean="0">
                <a:solidFill>
                  <a:srgbClr val="660033"/>
                </a:solidFill>
              </a:rPr>
              <a:t>                                 </a:t>
            </a:r>
            <a:endParaRPr lang="en-US" altLang="zh-CN" b="1" smtClean="0">
              <a:solidFill>
                <a:srgbClr val="000066"/>
              </a:solidFill>
            </a:endParaRPr>
          </a:p>
          <a:p>
            <a:pPr eaLnBrk="1" hangingPunct="1">
              <a:buFontTx/>
              <a:buNone/>
            </a:pPr>
            <a:endParaRPr lang="en-US" altLang="zh-CN" smtClean="0"/>
          </a:p>
        </p:txBody>
      </p:sp>
      <p:sp>
        <p:nvSpPr>
          <p:cNvPr id="15363" name="文本框 1"/>
          <p:cNvSpPr txBox="1">
            <a:spLocks noChangeArrowheads="1"/>
          </p:cNvSpPr>
          <p:nvPr/>
        </p:nvSpPr>
        <p:spPr bwMode="auto">
          <a:xfrm>
            <a:off x="788988" y="2062163"/>
            <a:ext cx="73104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                                          </a:t>
            </a:r>
          </a:p>
        </p:txBody>
      </p:sp>
      <p:sp>
        <p:nvSpPr>
          <p:cNvPr id="15364" name="文本框 2"/>
          <p:cNvSpPr txBox="1">
            <a:spLocks noChangeArrowheads="1"/>
          </p:cNvSpPr>
          <p:nvPr/>
        </p:nvSpPr>
        <p:spPr bwMode="auto">
          <a:xfrm>
            <a:off x="514350" y="2292350"/>
            <a:ext cx="7654925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                                             </a:t>
            </a:r>
            <a:r>
              <a:rPr lang="en-US" altLang="zh-CN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留言条</a:t>
            </a:r>
          </a:p>
          <a:p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张老师：</a:t>
            </a:r>
          </a:p>
          <a:p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今天我来找你，你不在办公室。我想找你商谈关于学校艺术节的有关事宜。明天上午我再来找你，请在办公室等我。</a:t>
            </a:r>
          </a:p>
          <a:p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  <a:p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                                 学生：小刚</a:t>
            </a:r>
          </a:p>
          <a:p>
            <a:r>
              <a:rPr lang="zh-CN" altLang="en-US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                                 </a:t>
            </a:r>
            <a:r>
              <a:rPr lang="en-US" altLang="zh-CN" sz="24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2017.11.10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矩形 3073"/>
          <p:cNvSpPr>
            <a:spLocks noChangeArrowheads="1"/>
          </p:cNvSpPr>
          <p:nvPr/>
        </p:nvSpPr>
        <p:spPr bwMode="auto">
          <a:xfrm>
            <a:off x="179388" y="333375"/>
            <a:ext cx="8640762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558800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4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．请假条</a:t>
            </a:r>
          </a:p>
          <a:p>
            <a:pPr indent="558800"/>
            <a:r>
              <a:rPr lang="zh-CN" altLang="en-US" sz="2800" b="1">
                <a:latin typeface="楷体_GB2312"/>
                <a:ea typeface="楷体_GB2312"/>
                <a:cs typeface="楷体_GB2312"/>
              </a:rPr>
              <a:t>  倪子皓同学昨天（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11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6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日）晚上突发肠胃疾病，第二天不能去校上课，需向张老师请假一天。请你代倪子皓同学写一张请假条给张老师。</a:t>
            </a:r>
          </a:p>
        </p:txBody>
      </p:sp>
      <p:sp>
        <p:nvSpPr>
          <p:cNvPr id="3113" name="矩形 3112"/>
          <p:cNvSpPr>
            <a:spLocks noChangeArrowheads="1"/>
          </p:cNvSpPr>
          <p:nvPr/>
        </p:nvSpPr>
        <p:spPr bwMode="auto">
          <a:xfrm>
            <a:off x="395288" y="4130675"/>
            <a:ext cx="84724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560388"/>
            <a:r>
              <a:rPr lang="en-US" altLang="zh-CN" sz="2800" b="1"/>
              <a:t>                             </a:t>
            </a:r>
            <a:endParaRPr lang="en-US" altLang="zh-CN" sz="2800"/>
          </a:p>
        </p:txBody>
      </p:sp>
      <p:sp>
        <p:nvSpPr>
          <p:cNvPr id="16387" name="直接连接符 3113"/>
          <p:cNvSpPr>
            <a:spLocks noChangeShapeType="1"/>
          </p:cNvSpPr>
          <p:nvPr/>
        </p:nvSpPr>
        <p:spPr bwMode="auto">
          <a:xfrm flipV="1">
            <a:off x="395288" y="2349500"/>
            <a:ext cx="8424862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88" name="直接连接符 3114"/>
          <p:cNvSpPr>
            <a:spLocks noChangeShapeType="1"/>
          </p:cNvSpPr>
          <p:nvPr/>
        </p:nvSpPr>
        <p:spPr bwMode="auto">
          <a:xfrm>
            <a:off x="395288" y="2565400"/>
            <a:ext cx="73025" cy="381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89" name="直接连接符 3115"/>
          <p:cNvSpPr>
            <a:spLocks noChangeShapeType="1"/>
          </p:cNvSpPr>
          <p:nvPr/>
        </p:nvSpPr>
        <p:spPr bwMode="auto">
          <a:xfrm>
            <a:off x="8836025" y="2349500"/>
            <a:ext cx="0" cy="388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0" name="直接连接符 3116"/>
          <p:cNvSpPr>
            <a:spLocks noChangeShapeType="1"/>
          </p:cNvSpPr>
          <p:nvPr/>
        </p:nvSpPr>
        <p:spPr bwMode="auto">
          <a:xfrm flipV="1">
            <a:off x="468313" y="6237288"/>
            <a:ext cx="8351837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2" name="TextBox 2"/>
          <p:cNvSpPr txBox="1">
            <a:spLocks noChangeArrowheads="1"/>
          </p:cNvSpPr>
          <p:nvPr/>
        </p:nvSpPr>
        <p:spPr bwMode="auto">
          <a:xfrm>
            <a:off x="684213" y="3098800"/>
            <a:ext cx="7775575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                                                    请假条</a:t>
            </a:r>
          </a:p>
          <a:p>
            <a:r>
              <a:rPr lang="zh-CN" altLang="en-US" b="1">
                <a:solidFill>
                  <a:srgbClr val="FF0000"/>
                </a:solidFill>
              </a:rPr>
              <a:t>张老师：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     </a:t>
            </a:r>
            <a:r>
              <a:rPr lang="zh-CN" altLang="en-US" b="1">
                <a:solidFill>
                  <a:srgbClr val="FF0000"/>
                </a:solidFill>
              </a:rPr>
              <a:t>昨天晚上我突发肠胃疾病，今天不能到校上课，请假一天，请批准。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     </a:t>
            </a:r>
            <a:r>
              <a:rPr lang="zh-CN" altLang="en-US" b="1">
                <a:solidFill>
                  <a:srgbClr val="FF0000"/>
                </a:solidFill>
              </a:rPr>
              <a:t>此致</a:t>
            </a:r>
          </a:p>
          <a:p>
            <a:r>
              <a:rPr lang="zh-CN" altLang="en-US" b="1">
                <a:solidFill>
                  <a:srgbClr val="FF0000"/>
                </a:solidFill>
              </a:rPr>
              <a:t>敬礼</a:t>
            </a:r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                                                                                               </a:t>
            </a:r>
            <a:r>
              <a:rPr lang="zh-CN" altLang="en-US" b="1">
                <a:solidFill>
                  <a:srgbClr val="FF0000"/>
                </a:solidFill>
              </a:rPr>
              <a:t>学生：倪子皓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                                                                                            2017</a:t>
            </a:r>
            <a:r>
              <a:rPr lang="zh-CN" altLang="en-US" b="1">
                <a:solidFill>
                  <a:srgbClr val="FF0000"/>
                </a:solidFill>
              </a:rPr>
              <a:t>年</a:t>
            </a:r>
            <a:r>
              <a:rPr lang="en-US" altLang="zh-CN" b="1">
                <a:solidFill>
                  <a:srgbClr val="FF0000"/>
                </a:solidFill>
              </a:rPr>
              <a:t>11</a:t>
            </a:r>
            <a:r>
              <a:rPr lang="zh-CN" altLang="en-US" b="1">
                <a:solidFill>
                  <a:srgbClr val="FF0000"/>
                </a:solidFill>
              </a:rPr>
              <a:t>月</a:t>
            </a:r>
            <a:r>
              <a:rPr lang="en-US" altLang="zh-CN" b="1">
                <a:solidFill>
                  <a:srgbClr val="FF0000"/>
                </a:solidFill>
              </a:rPr>
              <a:t>10</a:t>
            </a:r>
            <a:r>
              <a:rPr lang="zh-CN" altLang="en-US" b="1">
                <a:solidFill>
                  <a:srgbClr val="FF0000"/>
                </a:solidFill>
              </a:rPr>
              <a:t>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矩形 4097"/>
          <p:cNvSpPr>
            <a:spLocks noChangeArrowheads="1"/>
          </p:cNvSpPr>
          <p:nvPr/>
        </p:nvSpPr>
        <p:spPr bwMode="auto">
          <a:xfrm>
            <a:off x="0" y="315913"/>
            <a:ext cx="8893175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>
                <a:latin typeface="楷体_GB2312"/>
                <a:ea typeface="楷体_GB2312"/>
                <a:cs typeface="楷体_GB2312"/>
              </a:rPr>
              <a:t>5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．申请书</a:t>
            </a:r>
          </a:p>
          <a:p>
            <a:pPr eaLnBrk="0" hangingPunct="0"/>
            <a:r>
              <a:rPr lang="zh-CN" altLang="en-US" sz="2800" b="1">
                <a:latin typeface="楷体_GB2312"/>
                <a:ea typeface="楷体_GB2312"/>
                <a:cs typeface="楷体_GB2312"/>
              </a:rPr>
              <a:t>    新学期初二“挑战数学”社团需要重新申请。假如你准备申报该社团，请你向学校教务处写一封申请书。</a:t>
            </a:r>
          </a:p>
        </p:txBody>
      </p:sp>
      <p:sp>
        <p:nvSpPr>
          <p:cNvPr id="4118" name="矩形 4117"/>
          <p:cNvSpPr>
            <a:spLocks noChangeArrowheads="1"/>
          </p:cNvSpPr>
          <p:nvPr/>
        </p:nvSpPr>
        <p:spPr bwMode="auto">
          <a:xfrm>
            <a:off x="179388" y="3981450"/>
            <a:ext cx="8616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552450"/>
            <a:r>
              <a:rPr lang="en-US" altLang="zh-CN" sz="2800" b="1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                   </a:t>
            </a:r>
          </a:p>
        </p:txBody>
      </p:sp>
      <p:sp>
        <p:nvSpPr>
          <p:cNvPr id="17411" name="直接连接符 4118"/>
          <p:cNvSpPr>
            <a:spLocks noChangeShapeType="1"/>
          </p:cNvSpPr>
          <p:nvPr/>
        </p:nvSpPr>
        <p:spPr bwMode="auto">
          <a:xfrm>
            <a:off x="611188" y="2060575"/>
            <a:ext cx="71437" cy="446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2" name="直接连接符 4119"/>
          <p:cNvSpPr>
            <a:spLocks noChangeShapeType="1"/>
          </p:cNvSpPr>
          <p:nvPr/>
        </p:nvSpPr>
        <p:spPr bwMode="auto">
          <a:xfrm>
            <a:off x="539750" y="2060575"/>
            <a:ext cx="8208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3" name="直接连接符 4120"/>
          <p:cNvSpPr>
            <a:spLocks noChangeShapeType="1"/>
          </p:cNvSpPr>
          <p:nvPr/>
        </p:nvSpPr>
        <p:spPr bwMode="auto">
          <a:xfrm>
            <a:off x="8820150" y="2060575"/>
            <a:ext cx="0" cy="439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4" name="直接连接符 4121"/>
          <p:cNvSpPr>
            <a:spLocks noChangeShapeType="1"/>
          </p:cNvSpPr>
          <p:nvPr/>
        </p:nvSpPr>
        <p:spPr bwMode="auto">
          <a:xfrm>
            <a:off x="250825" y="6453188"/>
            <a:ext cx="864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6" name="TextBox 2"/>
          <p:cNvSpPr txBox="1">
            <a:spLocks noChangeArrowheads="1"/>
          </p:cNvSpPr>
          <p:nvPr/>
        </p:nvSpPr>
        <p:spPr bwMode="auto">
          <a:xfrm>
            <a:off x="923925" y="2781300"/>
            <a:ext cx="7824788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</a:rPr>
              <a:t>                                               申请书</a:t>
            </a:r>
          </a:p>
          <a:p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校教务处：</a:t>
            </a:r>
          </a:p>
          <a:p>
            <a:r>
              <a:rPr lang="zh-CN" altLang="en-US" sz="2000" b="1">
                <a:solidFill>
                  <a:srgbClr val="FF0000"/>
                </a:solidFill>
              </a:rPr>
              <a:t>       我爱好数学，喜欢钻研，敢于质疑和挑战，曾获得奥林匹克数学竞赛二等奖。我要求参加“挑战数学”社团，提升个人能力，争取为校争光。</a:t>
            </a:r>
          </a:p>
          <a:p>
            <a:r>
              <a:rPr lang="en-US" altLang="zh-CN" sz="2000" b="1">
                <a:solidFill>
                  <a:srgbClr val="FF0000"/>
                </a:solidFill>
              </a:rPr>
              <a:t>        </a:t>
            </a:r>
            <a:r>
              <a:rPr lang="zh-CN" altLang="en-US" sz="2000" b="1">
                <a:solidFill>
                  <a:srgbClr val="FF0000"/>
                </a:solidFill>
              </a:rPr>
              <a:t>请批准。</a:t>
            </a:r>
          </a:p>
          <a:p>
            <a:r>
              <a:rPr lang="en-US" altLang="zh-CN" sz="2000" b="1">
                <a:solidFill>
                  <a:srgbClr val="FF0000"/>
                </a:solidFill>
              </a:rPr>
              <a:t> </a:t>
            </a:r>
          </a:p>
          <a:p>
            <a:r>
              <a:rPr lang="en-US" altLang="zh-CN" sz="2000" b="1">
                <a:solidFill>
                  <a:srgbClr val="FF0000"/>
                </a:solidFill>
              </a:rPr>
              <a:t>                                                                        </a:t>
            </a:r>
            <a:r>
              <a:rPr lang="zh-CN" altLang="en-US" sz="2000" b="1">
                <a:solidFill>
                  <a:srgbClr val="FF0000"/>
                </a:solidFill>
              </a:rPr>
              <a:t>申请人：</a:t>
            </a:r>
            <a:r>
              <a:rPr lang="en-US" altLang="zh-CN" sz="2000" b="1">
                <a:solidFill>
                  <a:srgbClr val="FF0000"/>
                </a:solidFill>
              </a:rPr>
              <a:t>1603</a:t>
            </a:r>
            <a:r>
              <a:rPr lang="zh-CN" altLang="en-US" sz="2000" b="1">
                <a:solidFill>
                  <a:srgbClr val="FF0000"/>
                </a:solidFill>
              </a:rPr>
              <a:t>某某</a:t>
            </a:r>
          </a:p>
          <a:p>
            <a:r>
              <a:rPr lang="en-US" altLang="zh-CN" sz="2000" b="1">
                <a:solidFill>
                  <a:srgbClr val="FF0000"/>
                </a:solidFill>
              </a:rPr>
              <a:t>                                                                         2017</a:t>
            </a:r>
            <a:r>
              <a:rPr lang="zh-CN" altLang="en-US" sz="2000" b="1">
                <a:solidFill>
                  <a:srgbClr val="FF0000"/>
                </a:solidFill>
              </a:rPr>
              <a:t>年 </a:t>
            </a:r>
            <a:r>
              <a:rPr lang="en-US" altLang="zh-CN" sz="2000" b="1">
                <a:solidFill>
                  <a:srgbClr val="FF0000"/>
                </a:solidFill>
              </a:rPr>
              <a:t>11</a:t>
            </a:r>
            <a:r>
              <a:rPr lang="zh-CN" altLang="en-US" sz="2000" b="1">
                <a:solidFill>
                  <a:srgbClr val="FF0000"/>
                </a:solidFill>
              </a:rPr>
              <a:t>月</a:t>
            </a:r>
            <a:r>
              <a:rPr lang="en-US" altLang="zh-CN" sz="2000" b="1">
                <a:solidFill>
                  <a:srgbClr val="FF0000"/>
                </a:solidFill>
              </a:rPr>
              <a:t>10</a:t>
            </a:r>
            <a:r>
              <a:rPr lang="zh-CN" altLang="en-US" sz="2000" b="1">
                <a:solidFill>
                  <a:srgbClr val="FF0000"/>
                </a:solidFill>
              </a:rPr>
              <a:t>日</a:t>
            </a:r>
          </a:p>
          <a:p>
            <a:r>
              <a:rPr lang="en-US" altLang="zh-CN" sz="2000" b="1"/>
              <a:t>                                                                                         </a:t>
            </a:r>
            <a:endParaRPr lang="zh-CN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矩形 5121"/>
          <p:cNvSpPr>
            <a:spLocks noChangeArrowheads="1"/>
          </p:cNvSpPr>
          <p:nvPr/>
        </p:nvSpPr>
        <p:spPr bwMode="auto">
          <a:xfrm>
            <a:off x="250825" y="120650"/>
            <a:ext cx="8640763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800" b="1">
                <a:latin typeface="楷体_GB2312"/>
                <a:ea typeface="楷体_GB2312"/>
                <a:cs typeface="楷体_GB2312"/>
              </a:rPr>
              <a:t>6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．通知  </a:t>
            </a:r>
          </a:p>
          <a:p>
            <a:r>
              <a:rPr lang="zh-CN" altLang="en-US" sz="2800" b="1">
                <a:latin typeface="楷体_GB2312"/>
                <a:ea typeface="楷体_GB2312"/>
                <a:cs typeface="楷体_GB2312"/>
              </a:rPr>
              <a:t>    学校团委将于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11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28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日上午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8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点整在学校阶梯教室召开初二年级团员会议。请你以政教处名义写一个日常通知。</a:t>
            </a:r>
          </a:p>
        </p:txBody>
      </p:sp>
      <p:graphicFrame>
        <p:nvGraphicFramePr>
          <p:cNvPr id="5135" name="表格 5134"/>
          <p:cNvGraphicFramePr/>
          <p:nvPr/>
        </p:nvGraphicFramePr>
        <p:xfrm>
          <a:off x="395288" y="2565400"/>
          <a:ext cx="8294687" cy="3948113"/>
        </p:xfrm>
        <a:graphic>
          <a:graphicData uri="http://schemas.openxmlformats.org/drawingml/2006/table">
            <a:tbl>
              <a:tblPr/>
              <a:tblGrid>
                <a:gridCol w="8295005"/>
              </a:tblGrid>
              <a:tr h="394779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560705">
                        <a:spcBef>
                          <a:spcPct val="0"/>
                        </a:spcBef>
                        <a:buNone/>
                      </a:pPr>
                      <a:endParaRPr lang="en-US" altLang="zh-CN" sz="2200" b="1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lvl="0" indent="560705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  </a:t>
                      </a:r>
                      <a:endParaRPr lang="zh-CN" altLang="en-US" sz="1800" dirty="0"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40" name="文本框 1"/>
          <p:cNvSpPr txBox="1">
            <a:spLocks noChangeArrowheads="1"/>
          </p:cNvSpPr>
          <p:nvPr/>
        </p:nvSpPr>
        <p:spPr bwMode="auto">
          <a:xfrm>
            <a:off x="1746250" y="2819400"/>
            <a:ext cx="5959475" cy="230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                                </a:t>
            </a: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通 知</a:t>
            </a:r>
          </a:p>
          <a:p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校团委将于11月28日上午8点整在学校阶梯教室召开初二年级团员会议。请各班团员准时参加。</a:t>
            </a:r>
          </a:p>
          <a:p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                     学校政教处</a:t>
            </a:r>
          </a:p>
          <a:p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                      </a:t>
            </a:r>
            <a:r>
              <a:rPr lang="en-US" altLang="zh-CN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2017.11.20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矩形 7169"/>
          <p:cNvSpPr>
            <a:spLocks noChangeArrowheads="1"/>
          </p:cNvSpPr>
          <p:nvPr/>
        </p:nvSpPr>
        <p:spPr bwMode="auto">
          <a:xfrm>
            <a:off x="0" y="107950"/>
            <a:ext cx="88931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698500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7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．请柬、邀请函</a:t>
            </a:r>
          </a:p>
          <a:p>
            <a:pPr indent="698500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2017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年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11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30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日下午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时在东洲国际学校阶梯教室将举行艺术节展演活动，学校准备邀请总校长张炳华先生参加，请你代学校</a:t>
            </a: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分别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拟写一份请柬和邀请函。</a:t>
            </a:r>
          </a:p>
        </p:txBody>
      </p:sp>
      <p:sp>
        <p:nvSpPr>
          <p:cNvPr id="19464" name="TextBox 1"/>
          <p:cNvSpPr txBox="1">
            <a:spLocks noChangeArrowheads="1"/>
          </p:cNvSpPr>
          <p:nvPr/>
        </p:nvSpPr>
        <p:spPr bwMode="auto">
          <a:xfrm>
            <a:off x="755650" y="2060575"/>
            <a:ext cx="8137525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/>
              <a:t>                                                    请柬</a:t>
            </a:r>
          </a:p>
          <a:p>
            <a:r>
              <a:rPr lang="zh-CN" altLang="en-US" b="1"/>
              <a:t>张炳华校长：</a:t>
            </a:r>
            <a:endParaRPr lang="en-US" altLang="zh-CN" b="1"/>
          </a:p>
          <a:p>
            <a:r>
              <a:rPr lang="en-US" altLang="zh-CN" b="1"/>
              <a:t>        </a:t>
            </a:r>
            <a:r>
              <a:rPr lang="zh-CN" altLang="en-US" b="1"/>
              <a:t>兹定于</a:t>
            </a:r>
            <a:r>
              <a:rPr lang="en-US" altLang="zh-CN" b="1"/>
              <a:t>2017</a:t>
            </a:r>
            <a:r>
              <a:rPr lang="zh-CN" altLang="en-US" b="1"/>
              <a:t>年</a:t>
            </a:r>
            <a:r>
              <a:rPr lang="en-US" altLang="zh-CN" b="1"/>
              <a:t>11</a:t>
            </a:r>
            <a:r>
              <a:rPr lang="zh-CN" altLang="en-US" b="1"/>
              <a:t>月</a:t>
            </a:r>
            <a:r>
              <a:rPr lang="en-US" altLang="zh-CN" b="1"/>
              <a:t>30</a:t>
            </a:r>
            <a:r>
              <a:rPr lang="zh-CN" altLang="en-US" b="1"/>
              <a:t>日下午</a:t>
            </a:r>
            <a:r>
              <a:rPr lang="en-US" altLang="zh-CN" b="1"/>
              <a:t>2</a:t>
            </a:r>
            <a:r>
              <a:rPr lang="zh-CN" altLang="en-US" b="1"/>
              <a:t>时在东洲国际学校阶梯教室将举行艺术节展演活动，敬请光临。</a:t>
            </a:r>
            <a:endParaRPr lang="en-US" altLang="zh-CN" b="1"/>
          </a:p>
          <a:p>
            <a:r>
              <a:rPr lang="en-US" altLang="zh-CN" b="1"/>
              <a:t>                                                                                           </a:t>
            </a:r>
          </a:p>
          <a:p>
            <a:r>
              <a:rPr lang="en-US" altLang="zh-CN" b="1"/>
              <a:t>                                                                                                     </a:t>
            </a:r>
            <a:r>
              <a:rPr lang="zh-CN" altLang="en-US" b="1"/>
              <a:t>东洲国际学校</a:t>
            </a:r>
            <a:endParaRPr lang="en-US" altLang="zh-CN" b="1"/>
          </a:p>
          <a:p>
            <a:r>
              <a:rPr lang="en-US" altLang="zh-CN" b="1"/>
              <a:t>                                                                                                 2017</a:t>
            </a:r>
            <a:r>
              <a:rPr lang="zh-CN" altLang="en-US" b="1"/>
              <a:t>年</a:t>
            </a:r>
            <a:r>
              <a:rPr lang="en-US" altLang="zh-CN" b="1"/>
              <a:t>11</a:t>
            </a:r>
            <a:r>
              <a:rPr lang="zh-CN" altLang="en-US" b="1"/>
              <a:t>月</a:t>
            </a:r>
            <a:r>
              <a:rPr lang="en-US" altLang="zh-CN" b="1"/>
              <a:t>25</a:t>
            </a:r>
            <a:r>
              <a:rPr lang="zh-CN" altLang="en-US" b="1"/>
              <a:t>日</a:t>
            </a:r>
          </a:p>
        </p:txBody>
      </p:sp>
      <p:sp>
        <p:nvSpPr>
          <p:cNvPr id="19466" name="TextBox 3"/>
          <p:cNvSpPr txBox="1">
            <a:spLocks noChangeArrowheads="1"/>
          </p:cNvSpPr>
          <p:nvPr/>
        </p:nvSpPr>
        <p:spPr bwMode="auto">
          <a:xfrm>
            <a:off x="755650" y="4221163"/>
            <a:ext cx="7521575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/>
              <a:t>                                                    邀请函</a:t>
            </a:r>
          </a:p>
          <a:p>
            <a:endParaRPr lang="zh-CN" altLang="en-US" b="1"/>
          </a:p>
          <a:p>
            <a:r>
              <a:rPr lang="zh-CN" altLang="en-US" b="1"/>
              <a:t>张炳华校长：</a:t>
            </a:r>
            <a:endParaRPr lang="en-US" altLang="zh-CN" b="1"/>
          </a:p>
          <a:p>
            <a:r>
              <a:rPr lang="en-US" altLang="zh-CN" b="1"/>
              <a:t>        </a:t>
            </a:r>
            <a:r>
              <a:rPr lang="zh-CN" altLang="en-US" b="1"/>
              <a:t>学校将于</a:t>
            </a:r>
            <a:r>
              <a:rPr lang="en-US" altLang="zh-CN" b="1"/>
              <a:t>2017</a:t>
            </a:r>
            <a:r>
              <a:rPr lang="zh-CN" altLang="en-US" b="1"/>
              <a:t>年</a:t>
            </a:r>
            <a:r>
              <a:rPr lang="en-US" altLang="zh-CN" b="1"/>
              <a:t>11</a:t>
            </a:r>
            <a:r>
              <a:rPr lang="zh-CN" altLang="en-US" b="1"/>
              <a:t>月</a:t>
            </a:r>
            <a:r>
              <a:rPr lang="en-US" altLang="zh-CN" b="1"/>
              <a:t>30</a:t>
            </a:r>
            <a:r>
              <a:rPr lang="zh-CN" altLang="en-US" b="1"/>
              <a:t>日下午</a:t>
            </a:r>
            <a:r>
              <a:rPr lang="en-US" altLang="zh-CN" b="1"/>
              <a:t>2</a:t>
            </a:r>
            <a:r>
              <a:rPr lang="zh-CN" altLang="en-US" b="1"/>
              <a:t>时在东洲国际学校阶梯教室将举行艺术节展演活动，诚邀您的光临。</a:t>
            </a:r>
          </a:p>
          <a:p>
            <a:endParaRPr lang="en-US" altLang="zh-CN" b="1"/>
          </a:p>
          <a:p>
            <a:r>
              <a:rPr lang="zh-CN" altLang="en-US" b="1"/>
              <a:t>                                                                               东洲国际学校</a:t>
            </a:r>
          </a:p>
          <a:p>
            <a:r>
              <a:rPr lang="en-US" altLang="zh-CN" b="1"/>
              <a:t>                                                                             2017</a:t>
            </a:r>
            <a:r>
              <a:rPr lang="zh-CN" altLang="en-US" b="1"/>
              <a:t>年</a:t>
            </a:r>
            <a:r>
              <a:rPr lang="en-US" altLang="zh-CN" b="1"/>
              <a:t>11</a:t>
            </a:r>
            <a:r>
              <a:rPr lang="zh-CN" altLang="en-US" b="1"/>
              <a:t>月</a:t>
            </a:r>
            <a:r>
              <a:rPr lang="en-US" altLang="zh-CN" b="1"/>
              <a:t>25</a:t>
            </a:r>
            <a:r>
              <a:rPr lang="zh-CN" altLang="en-US" b="1"/>
              <a:t>日</a:t>
            </a:r>
          </a:p>
          <a:p>
            <a:endParaRPr lang="en-US" altLang="zh-CN" b="1"/>
          </a:p>
          <a:p>
            <a:endParaRPr lang="en-US" altLang="zh-CN" b="1"/>
          </a:p>
          <a:p>
            <a:r>
              <a:rPr lang="zh-CN" altLang="en-US"/>
              <a:t>                                                                                                                                                                          </a:t>
            </a: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/>
      <p:bldP spid="194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矩形 27649"/>
          <p:cNvSpPr>
            <a:spLocks noChangeArrowheads="1"/>
          </p:cNvSpPr>
          <p:nvPr/>
        </p:nvSpPr>
        <p:spPr bwMode="auto">
          <a:xfrm>
            <a:off x="0" y="107950"/>
            <a:ext cx="88931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698500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8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．电话邀请</a:t>
            </a:r>
          </a:p>
          <a:p>
            <a:pPr indent="698500"/>
            <a:r>
              <a:rPr lang="en-US" altLang="zh-CN" sz="2800" b="1">
                <a:latin typeface="楷体_GB2312"/>
                <a:ea typeface="楷体_GB2312"/>
                <a:cs typeface="楷体_GB2312"/>
              </a:rPr>
              <a:t>2017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年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11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30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日下午</a:t>
            </a:r>
            <a:r>
              <a:rPr lang="en-US" altLang="zh-CN" sz="2800" b="1">
                <a:latin typeface="楷体_GB2312"/>
                <a:ea typeface="楷体_GB2312"/>
                <a:cs typeface="楷体_GB2312"/>
              </a:rPr>
              <a:t>2</a:t>
            </a:r>
            <a:r>
              <a:rPr lang="zh-CN" altLang="en-US" sz="2800" b="1">
                <a:latin typeface="楷体_GB2312"/>
                <a:ea typeface="楷体_GB2312"/>
                <a:cs typeface="楷体_GB2312"/>
              </a:rPr>
              <a:t>时在东洲国际学校阶梯教室将举行艺术节展演活动，学校准备邀请总校长张炳华先生参加，请你以学生会主席的身份电话邀请。</a:t>
            </a:r>
          </a:p>
        </p:txBody>
      </p:sp>
      <p:graphicFrame>
        <p:nvGraphicFramePr>
          <p:cNvPr id="27651" name="表格 27650"/>
          <p:cNvGraphicFramePr>
            <a:graphicFrameLocks noGrp="1"/>
          </p:cNvGraphicFramePr>
          <p:nvPr/>
        </p:nvGraphicFramePr>
        <p:xfrm>
          <a:off x="539750" y="2379663"/>
          <a:ext cx="8280400" cy="3425825"/>
        </p:xfrm>
        <a:graphic>
          <a:graphicData uri="http://schemas.openxmlformats.org/drawingml/2006/table">
            <a:tbl>
              <a:tblPr/>
              <a:tblGrid>
                <a:gridCol w="8280400"/>
              </a:tblGrid>
              <a:tr h="3425825">
                <a:tc>
                  <a:txBody>
                    <a:bodyPr/>
                    <a:lstStyle/>
                    <a:p>
                      <a:pPr marL="0" marR="0" lvl="0" indent="2762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     </a:t>
                      </a: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张校长，您好！我是东洲国际学生会主席某某某。学校特邀请您参加2017年11月30日下午2时在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东洲国际学校阶梯教室举行</a:t>
                      </a: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的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艺术节展演活动</a:t>
                      </a: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。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 </a:t>
                      </a: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请问，你有空吗？</a:t>
                      </a: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21505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algn="l" eaLnBrk="1" hangingPunct="1"/>
            <a:r>
              <a:rPr lang="en-US" altLang="zh-CN" sz="2400" b="1" smtClean="0">
                <a:solidFill>
                  <a:schemeClr val="tx1"/>
                </a:solidFill>
              </a:rPr>
              <a:t>9</a:t>
            </a:r>
            <a:r>
              <a:rPr lang="zh-CN" altLang="en-US" sz="2400" b="1" smtClean="0">
                <a:solidFill>
                  <a:schemeClr val="tx1"/>
                </a:solidFill>
              </a:rPr>
              <a:t>．倡议书（参照本册语文书后的应用文）</a:t>
            </a:r>
            <a:br>
              <a:rPr lang="zh-CN" altLang="en-US" sz="2400" b="1" smtClean="0">
                <a:solidFill>
                  <a:schemeClr val="tx1"/>
                </a:solidFill>
              </a:rPr>
            </a:br>
            <a:r>
              <a:rPr lang="zh-CN" altLang="en-US" sz="2400" b="1" smtClean="0">
                <a:solidFill>
                  <a:schemeClr val="tx1"/>
                </a:solidFill>
              </a:rPr>
              <a:t>       期中考试就要到了，为了让更多的同学集中精力复习迎考，请你以班委会名义向全班同学发出一份倡议。</a:t>
            </a:r>
            <a:br>
              <a:rPr lang="zh-CN" altLang="en-US" sz="2400" b="1" smtClean="0">
                <a:solidFill>
                  <a:schemeClr val="tx1"/>
                </a:solidFill>
              </a:rPr>
            </a:br>
            <a:endParaRPr lang="zh-CN" altLang="en-US" sz="2400" b="1" smtClean="0">
              <a:solidFill>
                <a:schemeClr val="tx1"/>
              </a:solidFill>
            </a:endParaRPr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0" y="1412875"/>
            <a:ext cx="9144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b="1" smtClean="0">
                <a:solidFill>
                  <a:srgbClr val="660033"/>
                </a:solidFill>
              </a:rPr>
              <a:t>                                                            </a:t>
            </a:r>
            <a:endParaRPr lang="en-US" altLang="zh-CN" sz="1600" b="1" smtClean="0">
              <a:solidFill>
                <a:srgbClr val="000066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638175" y="1674813"/>
            <a:ext cx="7643813" cy="563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                               </a:t>
            </a:r>
            <a:r>
              <a:rPr lang="zh-CN" altLang="en-US" sz="2800" b="1">
                <a:solidFill>
                  <a:srgbClr val="FF0000"/>
                </a:solidFill>
              </a:rPr>
              <a:t>关于期中考试的倡议书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1603</a:t>
            </a:r>
            <a:r>
              <a:rPr lang="zh-CN" altLang="en-US" sz="2400" b="1">
                <a:solidFill>
                  <a:srgbClr val="FF0000"/>
                </a:solidFill>
              </a:rPr>
              <a:t>班全体同学：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</a:t>
            </a:r>
            <a:r>
              <a:rPr lang="zh-CN" altLang="en-US" sz="2400" b="1">
                <a:solidFill>
                  <a:srgbClr val="FF0000"/>
                </a:solidFill>
              </a:rPr>
              <a:t>考试是一种查漏补缺、反应最近学习状态的最佳方式。通过考试，我们能及时发现并解决这一阶段学习上遇到的问题。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</a:t>
            </a:r>
            <a:r>
              <a:rPr lang="zh-CN" altLang="en-US" sz="2400" b="1">
                <a:solidFill>
                  <a:srgbClr val="FF0000"/>
                </a:solidFill>
              </a:rPr>
              <a:t>为了让我们更好更真实的反应本阶段的学习状况，我们要精心准备，努力迎考，我们班委会向全体同学发出如下倡议：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</a:rPr>
              <a:t>一、做好课堂笔记，课后认真复习巩固。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</a:rPr>
              <a:t>二、做好错题集，举一反三，攻破难点疑点。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</a:rPr>
              <a:t>三、课后认真复习基础知识。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</a:rPr>
              <a:t>同学们，让我们立即行动起来，备战期中考试！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                                                  1603</a:t>
            </a:r>
            <a:r>
              <a:rPr lang="zh-CN" altLang="en-US" sz="2400" b="1">
                <a:solidFill>
                  <a:srgbClr val="FF0000"/>
                </a:solidFill>
              </a:rPr>
              <a:t>班委会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                                                  2017年11月10日                                        </a:t>
            </a:r>
          </a:p>
          <a:p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A000120150306A14PWBG</Template>
  <TotalTime>18</TotalTime>
  <Words>1150</Words>
  <Application>WPS 演示</Application>
  <PresentationFormat>全屏显示(4:3)</PresentationFormat>
  <Paragraphs>96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演示文稿设计模板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Calibri</vt:lpstr>
      <vt:lpstr>楷体_GB2312</vt:lpstr>
      <vt:lpstr>Times New Roman</vt:lpstr>
      <vt:lpstr>黑体</vt:lpstr>
      <vt:lpstr>+mn-ea</vt:lpstr>
      <vt:lpstr>默认设计模板</vt:lpstr>
      <vt:lpstr>幻灯片 1</vt:lpstr>
      <vt:lpstr>幻灯片 2</vt:lpstr>
      <vt:lpstr>3．便条（留言条）     小刚同学去找张老师，准备与他商谈一下关于学校艺术节的有关事宜。结果没有找到，张老师不在办公室。现请你代小刚写一张便条（留言条）给张老师。</vt:lpstr>
      <vt:lpstr>幻灯片 4</vt:lpstr>
      <vt:lpstr>幻灯片 5</vt:lpstr>
      <vt:lpstr>幻灯片 6</vt:lpstr>
      <vt:lpstr>幻灯片 7</vt:lpstr>
      <vt:lpstr>幻灯片 8</vt:lpstr>
      <vt:lpstr>9．倡议书（参照本册语文书后的应用文）        期中考试就要到了，为了让更多的同学集中精力复习迎考，请你以班委会名义向全班同学发出一份倡议。 </vt:lpstr>
    </vt:vector>
  </TitlesOfParts>
  <Company>DZZX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唐新</dc:creator>
  <cp:lastModifiedBy>Administrator</cp:lastModifiedBy>
  <cp:revision>24</cp:revision>
  <dcterms:created xsi:type="dcterms:W3CDTF">2015-05-24T11:17:00Z</dcterms:created>
  <dcterms:modified xsi:type="dcterms:W3CDTF">2017-11-09T10:31:30Z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