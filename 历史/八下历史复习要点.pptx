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2" r:id="rId3"/>
    <p:sldId id="263" r:id="rId4"/>
    <p:sldId id="265" r:id="rId5"/>
    <p:sldId id="264" r:id="rId6"/>
    <p:sldId id="257" r:id="rId7"/>
    <p:sldId id="258" r:id="rId8"/>
    <p:sldId id="259" r:id="rId9"/>
    <p:sldId id="266" r:id="rId10"/>
    <p:sldId id="261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2018-6-13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F:\&#21556;&#26093;&#19996;\&#20013;&#22269;&#29616;&#20195;&#21490;&#35270;&#39057;\&#37011;&#23567;&#24179;&#36893;&#19990;%20.MPG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F:\&#21556;&#26093;&#19996;\&#20843;&#24180;&#32423;&#21382;&#21490;&#35838;&#20214;\&#31532;10&#35838;\&#25773;&#25918;&#25991;&#20214;\&#21313;&#20116;&#22823;.MP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F:\&#21556;&#26093;&#19996;\&#20843;&#24180;&#32423;&#21382;&#21490;&#35838;&#20214;\&#31532;10&#35838;\&#25773;&#25918;&#25991;&#20214;\&#21313;&#20116;&#22823;.MP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file:///F:\&#21556;&#26093;&#19996;\&#20843;&#24180;&#32423;&#21382;&#21490;&#35838;&#20214;\&#31532;10&#35838;\&#25773;&#25918;&#25991;&#20214;\&#21313;&#20116;&#22823;.MPG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0372"/>
            <a:ext cx="914400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290"/>
            <a:ext cx="9144000" cy="209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2910" y="1"/>
            <a:ext cx="7772400" cy="571479"/>
          </a:xfrm>
        </p:spPr>
        <p:txBody>
          <a:bodyPr>
            <a:noAutofit/>
          </a:bodyPr>
          <a:lstStyle/>
          <a:p>
            <a:r>
              <a:rPr lang="zh-CN" altLang="en-US" sz="3200" b="1" dirty="0" smtClean="0"/>
              <a:t>一、中华人民共和国的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成立</a:t>
            </a:r>
            <a:r>
              <a:rPr lang="zh-CN" altLang="en-US" sz="3200" b="1" dirty="0" smtClean="0"/>
              <a:t>和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巩固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5786" y="500042"/>
            <a:ext cx="83582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一次会议：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中国人民政治协商会议</a:t>
            </a:r>
            <a:r>
              <a:rPr lang="zh-CN" altLang="en-US" sz="2000" b="1" dirty="0" smtClean="0">
                <a:latin typeface="+mn-ea"/>
              </a:rPr>
              <a:t>  </a:t>
            </a:r>
            <a:r>
              <a:rPr lang="en-US" altLang="zh-CN" sz="2000" b="1" dirty="0" smtClean="0">
                <a:latin typeface="+mn-ea"/>
              </a:rPr>
              <a:t> 1949</a:t>
            </a:r>
            <a:r>
              <a:rPr lang="zh-CN" altLang="en-US" sz="2000" b="1" dirty="0" smtClean="0">
                <a:latin typeface="+mn-ea"/>
              </a:rPr>
              <a:t>年 北京</a:t>
            </a:r>
            <a:r>
              <a:rPr lang="en-US" altLang="zh-CN" sz="2000" b="1" dirty="0" smtClean="0">
                <a:latin typeface="+mn-ea"/>
              </a:rPr>
              <a:t> </a:t>
            </a:r>
          </a:p>
          <a:p>
            <a:r>
              <a:rPr lang="en-US" altLang="zh-CN" sz="2000" b="1" dirty="0" smtClean="0">
                <a:latin typeface="+mn-ea"/>
              </a:rPr>
              <a:t>《</a:t>
            </a:r>
            <a:r>
              <a:rPr lang="zh-CN" altLang="en-US" sz="2000" b="1" dirty="0" smtClean="0">
                <a:latin typeface="+mn-ea"/>
              </a:rPr>
              <a:t>中华人民政治协商会议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共同纲领</a:t>
            </a:r>
            <a:r>
              <a:rPr lang="en-US" altLang="zh-CN" sz="2000" b="1" dirty="0" smtClean="0">
                <a:latin typeface="+mn-ea"/>
              </a:rPr>
              <a:t>》</a:t>
            </a:r>
            <a:r>
              <a:rPr lang="zh-CN" altLang="en-US" sz="2000" b="1" dirty="0" smtClean="0">
                <a:latin typeface="+mn-ea"/>
              </a:rPr>
              <a:t>（临时宪法）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首都、国旗、代国歌、公元纪年、人民英雄纪念碑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初步建立中共领导的多党合作和政治协商制度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一个庆典：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开国大典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   </a:t>
            </a:r>
            <a:r>
              <a:rPr lang="en-US" altLang="zh-CN" sz="2000" b="1" dirty="0" smtClean="0">
                <a:latin typeface="+mn-ea"/>
              </a:rPr>
              <a:t>1949.10.1 </a:t>
            </a:r>
          </a:p>
          <a:p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开辟了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中国历史新纪元</a:t>
            </a:r>
            <a:r>
              <a:rPr lang="en-US" altLang="zh-CN" sz="2000" b="1" dirty="0" smtClean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推翻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帝国主义、封建主义和官僚资本主义的统治</a:t>
            </a:r>
            <a:r>
              <a:rPr lang="en-US" altLang="zh-CN" sz="2000" b="1" dirty="0" smtClean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中国真正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成为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独立自主的国家</a:t>
            </a:r>
            <a:r>
              <a:rPr lang="en-US" altLang="zh-CN" sz="2000" b="1" dirty="0" smtClean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壮大了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世界和平民主和社会主义的力量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一次解放：</a:t>
            </a:r>
            <a:r>
              <a:rPr lang="zh-CN" altLang="en-US" sz="2400" b="1" dirty="0" smtClean="0">
                <a:latin typeface="+mn-ea"/>
              </a:rPr>
              <a:t>西藏和平解放  </a:t>
            </a:r>
            <a:r>
              <a:rPr lang="en-US" altLang="zh-CN" sz="2000" b="1" dirty="0" smtClean="0">
                <a:latin typeface="+mn-ea"/>
              </a:rPr>
              <a:t>1951</a:t>
            </a:r>
            <a:r>
              <a:rPr lang="zh-CN" altLang="en-US" sz="2000" b="1" dirty="0" smtClean="0">
                <a:latin typeface="+mn-ea"/>
              </a:rPr>
              <a:t>年（阿沛</a:t>
            </a:r>
            <a:r>
              <a:rPr lang="en-US" altLang="zh-CN" sz="2000" b="1" dirty="0" smtClean="0">
                <a:latin typeface="+mn-ea"/>
              </a:rPr>
              <a:t>·</a:t>
            </a:r>
            <a:r>
              <a:rPr lang="zh-CN" altLang="en-US" sz="2000" b="1" dirty="0" smtClean="0">
                <a:latin typeface="+mn-ea"/>
              </a:rPr>
              <a:t>阿旺晋美）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祖国大陆获得统一，各族人民实现大团结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571612"/>
            <a:ext cx="64291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zh-CN" altLang="en-US" sz="3200" b="1" dirty="0" smtClean="0">
                <a:solidFill>
                  <a:prstClr val="black"/>
                </a:solidFill>
                <a:latin typeface="宋体"/>
              </a:rPr>
              <a:t>成立</a:t>
            </a:r>
            <a:endParaRPr lang="en-US" altLang="zh-CN" sz="3200" b="1" dirty="0" smtClean="0">
              <a:solidFill>
                <a:prstClr val="black"/>
              </a:solidFill>
              <a:latin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3571876"/>
            <a:ext cx="850109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对外：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抗美援朝  </a:t>
            </a:r>
            <a:r>
              <a:rPr lang="zh-CN" altLang="en-US" sz="2400" b="1" dirty="0" smtClean="0">
                <a:latin typeface="+mn-ea"/>
              </a:rPr>
              <a:t>   </a:t>
            </a:r>
            <a:r>
              <a:rPr lang="en-US" altLang="zh-CN" sz="2400" b="1" dirty="0" smtClean="0">
                <a:latin typeface="+mn-ea"/>
              </a:rPr>
              <a:t>1950-1953</a:t>
            </a:r>
            <a:r>
              <a:rPr lang="zh-CN" altLang="en-US" sz="2400" b="1" dirty="0" smtClean="0">
                <a:latin typeface="+mn-ea"/>
              </a:rPr>
              <a:t>年      </a:t>
            </a:r>
            <a:endParaRPr lang="en-US" altLang="zh-CN" sz="24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美侵略活动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严重威胁</a:t>
            </a:r>
            <a:r>
              <a:rPr lang="zh-CN" altLang="en-US" sz="2000" b="1" dirty="0" smtClean="0">
                <a:latin typeface="+mn-ea"/>
              </a:rPr>
              <a:t>中国安全</a:t>
            </a:r>
            <a:r>
              <a:rPr lang="en-US" altLang="zh-CN" sz="2000" b="1" dirty="0" smtClean="0">
                <a:latin typeface="+mn-ea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朝鲜请求</a:t>
            </a:r>
            <a:r>
              <a:rPr lang="zh-CN" altLang="en-US" sz="2000" b="1" dirty="0" smtClean="0">
                <a:latin typeface="+mn-ea"/>
              </a:rPr>
              <a:t>中国派兵援助</a:t>
            </a:r>
          </a:p>
          <a:p>
            <a:r>
              <a:rPr lang="zh-CN" altLang="en-US" sz="2000" b="1" dirty="0" smtClean="0">
                <a:latin typeface="+mn-ea"/>
              </a:rPr>
              <a:t>抗美援朝、保家卫国（反侵略的正义战争）  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中国人民志愿军（彭德怀）</a:t>
            </a:r>
            <a:r>
              <a:rPr lang="en-US" altLang="zh-CN" sz="2000" b="1" dirty="0" smtClean="0">
                <a:latin typeface="+mn-ea"/>
              </a:rPr>
              <a:t>    </a:t>
            </a:r>
            <a:r>
              <a:rPr lang="zh-CN" altLang="en-US" sz="2000" b="1" dirty="0" smtClean="0">
                <a:latin typeface="+mn-ea"/>
              </a:rPr>
              <a:t>黄继光（上甘岭战役）   邱少云</a:t>
            </a:r>
          </a:p>
          <a:p>
            <a:r>
              <a:rPr lang="zh-CN" altLang="en-US" sz="2000" b="1" dirty="0" smtClean="0">
                <a:latin typeface="+mn-ea"/>
              </a:rPr>
              <a:t>中国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赢得</a:t>
            </a:r>
            <a:r>
              <a:rPr lang="zh-CN" altLang="en-US" sz="2000" b="1" dirty="0" smtClean="0">
                <a:latin typeface="+mn-ea"/>
              </a:rPr>
              <a:t>一个相对稳定的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和平环境</a:t>
            </a:r>
            <a:r>
              <a:rPr lang="zh-CN" altLang="en-US" sz="2000" b="1" dirty="0" smtClean="0">
                <a:latin typeface="+mn-ea"/>
              </a:rPr>
              <a:t>，大大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提高</a:t>
            </a:r>
            <a:r>
              <a:rPr lang="zh-CN" altLang="en-US" sz="2000" b="1" dirty="0" smtClean="0">
                <a:latin typeface="+mn-ea"/>
              </a:rPr>
              <a:t>了我国的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国际地位</a:t>
            </a:r>
            <a:r>
              <a:rPr lang="zh-CN" altLang="en-US" sz="2000" b="1" dirty="0" smtClean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对内：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土地改革</a:t>
            </a:r>
            <a:r>
              <a:rPr lang="zh-CN" altLang="en-US" sz="2400" b="1" dirty="0" smtClean="0">
                <a:latin typeface="+mn-ea"/>
              </a:rPr>
              <a:t>   </a:t>
            </a:r>
            <a:r>
              <a:rPr lang="en-US" altLang="zh-CN" sz="2400" b="1" dirty="0" smtClean="0">
                <a:latin typeface="+mn-ea"/>
              </a:rPr>
              <a:t>1950-1952</a:t>
            </a:r>
            <a:r>
              <a:rPr lang="zh-CN" altLang="en-US" sz="2400" b="1" dirty="0" smtClean="0">
                <a:latin typeface="+mn-ea"/>
              </a:rPr>
              <a:t>年底</a:t>
            </a:r>
            <a:endParaRPr lang="en-US" altLang="zh-CN" sz="2400" b="1" dirty="0" smtClean="0">
              <a:latin typeface="+mn-ea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封建土地制度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严重阻碍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农村经济和中国社会发展。</a:t>
            </a:r>
            <a:endParaRPr lang="en-US" altLang="zh-CN" sz="2000" b="1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《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中华人民共和国土地改革法</a:t>
            </a:r>
            <a:r>
              <a:rPr lang="en-US" altLang="zh-CN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》  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地主土地所有制</a:t>
            </a:r>
            <a:r>
              <a:rPr lang="en-US" altLang="zh-CN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——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农民土地所有制</a:t>
            </a:r>
            <a:endParaRPr lang="en-US" altLang="zh-CN" sz="2000" b="1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eaLnBrk="0" hangingPunct="0"/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Arial" pitchFamily="34" charset="0"/>
              </a:rPr>
              <a:t>摧毁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封建土地制度，消灭了地主阶级</a:t>
            </a:r>
            <a:r>
              <a:rPr lang="en-US" altLang="zh-CN" sz="2000" b="1" dirty="0" smtClean="0">
                <a:latin typeface="+mn-ea"/>
                <a:cs typeface="Arial" pitchFamily="34" charset="0"/>
              </a:rPr>
              <a:t>/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农民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Arial" pitchFamily="34" charset="0"/>
              </a:rPr>
              <a:t>翻身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成为土地的主人</a:t>
            </a:r>
            <a:r>
              <a:rPr lang="en-US" altLang="zh-CN" sz="2000" b="1" dirty="0" smtClean="0">
                <a:latin typeface="+mn-ea"/>
                <a:cs typeface="Arial" pitchFamily="34" charset="0"/>
              </a:rPr>
              <a:t>,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Arial" pitchFamily="34" charset="0"/>
              </a:rPr>
              <a:t>解放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农村生产力</a:t>
            </a:r>
            <a:r>
              <a:rPr lang="en-US" altLang="zh-CN" sz="2000" b="1" dirty="0" smtClean="0">
                <a:latin typeface="+mn-ea"/>
                <a:cs typeface="Arial" pitchFamily="34" charset="0"/>
              </a:rPr>
              <a:t>/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人民政权更加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Arial" pitchFamily="34" charset="0"/>
              </a:rPr>
              <a:t>巩固</a:t>
            </a:r>
            <a:r>
              <a:rPr lang="en-US" altLang="zh-CN" sz="2000" b="1" dirty="0" smtClean="0">
                <a:latin typeface="+mn-ea"/>
                <a:cs typeface="Arial" pitchFamily="34" charset="0"/>
              </a:rPr>
              <a:t>/</a:t>
            </a:r>
            <a:r>
              <a:rPr lang="zh-CN" altLang="en-US" sz="2000" b="1" dirty="0" smtClean="0">
                <a:latin typeface="+mn-ea"/>
                <a:cs typeface="Arial" pitchFamily="34" charset="0"/>
              </a:rPr>
              <a:t>为国家工业化建设准备了条件</a:t>
            </a:r>
            <a:endParaRPr lang="zh-CN" altLang="en-US" sz="2000" b="1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4643446"/>
            <a:ext cx="66302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zh-CN" altLang="en-US" sz="3200" b="1" dirty="0" smtClean="0">
                <a:solidFill>
                  <a:prstClr val="black"/>
                </a:solidFill>
                <a:latin typeface="宋体"/>
              </a:rPr>
              <a:t>巩固</a:t>
            </a:r>
            <a:endParaRPr lang="zh-CN" altLang="en-US" sz="3200" b="1" dirty="0">
              <a:solidFill>
                <a:prstClr val="black"/>
              </a:solidFill>
              <a:latin typeface="宋体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500034" y="714356"/>
            <a:ext cx="357190" cy="26432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500034" y="3714752"/>
            <a:ext cx="214314" cy="29289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3905236" y="335756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None/>
            </a:pP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00166" y="5165229"/>
            <a:ext cx="764383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一五计划时期（</a:t>
            </a:r>
            <a:r>
              <a:rPr lang="en-US" altLang="zh-CN" sz="2800" b="1" dirty="0" smtClean="0">
                <a:solidFill>
                  <a:srgbClr val="0000CC"/>
                </a:solidFill>
                <a:latin typeface="宋体"/>
              </a:rPr>
              <a:t>1953-1957</a:t>
            </a: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年）</a:t>
            </a:r>
            <a:endParaRPr lang="en-US" altLang="zh-CN" sz="2800" b="1" dirty="0" smtClean="0">
              <a:solidFill>
                <a:srgbClr val="0000CC"/>
              </a:solidFill>
              <a:latin typeface="宋体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全面建设社会主义时期（</a:t>
            </a:r>
            <a:r>
              <a:rPr lang="en-US" altLang="zh-CN" sz="2800" b="1" dirty="0" smtClean="0">
                <a:solidFill>
                  <a:srgbClr val="0000CC"/>
                </a:solidFill>
                <a:latin typeface="宋体"/>
              </a:rPr>
              <a:t>1956-1966</a:t>
            </a: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年）</a:t>
            </a:r>
            <a:endParaRPr lang="en-US" altLang="zh-CN" sz="2800" b="1" dirty="0" smtClean="0">
              <a:solidFill>
                <a:srgbClr val="0000CC"/>
              </a:solidFill>
              <a:latin typeface="宋体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文化大革命时期（</a:t>
            </a:r>
            <a:r>
              <a:rPr lang="en-US" altLang="zh-CN" sz="2800" b="1" dirty="0" smtClean="0">
                <a:solidFill>
                  <a:srgbClr val="0000CC"/>
                </a:solidFill>
                <a:latin typeface="宋体"/>
              </a:rPr>
              <a:t>1966-1976</a:t>
            </a: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年）</a:t>
            </a:r>
            <a:endParaRPr lang="zh-CN" altLang="en-US" sz="2800" dirty="0" smtClean="0">
              <a:solidFill>
                <a:srgbClr val="0000CC"/>
              </a:solidFill>
              <a:latin typeface="宋体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" y="214290"/>
            <a:ext cx="9143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zh-CN" altLang="en-US" sz="3200" b="1" dirty="0" smtClean="0">
                <a:solidFill>
                  <a:prstClr val="black"/>
                </a:solidFill>
              </a:rPr>
              <a:t>二、社会主义制度的建立与社会主义建设的探索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5357827"/>
            <a:ext cx="14287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</a:rPr>
              <a:t>社会主义建设的探索</a:t>
            </a:r>
            <a:endParaRPr lang="zh-CN" alt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0" y="1500174"/>
            <a:ext cx="13572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</a:rPr>
              <a:t>社会主义制度的建立</a:t>
            </a:r>
            <a:endParaRPr lang="zh-CN" altLang="en-US" sz="2800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357686" y="1142984"/>
            <a:ext cx="478631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制定了《中华人民共和国宪法》</a:t>
            </a:r>
            <a:endParaRPr lang="en-US" altLang="zh-CN" sz="2400" b="1" dirty="0" smtClean="0">
              <a:latin typeface="+mn-ea"/>
            </a:endParaRPr>
          </a:p>
          <a:p>
            <a:r>
              <a:rPr lang="zh-CN" altLang="en-US" sz="2400" b="1" dirty="0" smtClean="0">
                <a:solidFill>
                  <a:srgbClr val="000000"/>
                </a:solidFill>
                <a:latin typeface="+mn-ea"/>
              </a:rPr>
              <a:t>形成了人民代表大会制度</a:t>
            </a:r>
            <a:endParaRPr lang="en-US" altLang="zh-CN" sz="2400" b="1" dirty="0" smtClean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2400" b="1" dirty="0" smtClean="0">
                <a:solidFill>
                  <a:srgbClr val="000000"/>
                </a:solidFill>
                <a:latin typeface="+mn-ea"/>
              </a:rPr>
              <a:t>      （根本政治制度）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714712" y="2500306"/>
            <a:ext cx="54292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农业：生产合作社</a:t>
            </a:r>
            <a:endParaRPr lang="en-US" altLang="zh-CN" sz="2400" b="1" dirty="0" smtClean="0">
              <a:latin typeface="+mn-ea"/>
            </a:endParaRPr>
          </a:p>
          <a:p>
            <a:r>
              <a:rPr lang="zh-CN" altLang="en-US" sz="2400" b="1" dirty="0" smtClean="0">
                <a:latin typeface="+mn-ea"/>
              </a:rPr>
              <a:t>手工业：生产合作社</a:t>
            </a:r>
            <a:endParaRPr lang="en-US" altLang="zh-CN" sz="2400" b="1" dirty="0" smtClean="0">
              <a:latin typeface="+mn-ea"/>
            </a:endParaRPr>
          </a:p>
          <a:p>
            <a:r>
              <a:rPr lang="zh-CN" altLang="en-US" sz="2400" b="1" dirty="0" smtClean="0">
                <a:latin typeface="+mn-ea"/>
              </a:rPr>
              <a:t>资本主义工商业：公私合营  赎买政策</a:t>
            </a:r>
          </a:p>
        </p:txBody>
      </p:sp>
      <p:sp>
        <p:nvSpPr>
          <p:cNvPr id="16" name="矩形 15"/>
          <p:cNvSpPr/>
          <p:nvPr/>
        </p:nvSpPr>
        <p:spPr>
          <a:xfrm>
            <a:off x="1428728" y="2714620"/>
            <a:ext cx="20002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三大改造</a:t>
            </a:r>
            <a:endParaRPr lang="en-US" altLang="zh-CN" sz="2400" b="1" dirty="0" smtClean="0">
              <a:solidFill>
                <a:prstClr val="black"/>
              </a:solidFill>
              <a:latin typeface="宋体"/>
            </a:endParaRPr>
          </a:p>
          <a:p>
            <a:pPr lvl="0" algn="ctr"/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1953-1956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年  </a:t>
            </a:r>
            <a:endParaRPr lang="en-US" altLang="zh-CN" sz="2400" b="1" dirty="0" smtClean="0">
              <a:solidFill>
                <a:prstClr val="black"/>
              </a:solidFill>
              <a:latin typeface="宋体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57290" y="1142984"/>
            <a:ext cx="27146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第一届全国人民代表大会  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/>
              </a:rPr>
              <a:t>1954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年</a:t>
            </a:r>
            <a:endParaRPr lang="en-US" altLang="zh-CN" sz="2400" b="1" dirty="0" smtClean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71604" y="3714752"/>
            <a:ext cx="75723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C0504D"/>
              </a:buClr>
              <a:buSzPct val="80000"/>
              <a:defRPr/>
            </a:pPr>
            <a:r>
              <a:rPr lang="zh-CN" altLang="en-US" sz="2400" b="1" dirty="0" smtClean="0">
                <a:latin typeface="+mn-ea"/>
              </a:rPr>
              <a:t>三大改造实现了生产资料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私有制</a:t>
            </a:r>
            <a:r>
              <a:rPr lang="zh-CN" altLang="en-US" sz="2400" b="1" dirty="0" smtClean="0">
                <a:latin typeface="+mn-ea"/>
              </a:rPr>
              <a:t>向社会主义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公有制</a:t>
            </a:r>
            <a:r>
              <a:rPr lang="zh-CN" altLang="en-US" sz="2400" b="1" dirty="0" smtClean="0">
                <a:latin typeface="+mn-ea"/>
              </a:rPr>
              <a:t>的转变</a:t>
            </a:r>
            <a:r>
              <a:rPr lang="en-US" altLang="zh-CN" sz="2400" b="1" dirty="0" smtClean="0">
                <a:latin typeface="+mn-ea"/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社会主义基本制度</a:t>
            </a:r>
            <a:r>
              <a:rPr lang="zh-CN" altLang="en-US" sz="2400" b="1" dirty="0" smtClean="0">
                <a:latin typeface="+mn-ea"/>
              </a:rPr>
              <a:t>在我国建立起来。</a:t>
            </a:r>
            <a:r>
              <a:rPr lang="en-US" altLang="zh-CN" sz="2400" b="1" dirty="0" smtClean="0">
                <a:latin typeface="+mn-ea"/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我国从此进入社会主义初级阶段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1214414" y="1285860"/>
            <a:ext cx="285752" cy="21431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>
            <a:off x="4143372" y="1285860"/>
            <a:ext cx="142876" cy="5715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>
            <a:off x="3500430" y="2643182"/>
            <a:ext cx="142876" cy="9286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>
            <a:off x="1214414" y="5357826"/>
            <a:ext cx="214314" cy="150017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3905236" y="335756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None/>
            </a:pP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928802"/>
            <a:ext cx="9144000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ctr">
              <a:spcBef>
                <a:spcPts val="600"/>
              </a:spcBef>
            </a:pPr>
            <a:r>
              <a:rPr lang="zh-CN" altLang="en-US" sz="2800" b="1" dirty="0" smtClean="0">
                <a:solidFill>
                  <a:srgbClr val="0000CC"/>
                </a:solidFill>
                <a:latin typeface="+mn-ea"/>
              </a:rPr>
              <a:t>全面建设社会主义时期（</a:t>
            </a:r>
            <a:r>
              <a:rPr lang="en-US" altLang="zh-CN" sz="2800" b="1" dirty="0" smtClean="0">
                <a:solidFill>
                  <a:srgbClr val="0000CC"/>
                </a:solidFill>
                <a:latin typeface="+mn-ea"/>
              </a:rPr>
              <a:t>1956-1966</a:t>
            </a:r>
            <a:r>
              <a:rPr lang="zh-CN" altLang="en-US" sz="2800" b="1" dirty="0" smtClean="0">
                <a:solidFill>
                  <a:srgbClr val="0000CC"/>
                </a:solidFill>
                <a:latin typeface="+mn-ea"/>
              </a:rPr>
              <a:t>年）</a:t>
            </a:r>
            <a:endParaRPr lang="en-US" altLang="zh-CN" sz="2800" b="1" dirty="0" smtClean="0">
              <a:solidFill>
                <a:srgbClr val="0000CC"/>
              </a:solidFill>
              <a:latin typeface="+mn-ea"/>
            </a:endParaRPr>
          </a:p>
          <a:p>
            <a:pPr lvl="0" indent="-457200">
              <a:spcBef>
                <a:spcPts val="600"/>
              </a:spcBef>
            </a:pPr>
            <a:r>
              <a:rPr lang="en-US" altLang="zh-CN" sz="2000" dirty="0" smtClean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、良好开端</a:t>
            </a:r>
            <a:r>
              <a:rPr lang="en-US" altLang="zh-CN" sz="2000" dirty="0" smtClean="0">
                <a:latin typeface="+mn-ea"/>
              </a:rPr>
              <a:t>——</a:t>
            </a:r>
            <a:r>
              <a:rPr lang="zh-CN" altLang="en-US" sz="2000" dirty="0" smtClean="0">
                <a:latin typeface="+mn-ea"/>
              </a:rPr>
              <a:t>中共八大（</a:t>
            </a:r>
            <a:r>
              <a:rPr lang="en-US" altLang="zh-CN" sz="2000" dirty="0" smtClean="0">
                <a:latin typeface="+mn-ea"/>
              </a:rPr>
              <a:t>1956</a:t>
            </a:r>
            <a:r>
              <a:rPr lang="zh-CN" altLang="en-US" sz="2000" dirty="0" smtClean="0">
                <a:latin typeface="+mn-ea"/>
              </a:rPr>
              <a:t>年）</a:t>
            </a:r>
            <a:endParaRPr lang="en-US" altLang="zh-CN" sz="2000" dirty="0" smtClean="0">
              <a:latin typeface="+mn-ea"/>
            </a:endParaRPr>
          </a:p>
          <a:p>
            <a:pPr lvl="0" indent="-457200"/>
            <a:r>
              <a:rPr lang="zh-CN" altLang="en-US" sz="2000" dirty="0" smtClean="0">
                <a:latin typeface="+mn-ea"/>
              </a:rPr>
              <a:t>主要任务：集中力量把我国从落后的农业国变为先进的工业国</a:t>
            </a:r>
            <a:endParaRPr lang="en-US" altLang="zh-CN" sz="2000" dirty="0" smtClean="0">
              <a:latin typeface="+mn-ea"/>
            </a:endParaRPr>
          </a:p>
          <a:p>
            <a:pPr lvl="0" indent="-457200"/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、总路线（</a:t>
            </a:r>
            <a:r>
              <a:rPr lang="en-US" altLang="zh-CN" sz="2000" dirty="0" smtClean="0">
                <a:latin typeface="+mn-ea"/>
              </a:rPr>
              <a:t>1958</a:t>
            </a:r>
            <a:r>
              <a:rPr lang="zh-CN" altLang="en-US" sz="2000" dirty="0" smtClean="0">
                <a:latin typeface="+mn-ea"/>
              </a:rPr>
              <a:t>年）：鼓足干劲、力争上游、多快好省地建设社会主义</a:t>
            </a:r>
            <a:endParaRPr lang="en-US" altLang="zh-CN" sz="2000" dirty="0" smtClean="0">
              <a:latin typeface="+mn-ea"/>
            </a:endParaRPr>
          </a:p>
          <a:p>
            <a:pPr lvl="0" indent="-457200"/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、失误：“大跃进”和人民公社化运动</a:t>
            </a:r>
            <a:endParaRPr lang="en-US" altLang="zh-CN" sz="2000" dirty="0" smtClean="0">
              <a:latin typeface="+mn-ea"/>
            </a:endParaRPr>
          </a:p>
          <a:p>
            <a:pPr indent="-457200"/>
            <a:r>
              <a:rPr lang="zh-CN" altLang="en-US" sz="2000" dirty="0" smtClean="0">
                <a:latin typeface="+mn-ea"/>
              </a:rPr>
              <a:t>人民迫切要求改变我国经济落后状况的愿望，但急于求成，忽视了客观经济规律</a:t>
            </a:r>
            <a:endParaRPr lang="en-US" altLang="zh-CN" sz="2000" dirty="0" smtClean="0">
              <a:latin typeface="+mn-ea"/>
            </a:endParaRPr>
          </a:p>
          <a:p>
            <a:pPr indent="-457200"/>
            <a:r>
              <a:rPr lang="en-US" altLang="zh-CN" sz="2000" dirty="0" smtClean="0">
                <a:latin typeface="+mn-ea"/>
              </a:rPr>
              <a:t>4</a:t>
            </a:r>
            <a:r>
              <a:rPr lang="zh-CN" altLang="en-US" sz="2000" dirty="0" smtClean="0">
                <a:latin typeface="+mn-ea"/>
              </a:rPr>
              <a:t>、调整方针：</a:t>
            </a:r>
            <a:r>
              <a:rPr lang="en-US" altLang="zh-CN" sz="2000" dirty="0" smtClean="0">
                <a:latin typeface="+mn-ea"/>
              </a:rPr>
              <a:t>“</a:t>
            </a:r>
            <a:r>
              <a:rPr lang="zh-CN" altLang="en-US" sz="2000" dirty="0" smtClean="0">
                <a:latin typeface="+mn-ea"/>
              </a:rPr>
              <a:t>调整、巩固、充实、提高</a:t>
            </a:r>
            <a:r>
              <a:rPr lang="en-US" altLang="zh-CN" sz="2000" dirty="0" smtClean="0">
                <a:latin typeface="+mn-ea"/>
              </a:rPr>
              <a:t>”</a:t>
            </a:r>
            <a:endParaRPr lang="zh-CN" altLang="en-US" sz="2000" dirty="0" smtClean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9144000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一五计划（</a:t>
            </a:r>
            <a:r>
              <a:rPr lang="en-US" altLang="zh-CN" sz="2800" b="1" dirty="0" smtClean="0">
                <a:solidFill>
                  <a:srgbClr val="0000CC"/>
                </a:solidFill>
                <a:latin typeface="宋体"/>
              </a:rPr>
              <a:t>1953-1957</a:t>
            </a:r>
            <a:r>
              <a:rPr lang="zh-CN" altLang="en-US" sz="2800" b="1" dirty="0" smtClean="0">
                <a:solidFill>
                  <a:srgbClr val="0000CC"/>
                </a:solidFill>
                <a:latin typeface="宋体"/>
              </a:rPr>
              <a:t>年）工业化起步</a:t>
            </a:r>
            <a:endParaRPr lang="en-US" altLang="zh-CN" sz="2800" b="1" dirty="0" smtClean="0">
              <a:solidFill>
                <a:srgbClr val="0000CC"/>
              </a:solidFill>
              <a:latin typeface="宋体"/>
            </a:endParaRPr>
          </a:p>
          <a:p>
            <a:pPr marL="342900" lvl="0" indent="-342900">
              <a:spcBef>
                <a:spcPts val="600"/>
              </a:spcBef>
              <a:defRPr/>
            </a:pPr>
            <a:r>
              <a:rPr lang="en-US" altLang="zh-CN" sz="2000" dirty="0" smtClean="0">
                <a:latin typeface="+mn-ea"/>
              </a:rPr>
              <a:t>1.</a:t>
            </a:r>
            <a:r>
              <a:rPr lang="zh-CN" altLang="en-US" sz="2000" dirty="0" smtClean="0">
                <a:latin typeface="+mn-ea"/>
              </a:rPr>
              <a:t>背景：新中国成立初期工业水平低，基础薄弱。</a:t>
            </a:r>
            <a:endParaRPr lang="en-US" altLang="zh-CN" sz="2000" dirty="0" smtClean="0">
              <a:latin typeface="+mn-ea"/>
            </a:endParaRPr>
          </a:p>
          <a:p>
            <a:pPr marL="342900" lvl="0" indent="-342900">
              <a:defRPr/>
            </a:pPr>
            <a:r>
              <a:rPr lang="en-US" altLang="zh-CN" sz="2000" dirty="0" smtClean="0">
                <a:latin typeface="+mn-ea"/>
              </a:rPr>
              <a:t>2.</a:t>
            </a:r>
            <a:r>
              <a:rPr lang="zh-CN" altLang="en-US" sz="2000" dirty="0" smtClean="0">
                <a:latin typeface="+mn-ea"/>
              </a:rPr>
              <a:t>目的：为了有计划地进行社会主义建设</a:t>
            </a:r>
            <a:endParaRPr lang="en-US" altLang="zh-CN" sz="2000" dirty="0" smtClean="0">
              <a:latin typeface="+mn-ea"/>
            </a:endParaRPr>
          </a:p>
          <a:p>
            <a:pPr marL="342900" lvl="0" indent="-342900">
              <a:defRPr/>
            </a:pPr>
            <a:r>
              <a:rPr lang="en-US" altLang="zh-CN" sz="2000" dirty="0" smtClean="0">
                <a:latin typeface="+mn-ea"/>
              </a:rPr>
              <a:t>3.</a:t>
            </a:r>
            <a:r>
              <a:rPr lang="zh-CN" altLang="en-US" sz="2000" dirty="0" smtClean="0">
                <a:latin typeface="+mn-ea"/>
              </a:rPr>
              <a:t>基本任务：①集中主要力量发展重工业，建立国家工业化和国防现代化的初步基础②相应地发展交通运输业、轻工业、农业和商业③相应地培养建设人才</a:t>
            </a:r>
          </a:p>
        </p:txBody>
      </p:sp>
      <p:sp>
        <p:nvSpPr>
          <p:cNvPr id="14" name="矩形 13"/>
          <p:cNvSpPr/>
          <p:nvPr/>
        </p:nvSpPr>
        <p:spPr>
          <a:xfrm>
            <a:off x="0" y="4572008"/>
            <a:ext cx="9144000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ctr">
              <a:spcBef>
                <a:spcPts val="600"/>
              </a:spcBef>
            </a:pPr>
            <a:r>
              <a:rPr lang="zh-CN" altLang="en-US" sz="2800" b="1" dirty="0" smtClean="0">
                <a:solidFill>
                  <a:srgbClr val="0000CC"/>
                </a:solidFill>
                <a:latin typeface="+mn-ea"/>
              </a:rPr>
              <a:t>文化大革命时期（</a:t>
            </a:r>
            <a:r>
              <a:rPr lang="en-US" altLang="zh-CN" sz="2800" b="1" dirty="0" smtClean="0">
                <a:solidFill>
                  <a:srgbClr val="0000CC"/>
                </a:solidFill>
                <a:latin typeface="+mn-ea"/>
              </a:rPr>
              <a:t>1966-1976</a:t>
            </a:r>
            <a:r>
              <a:rPr lang="zh-CN" altLang="en-US" sz="2800" b="1" dirty="0" smtClean="0">
                <a:solidFill>
                  <a:srgbClr val="0000CC"/>
                </a:solidFill>
                <a:latin typeface="+mn-ea"/>
              </a:rPr>
              <a:t>年）</a:t>
            </a:r>
            <a:endParaRPr lang="en-US" altLang="zh-CN" sz="2800" b="1" dirty="0" smtClean="0">
              <a:solidFill>
                <a:srgbClr val="0000CC"/>
              </a:solidFill>
              <a:latin typeface="+mn-ea"/>
            </a:endParaRPr>
          </a:p>
          <a:p>
            <a:pPr indent="-457200">
              <a:spcBef>
                <a:spcPts val="600"/>
              </a:spcBef>
            </a:pPr>
            <a:r>
              <a:rPr lang="en-US" altLang="zh-CN" sz="2000" dirty="0" smtClean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、毛泽东强调“以阶级斗争为纲”，通过文化大革命防止资本主义复辟</a:t>
            </a:r>
            <a:endParaRPr lang="en-US" altLang="zh-CN" sz="2000" dirty="0" smtClean="0">
              <a:latin typeface="+mn-ea"/>
            </a:endParaRPr>
          </a:p>
          <a:p>
            <a:pPr indent="-457200"/>
            <a:r>
              <a:rPr lang="zh-CN" altLang="en-US" sz="2000" dirty="0" smtClean="0">
                <a:latin typeface="+mn-ea"/>
              </a:rPr>
              <a:t>“打倒一切，全面内战”最大的冤案</a:t>
            </a:r>
            <a:r>
              <a:rPr lang="en-US" altLang="zh-CN" sz="2000" dirty="0" smtClean="0">
                <a:latin typeface="+mn-ea"/>
              </a:rPr>
              <a:t>——</a:t>
            </a:r>
            <a:r>
              <a:rPr lang="zh-CN" altLang="en-US" sz="2000" dirty="0" smtClean="0">
                <a:latin typeface="+mn-ea"/>
              </a:rPr>
              <a:t>刘少奇</a:t>
            </a:r>
            <a:endParaRPr lang="en-US" altLang="zh-CN" sz="2000" dirty="0" smtClean="0">
              <a:latin typeface="+mn-ea"/>
            </a:endParaRPr>
          </a:p>
          <a:p>
            <a:r>
              <a:rPr lang="en-US" altLang="zh-CN" sz="2000" dirty="0" smtClean="0">
                <a:latin typeface="+mn-ea"/>
              </a:rPr>
              <a:t>1971</a:t>
            </a:r>
            <a:r>
              <a:rPr lang="zh-CN" altLang="en-US" sz="2000" dirty="0" smtClean="0">
                <a:latin typeface="+mn-ea"/>
              </a:rPr>
              <a:t>年</a:t>
            </a:r>
            <a:r>
              <a:rPr lang="en-US" altLang="zh-CN" sz="2000" dirty="0" smtClean="0">
                <a:latin typeface="+mn-ea"/>
              </a:rPr>
              <a:t>9</a:t>
            </a:r>
            <a:r>
              <a:rPr lang="zh-CN" altLang="en-US" sz="2000" dirty="0" smtClean="0">
                <a:latin typeface="+mn-ea"/>
              </a:rPr>
              <a:t>月</a:t>
            </a:r>
            <a:r>
              <a:rPr lang="en-US" altLang="zh-CN" sz="2000" dirty="0" smtClean="0">
                <a:latin typeface="+mn-ea"/>
              </a:rPr>
              <a:t>13</a:t>
            </a:r>
            <a:r>
              <a:rPr lang="zh-CN" altLang="en-US" sz="2000" dirty="0" smtClean="0">
                <a:latin typeface="+mn-ea"/>
              </a:rPr>
              <a:t>日粉碎林彪反革命集团</a:t>
            </a:r>
            <a:endParaRPr lang="en-US" altLang="zh-CN" sz="2000" dirty="0" smtClean="0">
              <a:latin typeface="+mn-ea"/>
            </a:endParaRPr>
          </a:p>
          <a:p>
            <a:r>
              <a:rPr lang="en-US" altLang="zh-CN" sz="2000" dirty="0" smtClean="0">
                <a:latin typeface="+mn-ea"/>
              </a:rPr>
              <a:t>1976</a:t>
            </a:r>
            <a:r>
              <a:rPr lang="zh-CN" altLang="en-US" sz="2000" dirty="0" smtClean="0">
                <a:latin typeface="+mn-ea"/>
              </a:rPr>
              <a:t>年</a:t>
            </a:r>
            <a:r>
              <a:rPr lang="en-US" altLang="zh-CN" sz="2000" dirty="0" smtClean="0">
                <a:latin typeface="+mn-ea"/>
              </a:rPr>
              <a:t>10</a:t>
            </a:r>
            <a:r>
              <a:rPr lang="zh-CN" altLang="en-US" sz="2000" dirty="0" smtClean="0">
                <a:latin typeface="+mn-ea"/>
              </a:rPr>
              <a:t>月粉碎江青反革命集团（</a:t>
            </a:r>
            <a:r>
              <a:rPr lang="en-US" altLang="zh-CN" sz="2000" dirty="0" smtClean="0">
                <a:latin typeface="+mn-ea"/>
              </a:rPr>
              <a:t>“</a:t>
            </a:r>
            <a:r>
              <a:rPr lang="zh-CN" altLang="en-US" sz="2000" dirty="0" smtClean="0">
                <a:latin typeface="+mn-ea"/>
              </a:rPr>
              <a:t>文革</a:t>
            </a:r>
            <a:r>
              <a:rPr lang="en-US" altLang="zh-CN" sz="2000" dirty="0" smtClean="0">
                <a:latin typeface="+mn-ea"/>
              </a:rPr>
              <a:t>”</a:t>
            </a:r>
            <a:r>
              <a:rPr lang="zh-CN" altLang="en-US" sz="2000" dirty="0" smtClean="0">
                <a:latin typeface="+mn-ea"/>
              </a:rPr>
              <a:t>结束的标志）</a:t>
            </a:r>
            <a:endParaRPr lang="en-US" altLang="zh-CN" sz="2000" dirty="0" smtClean="0">
              <a:latin typeface="+mn-ea"/>
            </a:endParaRPr>
          </a:p>
          <a:p>
            <a:r>
              <a:rPr lang="zh-CN" altLang="en-US" sz="2000" dirty="0" smtClean="0">
                <a:latin typeface="+mn-ea"/>
              </a:rPr>
              <a:t>新中国成立后最严重的挫折，造成了巨大的损失</a:t>
            </a:r>
          </a:p>
        </p:txBody>
      </p:sp>
      <p:sp>
        <p:nvSpPr>
          <p:cNvPr id="17" name="矩形 16"/>
          <p:cNvSpPr/>
          <p:nvPr/>
        </p:nvSpPr>
        <p:spPr>
          <a:xfrm>
            <a:off x="5707029" y="531809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-4000560" y="364331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5845"/>
          <p:cNvSpPr>
            <a:spLocks noChangeArrowheads="1"/>
          </p:cNvSpPr>
          <p:nvPr/>
        </p:nvSpPr>
        <p:spPr bwMode="auto">
          <a:xfrm>
            <a:off x="285720" y="4286256"/>
            <a:ext cx="184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  <a:buFont typeface="Arial" pitchFamily="34" charset="0"/>
              <a:buNone/>
            </a:pPr>
            <a:endParaRPr lang="zh-CN" altLang="en-US" sz="3200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2844" y="714356"/>
          <a:ext cx="8786842" cy="5114035"/>
        </p:xfrm>
        <a:graphic>
          <a:graphicData uri="http://schemas.openxmlformats.org/drawingml/2006/table">
            <a:tbl>
              <a:tblPr/>
              <a:tblGrid>
                <a:gridCol w="571504"/>
                <a:gridCol w="2714644"/>
                <a:gridCol w="3214710"/>
                <a:gridCol w="2285984"/>
              </a:tblGrid>
              <a:tr h="9334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00" dirty="0" smtClean="0">
                          <a:latin typeface="+mn-lt"/>
                          <a:ea typeface="+mn-ea"/>
                          <a:cs typeface="Times New Roman"/>
                        </a:rPr>
                        <a:t>时期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宋体"/>
                        </a:rPr>
                        <a:t>一五计划</a:t>
                      </a:r>
                      <a:endParaRPr lang="en-US" altLang="zh-CN" sz="2400" b="1" dirty="0" smtClean="0">
                        <a:solidFill>
                          <a:srgbClr val="0000CC"/>
                        </a:solidFill>
                        <a:latin typeface="宋体"/>
                      </a:endParaRPr>
                    </a:p>
                    <a:p>
                      <a:pPr algn="ctr"/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宋体"/>
                        </a:rPr>
                        <a:t>（</a:t>
                      </a:r>
                      <a:r>
                        <a:rPr lang="en-US" altLang="zh-CN" sz="2400" b="1" dirty="0" smtClean="0">
                          <a:solidFill>
                            <a:srgbClr val="0000CC"/>
                          </a:solidFill>
                          <a:latin typeface="宋体"/>
                        </a:rPr>
                        <a:t>1953-1957</a:t>
                      </a:r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宋体"/>
                        </a:rPr>
                        <a:t>年）</a:t>
                      </a:r>
                      <a:endParaRPr lang="en-US" altLang="zh-CN" sz="2400" b="1" dirty="0" smtClean="0">
                        <a:solidFill>
                          <a:srgbClr val="0000CC"/>
                        </a:solidFill>
                        <a:latin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全面建设社会主义时期（</a:t>
                      </a:r>
                      <a:r>
                        <a:rPr lang="en-US" altLang="zh-CN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1956-1966</a:t>
                      </a:r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年）</a:t>
                      </a:r>
                      <a:endParaRPr lang="zh-CN" sz="2400" kern="100" dirty="0" smtClean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文化大革命时期（</a:t>
                      </a:r>
                      <a:r>
                        <a:rPr lang="en-US" altLang="zh-CN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1966-1976</a:t>
                      </a:r>
                      <a:r>
                        <a:rPr lang="zh-CN" altLang="en-US" sz="2400" b="1" dirty="0" smtClean="0">
                          <a:solidFill>
                            <a:srgbClr val="0000CC"/>
                          </a:solidFill>
                          <a:latin typeface="+mn-ea"/>
                        </a:rPr>
                        <a:t>年）</a:t>
                      </a:r>
                      <a:endParaRPr lang="en-US" altLang="zh-CN" sz="2400" b="1" dirty="0" smtClean="0">
                        <a:solidFill>
                          <a:srgbClr val="0000CC"/>
                        </a:solidFill>
                        <a:latin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86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成</a:t>
                      </a:r>
                      <a:endParaRPr lang="en-US" altLang="zh-CN" sz="32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工业：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鞍山钢铁、长春一汽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沈阳机床厂、飞机制造厂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交通：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b="1" u="none" dirty="0" smtClean="0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一桥</a:t>
                      </a:r>
                      <a:r>
                        <a:rPr lang="en-US" altLang="zh-CN" sz="2000" b="1" u="none" dirty="0" smtClean="0"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武汉长江大桥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b="1" u="none" dirty="0" smtClean="0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二铁</a:t>
                      </a:r>
                      <a:r>
                        <a:rPr lang="en-US" altLang="zh-CN" sz="2000" b="1" u="none" dirty="0" smtClean="0"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宝成、鹰厦铁路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2000" b="1" u="none" dirty="0" smtClean="0">
                          <a:solidFill>
                            <a:srgbClr val="0000CC"/>
                          </a:solidFill>
                          <a:latin typeface="+mn-ea"/>
                          <a:ea typeface="+mn-ea"/>
                        </a:rPr>
                        <a:t>三公路</a:t>
                      </a:r>
                      <a:r>
                        <a:rPr lang="en-US" altLang="zh-CN" sz="2000" b="1" u="none" dirty="0" smtClean="0"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川藏、青藏、新藏公路</a:t>
                      </a: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u="none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u="none" dirty="0" smtClean="0">
                          <a:latin typeface="+mn-ea"/>
                          <a:ea typeface="+mn-ea"/>
                        </a:rPr>
                        <a:t>我国开始改变工业落后的面貌，向社会主义工业化迈进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工业： </a:t>
                      </a:r>
                      <a:endParaRPr lang="en-US" altLang="zh-CN" sz="2000" b="1" u="none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武汉、包头两大钢铁基地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大庆油田、胜利油田、大港油田。</a:t>
                      </a:r>
                    </a:p>
                    <a:p>
                      <a:pPr algn="ctr"/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交通：</a:t>
                      </a:r>
                      <a:endParaRPr lang="en-US" altLang="zh-CN" sz="2000" b="1" u="none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兰新、兰青、包兰铁路</a:t>
                      </a:r>
                      <a:endParaRPr lang="en-US" altLang="zh-CN" sz="2000" b="1" u="none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生物科技：</a:t>
                      </a:r>
                      <a:endParaRPr lang="en-US" altLang="zh-CN" sz="2000" b="1" u="none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我国首先完成了人工合成结晶牛胰岛素，</a:t>
                      </a:r>
                    </a:p>
                    <a:p>
                      <a:pPr algn="l"/>
                      <a:endParaRPr lang="zh-CN" sz="2000" b="1" u="none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石油工人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铁人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”--</a:t>
                      </a:r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王进喜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党的好干部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--</a:t>
                      </a:r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焦裕禄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解放军好战士</a:t>
                      </a:r>
                      <a:r>
                        <a:rPr 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--</a:t>
                      </a:r>
                      <a:r>
                        <a:rPr lang="zh-CN" altLang="en-US" sz="2000" b="1" u="none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雷锋</a:t>
                      </a:r>
                      <a:endParaRPr lang="zh-CN" altLang="en-US" sz="2000" b="1" u="none" dirty="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zh-CN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1967</a:t>
                      </a: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altLang="zh-CN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月，第一颗氢弹</a:t>
                      </a:r>
                      <a:endParaRPr lang="en-US" altLang="zh-CN" sz="2000" b="1" u="non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zh-CN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1970</a:t>
                      </a: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altLang="zh-CN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月，第一颗人造地球卫星</a:t>
                      </a:r>
                      <a:endParaRPr lang="en-US" altLang="zh-CN" sz="2000" b="1" u="non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zh-CN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1973</a:t>
                      </a:r>
                      <a:r>
                        <a:rPr lang="zh-CN" altLang="en-US" sz="2000" b="1" u="non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年，首次培育成功籼型杂交水稻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prstClr val="black"/>
                </a:solidFill>
              </a:rPr>
              <a:t>社会主义各时期的建设成就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00414"/>
            <a:ext cx="9144000" cy="335758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、背景：两个凡是</a:t>
            </a:r>
            <a:r>
              <a:rPr lang="en-US" altLang="zh-CN" sz="2000" b="1" dirty="0" smtClean="0">
                <a:latin typeface="+mn-ea"/>
              </a:rPr>
              <a:t>——</a:t>
            </a:r>
            <a:r>
              <a:rPr lang="zh-CN" altLang="en-US" sz="2000" b="1" dirty="0" smtClean="0">
                <a:latin typeface="+mn-ea"/>
              </a:rPr>
              <a:t>真理标准问题大讨论（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实践是检验真理的唯一标准</a:t>
            </a:r>
            <a:r>
              <a:rPr lang="zh-CN" altLang="en-US" sz="2000" b="1" dirty="0" smtClean="0">
                <a:latin typeface="+mn-ea"/>
              </a:rPr>
              <a:t>）</a:t>
            </a:r>
            <a:endParaRPr lang="en-US" altLang="zh-CN" sz="2000" b="1" dirty="0" smtClean="0">
              <a:latin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、内容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000" b="1" dirty="0" smtClean="0">
                <a:latin typeface="+mn-ea"/>
              </a:rPr>
              <a:t>①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冲破了</a:t>
            </a:r>
            <a:r>
              <a:rPr lang="zh-CN" altLang="en-US" sz="2000" b="1" dirty="0" smtClean="0">
                <a:latin typeface="+mn-ea"/>
              </a:rPr>
              <a:t>长期以来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左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”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倾错误</a:t>
            </a:r>
            <a:r>
              <a:rPr lang="zh-CN" altLang="en-US" sz="2000" b="1" dirty="0" smtClean="0">
                <a:latin typeface="+mn-ea"/>
              </a:rPr>
              <a:t>的严重束缚，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000" b="1" dirty="0" smtClean="0">
                <a:latin typeface="+mn-ea"/>
              </a:rPr>
              <a:t>②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确定了</a:t>
            </a:r>
            <a:r>
              <a:rPr lang="zh-CN" altLang="en-US" sz="2000" b="1" u="sng" dirty="0" smtClean="0">
                <a:latin typeface="+mn-ea"/>
              </a:rPr>
              <a:t>解放思想、开动脑筋、实事求是、团结一致向前看</a:t>
            </a:r>
            <a:r>
              <a:rPr lang="zh-CN" altLang="en-US" sz="2000" b="1" dirty="0" smtClean="0">
                <a:latin typeface="+mn-ea"/>
              </a:rPr>
              <a:t>的指导方针，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000" b="1" dirty="0" smtClean="0">
                <a:latin typeface="+mn-ea"/>
              </a:rPr>
              <a:t>③果断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停止</a:t>
            </a:r>
            <a:r>
              <a:rPr lang="zh-CN" altLang="en-US" sz="2000" b="1" dirty="0" smtClean="0">
                <a:latin typeface="+mn-ea"/>
              </a:rPr>
              <a:t>使用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以阶级斗争为纲</a:t>
            </a:r>
            <a:r>
              <a:rPr lang="en-US" altLang="zh-CN" sz="2000" b="1" dirty="0" smtClean="0"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的口号，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000" b="1" dirty="0" smtClean="0">
                <a:latin typeface="+mn-ea"/>
              </a:rPr>
              <a:t>④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作出</a:t>
            </a:r>
            <a:r>
              <a:rPr lang="zh-CN" altLang="en-US" sz="2000" b="1" dirty="0" smtClean="0">
                <a:latin typeface="+mn-ea"/>
              </a:rPr>
              <a:t>了把党和国家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工作中心</a:t>
            </a:r>
            <a:r>
              <a:rPr lang="zh-CN" altLang="en-US" sz="2000" b="1" dirty="0" smtClean="0">
                <a:latin typeface="+mn-ea"/>
              </a:rPr>
              <a:t>转移到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经济建设</a:t>
            </a:r>
            <a:r>
              <a:rPr lang="zh-CN" altLang="en-US" sz="2000" b="1" dirty="0" smtClean="0">
                <a:latin typeface="+mn-ea"/>
              </a:rPr>
              <a:t>上来，实行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改革开放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历史性决策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b="1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、意义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000" b="1" dirty="0" smtClean="0">
                <a:latin typeface="+mn-ea"/>
              </a:rPr>
              <a:t>是新中国成立以来党的历史上具有深远意义的伟大转折，开启了我国改革开放历史新时期，形成了以邓小平为核心的党的第二代中央领导集体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42910" y="1"/>
            <a:ext cx="7772400" cy="571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三、中国特色社会主义道路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3000372"/>
            <a:ext cx="5410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伟大的历史转折（</a:t>
            </a:r>
            <a:r>
              <a:rPr lang="zh-CN" altLang="en-US" sz="2400" b="1" dirty="0" smtClean="0">
                <a:solidFill>
                  <a:srgbClr val="006666"/>
                </a:solidFill>
                <a:latin typeface="黑体" pitchFamily="49" charset="-122"/>
                <a:ea typeface="黑体" pitchFamily="49" charset="-122"/>
                <a:cs typeface="+mj-cs"/>
                <a:sym typeface="宋体" pitchFamily="2" charset="-122"/>
              </a:rPr>
              <a:t>中共十一届三中全会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）</a:t>
            </a:r>
            <a:endParaRPr lang="zh-CN" altLang="en-US" sz="2400" dirty="0">
              <a:solidFill>
                <a:prstClr val="black"/>
              </a:solidFill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071546"/>
            <a:ext cx="21431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black"/>
                </a:solidFill>
              </a:rPr>
              <a:t>中国特色社会主义道路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14546" y="571480"/>
            <a:ext cx="5715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伟大的历史转折（中共十一届三中全会）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改革（农村、城市）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对外开放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指导思想（邓、三、科、习）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中国梦</a:t>
            </a:r>
            <a:endParaRPr lang="zh-CN" altLang="en-US" sz="2400" b="1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2000232" y="642918"/>
            <a:ext cx="214314" cy="20717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294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经济体制改革</a:t>
            </a:r>
            <a:r>
              <a:rPr lang="zh-CN" altLang="en-US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（目标：建立社会主义市场经济体制）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714357"/>
            <a:ext cx="9144000" cy="614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/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1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、背景：中共十一届三中全会以后，实行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改革开放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政策</a:t>
            </a:r>
            <a:endParaRPr lang="en-US" altLang="zh-CN" sz="24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/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、实施：</a:t>
            </a:r>
            <a:endParaRPr lang="en-US" altLang="zh-CN" sz="24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/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A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、农村：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/>
                <a:sym typeface="宋体" pitchFamily="2" charset="-122"/>
              </a:rPr>
              <a:t>家庭联产承包责任制</a:t>
            </a:r>
            <a:r>
              <a:rPr lang="zh-CN" altLang="en-US" sz="2400" b="1" dirty="0" smtClean="0">
                <a:solidFill>
                  <a:srgbClr val="006666"/>
                </a:solidFill>
                <a:latin typeface="宋体"/>
                <a:sym typeface="宋体" pitchFamily="2" charset="-122"/>
              </a:rPr>
              <a:t>（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分田包产到户，自负盈亏</a:t>
            </a:r>
            <a:r>
              <a:rPr lang="zh-CN" altLang="en-US" sz="2400" b="1" dirty="0" smtClean="0">
                <a:solidFill>
                  <a:srgbClr val="006666"/>
                </a:solidFill>
                <a:latin typeface="宋体"/>
                <a:sym typeface="宋体" pitchFamily="2" charset="-122"/>
              </a:rPr>
              <a:t>）</a:t>
            </a:r>
            <a:endParaRPr lang="en-US" altLang="zh-CN" sz="2400" b="1" dirty="0" smtClean="0">
              <a:solidFill>
                <a:srgbClr val="006666"/>
              </a:solidFill>
              <a:latin typeface="宋体"/>
              <a:sym typeface="宋体" pitchFamily="2" charset="-122"/>
            </a:endParaRPr>
          </a:p>
          <a:p>
            <a:pPr marL="342900" lvl="0" indent="-342900"/>
            <a:r>
              <a:rPr lang="en-US" altLang="zh-CN" sz="2400" b="1" dirty="0" smtClean="0">
                <a:solidFill>
                  <a:srgbClr val="FF0000"/>
                </a:solidFill>
                <a:latin typeface="宋体"/>
              </a:rPr>
              <a:t>         1978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/>
              </a:rPr>
              <a:t>年，安徽凤阳小岗村</a:t>
            </a:r>
            <a:endParaRPr lang="en-US" altLang="zh-CN" sz="2400" b="1" dirty="0" smtClean="0">
              <a:solidFill>
                <a:srgbClr val="FF0000"/>
              </a:solidFill>
              <a:latin typeface="宋体"/>
            </a:endParaRPr>
          </a:p>
          <a:p>
            <a:pPr marL="342900" lvl="0" indent="-342900"/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  激发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了农民的劳动热情，带来农村生产力的大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解放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，农业生产和农民收入均有很大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提高</a:t>
            </a:r>
            <a:endParaRPr lang="en-US" altLang="zh-CN" sz="2400" b="1" dirty="0" smtClean="0">
              <a:solidFill>
                <a:srgbClr val="0000FF"/>
              </a:solidFill>
              <a:latin typeface="宋体"/>
            </a:endParaRPr>
          </a:p>
          <a:p>
            <a:pPr marL="342900" lvl="0" indent="-342900"/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B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、城市：</a:t>
            </a:r>
          </a:p>
          <a:p>
            <a:pPr marL="342900" lvl="0" indent="-342900"/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①单一公有制</a:t>
            </a:r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——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以公有制为主体的多种所有制经济</a:t>
            </a:r>
          </a:p>
          <a:p>
            <a:pPr marL="342900" lvl="0" indent="-342900"/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②国有企业政企分开，逐步扩大企业的生产经营自主权，实行经营责任制</a:t>
            </a:r>
          </a:p>
          <a:p>
            <a:pPr marL="342900" lvl="0" indent="-342900"/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③按劳分配为主、多种分配方式并存的制度</a:t>
            </a:r>
          </a:p>
          <a:p>
            <a:pPr marL="342900" lvl="0" indent="-342900"/>
            <a:r>
              <a:rPr lang="zh-CN" altLang="en-US" sz="2400" b="1" dirty="0" smtClean="0">
                <a:solidFill>
                  <a:srgbClr val="FF0000"/>
                </a:solidFill>
                <a:latin typeface="宋体"/>
              </a:rPr>
              <a:t>中心环节：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增强企业活力</a:t>
            </a:r>
            <a:endParaRPr lang="zh-CN" altLang="en-US" sz="2400" b="1" dirty="0" smtClean="0">
              <a:solidFill>
                <a:srgbClr val="FF0000"/>
              </a:solidFill>
              <a:latin typeface="宋体"/>
            </a:endParaRPr>
          </a:p>
          <a:p>
            <a:pPr marL="342900" lvl="0" indent="-342900"/>
            <a:r>
              <a:rPr lang="zh-CN" altLang="en-US" sz="2400" b="1" dirty="0" smtClean="0">
                <a:solidFill>
                  <a:srgbClr val="FF0000"/>
                </a:solidFill>
                <a:latin typeface="宋体"/>
              </a:rPr>
              <a:t>意义：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大大调动了企业、职工的积极性，增强了企业的活力</a:t>
            </a:r>
            <a:endParaRPr lang="en-US" altLang="zh-CN" sz="24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/>
            <a:r>
              <a:rPr lang="en-US" altLang="zh-CN" sz="2400" b="1" dirty="0" smtClean="0">
                <a:solidFill>
                  <a:prstClr val="black"/>
                </a:solidFill>
                <a:latin typeface="宋体"/>
                <a:sym typeface="宋体" pitchFamily="2" charset="-122"/>
              </a:rPr>
              <a:t>3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  <a:sym typeface="宋体" pitchFamily="2" charset="-122"/>
              </a:rPr>
              <a:t>、社会主义市场经济体制（</a:t>
            </a:r>
            <a:r>
              <a:rPr lang="en-US" altLang="zh-CN" sz="2400" b="1" dirty="0" smtClean="0">
                <a:solidFill>
                  <a:prstClr val="black"/>
                </a:solidFill>
                <a:latin typeface="宋体"/>
              </a:rPr>
              <a:t>1992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</a:rPr>
              <a:t>年，中共十四大提出</a:t>
            </a:r>
            <a:r>
              <a:rPr lang="zh-CN" altLang="en-US" sz="2400" b="1" dirty="0" smtClean="0">
                <a:solidFill>
                  <a:prstClr val="black"/>
                </a:solidFill>
                <a:latin typeface="宋体"/>
                <a:sym typeface="宋体" pitchFamily="2" charset="-122"/>
              </a:rPr>
              <a:t>）</a:t>
            </a:r>
          </a:p>
          <a:p>
            <a:pPr marL="342900" lvl="0" indent="-342900"/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意义：有利于实现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经济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的协调发展和稳定高速增长，对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现代化建设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有巨大推动作用，使中国的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/>
              </a:rPr>
              <a:t>经济实力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/>
              </a:rPr>
              <a:t>明显增强。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14282" y="2143116"/>
            <a:ext cx="8929718" cy="1077913"/>
            <a:chOff x="42" y="229"/>
            <a:chExt cx="4439" cy="679"/>
          </a:xfrm>
        </p:grpSpPr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42" y="229"/>
              <a:ext cx="634" cy="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3200" b="1" dirty="0">
                  <a:solidFill>
                    <a:srgbClr val="F8081F"/>
                  </a:solidFill>
                  <a:latin typeface="楷体" pitchFamily="49" charset="-122"/>
                  <a:ea typeface="楷体" pitchFamily="49" charset="-122"/>
                </a:rPr>
                <a:t>经济特区</a:t>
              </a:r>
            </a:p>
          </p:txBody>
        </p:sp>
        <p:sp>
          <p:nvSpPr>
            <p:cNvPr id="8209" name="Text Box 17"/>
            <p:cNvSpPr txBox="1">
              <a:spLocks noChangeArrowheads="1"/>
            </p:cNvSpPr>
            <p:nvPr/>
          </p:nvSpPr>
          <p:spPr bwMode="auto">
            <a:xfrm>
              <a:off x="1087" y="229"/>
              <a:ext cx="887" cy="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3200" b="1" dirty="0">
                  <a:solidFill>
                    <a:srgbClr val="F8081F"/>
                  </a:solidFill>
                  <a:latin typeface="楷体" pitchFamily="49" charset="-122"/>
                  <a:ea typeface="楷体" pitchFamily="49" charset="-122"/>
                </a:rPr>
                <a:t>沿海开放城市</a:t>
              </a:r>
            </a:p>
          </p:txBody>
        </p:sp>
        <p:sp>
          <p:nvSpPr>
            <p:cNvPr id="8210" name="Text Box 18"/>
            <p:cNvSpPr txBox="1">
              <a:spLocks noChangeArrowheads="1"/>
            </p:cNvSpPr>
            <p:nvPr/>
          </p:nvSpPr>
          <p:spPr bwMode="auto">
            <a:xfrm>
              <a:off x="2318" y="229"/>
              <a:ext cx="991" cy="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rgbClr val="F8081F"/>
                  </a:solidFill>
                  <a:latin typeface="楷体" pitchFamily="49" charset="-122"/>
                  <a:ea typeface="楷体" pitchFamily="49" charset="-122"/>
                </a:rPr>
                <a:t>沿海经济开放区</a:t>
              </a:r>
            </a:p>
          </p:txBody>
        </p:sp>
        <p:sp>
          <p:nvSpPr>
            <p:cNvPr id="8211" name="AutoShape 19"/>
            <p:cNvSpPr>
              <a:spLocks noChangeArrowheads="1"/>
            </p:cNvSpPr>
            <p:nvPr/>
          </p:nvSpPr>
          <p:spPr bwMode="auto">
            <a:xfrm>
              <a:off x="564" y="454"/>
              <a:ext cx="485" cy="240"/>
            </a:xfrm>
            <a:prstGeom prst="rightArrow">
              <a:avLst>
                <a:gd name="adj1" fmla="val 50000"/>
                <a:gd name="adj2" fmla="val 5043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8212" name="AutoShape 20"/>
            <p:cNvSpPr>
              <a:spLocks noChangeArrowheads="1"/>
            </p:cNvSpPr>
            <p:nvPr/>
          </p:nvSpPr>
          <p:spPr bwMode="auto">
            <a:xfrm>
              <a:off x="1796" y="454"/>
              <a:ext cx="484" cy="240"/>
            </a:xfrm>
            <a:prstGeom prst="rightArrow">
              <a:avLst>
                <a:gd name="adj1" fmla="val 50000"/>
                <a:gd name="adj2" fmla="val 5033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8213" name="AutoShape 21"/>
            <p:cNvSpPr>
              <a:spLocks noChangeArrowheads="1"/>
            </p:cNvSpPr>
            <p:nvPr/>
          </p:nvSpPr>
          <p:spPr bwMode="auto">
            <a:xfrm>
              <a:off x="3325" y="454"/>
              <a:ext cx="484" cy="240"/>
            </a:xfrm>
            <a:prstGeom prst="rightArrow">
              <a:avLst>
                <a:gd name="adj1" fmla="val 50000"/>
                <a:gd name="adj2" fmla="val 5033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8215" name="Rectangle 23"/>
            <p:cNvSpPr>
              <a:spLocks noChangeArrowheads="1"/>
            </p:cNvSpPr>
            <p:nvPr/>
          </p:nvSpPr>
          <p:spPr bwMode="auto">
            <a:xfrm>
              <a:off x="3885" y="364"/>
              <a:ext cx="59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F8081F"/>
                  </a:solidFill>
                  <a:latin typeface="楷体" pitchFamily="49" charset="-122"/>
                  <a:ea typeface="楷体" pitchFamily="49" charset="-122"/>
                </a:rPr>
                <a:t>内地</a:t>
              </a:r>
            </a:p>
          </p:txBody>
        </p:sp>
      </p:grpSp>
      <p:sp>
        <p:nvSpPr>
          <p:cNvPr id="28" name="矩形 27"/>
          <p:cNvSpPr/>
          <p:nvPr/>
        </p:nvSpPr>
        <p:spPr>
          <a:xfrm>
            <a:off x="1" y="14285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对外开放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zh-CN" altLang="en-US" sz="2800" b="1" kern="10" dirty="0" smtClean="0">
                <a:ln w="9525">
                  <a:noFill/>
                  <a:round/>
                  <a:headEnd/>
                  <a:tailEnd/>
                </a:ln>
                <a:latin typeface="黑体" pitchFamily="49" charset="-122"/>
                <a:ea typeface="黑体" pitchFamily="49" charset="-122"/>
              </a:rPr>
              <a:t>格局</a:t>
            </a:r>
            <a:r>
              <a:rPr lang="zh-CN" altLang="en-US" sz="28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：全方位、多层次、宽领域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  <a:endParaRPr lang="zh-CN" altLang="en-US" sz="2800" dirty="0"/>
          </a:p>
        </p:txBody>
      </p:sp>
      <p:sp>
        <p:nvSpPr>
          <p:cNvPr id="29" name="矩形 28"/>
          <p:cNvSpPr/>
          <p:nvPr/>
        </p:nvSpPr>
        <p:spPr>
          <a:xfrm>
            <a:off x="0" y="1214422"/>
            <a:ext cx="2071670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1980</a:t>
            </a:r>
            <a:r>
              <a:rPr lang="zh-CN" altLang="en-US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年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深圳、珠海、汕头、厦门、</a:t>
            </a:r>
            <a:endParaRPr lang="en-US" altLang="zh-CN" sz="2000" b="1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1988</a:t>
            </a:r>
            <a:r>
              <a:rPr lang="zh-CN" altLang="en-US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年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海南岛</a:t>
            </a:r>
            <a:endParaRPr lang="zh-CN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2143108" y="1214422"/>
            <a:ext cx="2000264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1984</a:t>
            </a:r>
            <a:r>
              <a:rPr lang="zh-CN" altLang="en-US" sz="20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年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大连、天津、青岛、上海、福州、广州等</a:t>
            </a:r>
            <a:endParaRPr lang="zh-CN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4286248" y="1214422"/>
            <a:ext cx="2857520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黑体" pitchFamily="49" charset="-122"/>
                <a:ea typeface="黑体" pitchFamily="49" charset="-122"/>
              </a:rPr>
              <a:t>1985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年长江三角洲、珠江三角洲、闽南三角洲、</a:t>
            </a:r>
            <a:endParaRPr lang="en-US" altLang="zh-CN" sz="2000" b="1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2000" b="1" dirty="0" smtClean="0">
                <a:latin typeface="黑体" pitchFamily="49" charset="-122"/>
                <a:ea typeface="黑体" pitchFamily="49" charset="-122"/>
              </a:rPr>
              <a:t>1990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年上海浦东开发区</a:t>
            </a:r>
            <a:endParaRPr lang="zh-CN" altLang="en-US" sz="2000" dirty="0" smtClean="0"/>
          </a:p>
        </p:txBody>
      </p:sp>
      <p:sp>
        <p:nvSpPr>
          <p:cNvPr id="32" name="矩形 31"/>
          <p:cNvSpPr/>
          <p:nvPr/>
        </p:nvSpPr>
        <p:spPr>
          <a:xfrm>
            <a:off x="4286248" y="4572008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2400" dirty="0"/>
          </a:p>
        </p:txBody>
      </p:sp>
      <p:sp>
        <p:nvSpPr>
          <p:cNvPr id="33" name="矩形 32"/>
          <p:cNvSpPr/>
          <p:nvPr/>
        </p:nvSpPr>
        <p:spPr>
          <a:xfrm>
            <a:off x="6072198" y="2928934"/>
            <a:ext cx="3071802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重庆、武汉等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沿江城市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，</a:t>
            </a:r>
            <a:endParaRPr lang="en-US" altLang="zh-CN" sz="2000" b="1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满洲里等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陆地边境城市，</a:t>
            </a:r>
            <a:endParaRPr lang="en-US" altLang="zh-CN" sz="2000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昆明、乌鲁木齐等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内地省会和自治区首府</a:t>
            </a:r>
            <a:endParaRPr lang="zh-CN" altLang="en-US" sz="2000" dirty="0"/>
          </a:p>
        </p:txBody>
      </p:sp>
      <p:sp>
        <p:nvSpPr>
          <p:cNvPr id="34" name="文本框 1"/>
          <p:cNvSpPr txBox="1">
            <a:spLocks noChangeArrowheads="1"/>
          </p:cNvSpPr>
          <p:nvPr/>
        </p:nvSpPr>
        <p:spPr bwMode="auto">
          <a:xfrm>
            <a:off x="0" y="3286124"/>
            <a:ext cx="392905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引进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外资、先进技术和管理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经验，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推动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国内的进一步改革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，</a:t>
            </a:r>
            <a:endParaRPr lang="en-US" altLang="zh-CN" sz="2000" b="1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扩大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对外经济交流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，</a:t>
            </a:r>
            <a:endParaRPr lang="en-US" altLang="zh-CN" sz="2000" b="1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0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发展</a:t>
            </a:r>
            <a:r>
              <a:rPr lang="zh-CN" altLang="en-US" sz="2000" b="1" dirty="0">
                <a:latin typeface="黑体" pitchFamily="49" charset="-122"/>
                <a:ea typeface="黑体" pitchFamily="49" charset="-122"/>
              </a:rPr>
              <a:t>社会主义现代化</a:t>
            </a:r>
            <a:r>
              <a:rPr lang="zh-CN" altLang="en-US" sz="2000" b="1" dirty="0" smtClean="0">
                <a:latin typeface="黑体" pitchFamily="49" charset="-122"/>
                <a:ea typeface="黑体" pitchFamily="49" charset="-122"/>
              </a:rPr>
              <a:t>事业</a:t>
            </a:r>
            <a:endParaRPr lang="zh-CN" altLang="en-US" sz="20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0" y="485776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sym typeface="宋体" pitchFamily="2" charset="-122"/>
              </a:rPr>
              <a:t>2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sym typeface="宋体" pitchFamily="2" charset="-122"/>
              </a:rPr>
              <a:t>、加入世界贸易组织（</a:t>
            </a:r>
            <a:r>
              <a:rPr lang="en-US" altLang="zh-CN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2001</a:t>
            </a:r>
            <a:r>
              <a:rPr lang="zh-CN" altLang="en-US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年</a:t>
            </a:r>
            <a:r>
              <a:rPr lang="en-US" altLang="zh-CN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12</a:t>
            </a:r>
            <a:r>
              <a:rPr lang="zh-CN" altLang="en-US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月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sym typeface="宋体" pitchFamily="2" charset="-122"/>
              </a:rPr>
              <a:t>）</a:t>
            </a:r>
            <a:endParaRPr lang="zh-CN" altLang="en-US" sz="2400" b="1" dirty="0" smtClean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为我国参与经济全球化开辟了新途径，为国民经济和社会发展开拓了新空间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3" grpId="0" animBg="1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2289"/>
          <p:cNvSpPr txBox="1">
            <a:spLocks noChangeArrowheads="1"/>
          </p:cNvSpPr>
          <p:nvPr/>
        </p:nvSpPr>
        <p:spPr bwMode="auto">
          <a:xfrm>
            <a:off x="0" y="660413"/>
            <a:ext cx="41957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十一届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三中全会后（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1978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1" name="文本框 12290"/>
          <p:cNvSpPr txBox="1">
            <a:spLocks noChangeArrowheads="1"/>
          </p:cNvSpPr>
          <p:nvPr/>
        </p:nvSpPr>
        <p:spPr bwMode="auto">
          <a:xfrm>
            <a:off x="4071934" y="642918"/>
            <a:ext cx="47418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u="sng" dirty="0" smtClean="0">
                <a:latin typeface="楷体" pitchFamily="49" charset="-122"/>
                <a:ea typeface="楷体" pitchFamily="49" charset="-122"/>
              </a:rPr>
              <a:t>改革开放和社会主义现代化建设</a:t>
            </a:r>
            <a:endParaRPr lang="zh-CN" altLang="en-US" sz="2400" b="1" u="sng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3" name="文本框 12292"/>
          <p:cNvSpPr txBox="1">
            <a:spLocks noChangeArrowheads="1"/>
          </p:cNvSpPr>
          <p:nvPr/>
        </p:nvSpPr>
        <p:spPr bwMode="auto">
          <a:xfrm>
            <a:off x="0" y="1446215"/>
            <a:ext cx="41862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中共十二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大（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1982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4" name="文本框 12293"/>
          <p:cNvSpPr txBox="1">
            <a:spLocks noChangeArrowheads="1"/>
          </p:cNvSpPr>
          <p:nvPr/>
        </p:nvSpPr>
        <p:spPr bwMode="auto">
          <a:xfrm>
            <a:off x="3143240" y="1428736"/>
            <a:ext cx="4071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建设有中国特色的社会主义</a:t>
            </a:r>
          </a:p>
        </p:txBody>
      </p:sp>
      <p:sp>
        <p:nvSpPr>
          <p:cNvPr id="12295" name="文本框 12294"/>
          <p:cNvSpPr txBox="1">
            <a:spLocks noChangeArrowheads="1"/>
          </p:cNvSpPr>
          <p:nvPr/>
        </p:nvSpPr>
        <p:spPr bwMode="auto">
          <a:xfrm>
            <a:off x="0" y="2517785"/>
            <a:ext cx="37512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中共十三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大（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1987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6" name="文本框 12295"/>
          <p:cNvSpPr txBox="1">
            <a:spLocks noChangeArrowheads="1"/>
          </p:cNvSpPr>
          <p:nvPr/>
        </p:nvSpPr>
        <p:spPr bwMode="auto">
          <a:xfrm>
            <a:off x="3071802" y="2143116"/>
            <a:ext cx="60721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阐明了社会主义初级阶段</a:t>
            </a:r>
            <a:r>
              <a:rPr lang="zh-CN" altLang="en-US" sz="2400" b="1" u="sng" dirty="0" smtClean="0">
                <a:latin typeface="楷体" pitchFamily="49" charset="-122"/>
                <a:ea typeface="楷体" pitchFamily="49" charset="-122"/>
              </a:rPr>
              <a:t>理论、基本路线</a:t>
            </a:r>
            <a:endParaRPr lang="zh-CN" altLang="en-US" sz="2400" b="1" u="sng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297" name="文本框 1229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0" y="4627576"/>
            <a:ext cx="4029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中共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十四大（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1992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8" name="文本框 12297"/>
          <p:cNvSpPr txBox="1">
            <a:spLocks noChangeArrowheads="1"/>
          </p:cNvSpPr>
          <p:nvPr/>
        </p:nvSpPr>
        <p:spPr bwMode="auto">
          <a:xfrm>
            <a:off x="3071802" y="4643446"/>
            <a:ext cx="41767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u="sng" dirty="0" smtClean="0">
                <a:latin typeface="楷体" pitchFamily="49" charset="-122"/>
                <a:ea typeface="楷体" pitchFamily="49" charset="-122"/>
              </a:rPr>
              <a:t>确立在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全党的指导地位</a:t>
            </a:r>
            <a:r>
              <a:rPr lang="en-US" altLang="zh-CN" sz="2400" b="1" u="sng" dirty="0">
                <a:latin typeface="楷体" pitchFamily="49" charset="-122"/>
                <a:ea typeface="楷体" pitchFamily="49" charset="-122"/>
              </a:rPr>
              <a:t>.</a:t>
            </a:r>
          </a:p>
        </p:txBody>
      </p:sp>
      <p:sp>
        <p:nvSpPr>
          <p:cNvPr id="12299" name="文本框 1229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0" y="5429264"/>
            <a:ext cx="3905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中共十五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大（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1997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300" name="文本框 12299"/>
          <p:cNvSpPr txBox="1"/>
          <p:nvPr/>
        </p:nvSpPr>
        <p:spPr>
          <a:xfrm>
            <a:off x="3071802" y="5429264"/>
            <a:ext cx="5256213" cy="46166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u="sng" noProof="1" smtClean="0"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lang="zh-CN" altLang="en-US" sz="2400" b="1" u="sng" noProof="1" smtClean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党章确立</a:t>
            </a:r>
            <a:r>
              <a:rPr lang="zh-CN" altLang="en-US" sz="2400" b="1" u="sng" noProof="1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en-US" sz="2400" b="1" u="sng" noProof="1">
                <a:latin typeface="楷体" panose="02010609060101010101" pitchFamily="49" charset="-122"/>
                <a:ea typeface="楷体" panose="02010609060101010101" pitchFamily="49" charset="-122"/>
              </a:rPr>
              <a:t>党的指导思想</a:t>
            </a:r>
            <a:r>
              <a:rPr lang="zh-CN" altLang="en-US" sz="2400" b="1" noProof="1">
                <a:effectLst>
                  <a:outerShdw blurRad="38100" dist="38100" dir="2700000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pic>
        <p:nvPicPr>
          <p:cNvPr id="12301" name="图片 12300" descr="36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5072074"/>
            <a:ext cx="433452" cy="376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2" name="图片 12301" descr="3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127398"/>
            <a:ext cx="411148" cy="411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3" name="图片 12302" descr="3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2446" y="2122488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4" name="图片 12303" descr="3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2446" y="1122356"/>
            <a:ext cx="3667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4" name="矩形 12305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1" y="0"/>
            <a:ext cx="9144000" cy="57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邓小平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理论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（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建设中国特色社会主义）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312" name="矩形 12311"/>
          <p:cNvSpPr>
            <a:spLocks noChangeArrowheads="1"/>
          </p:cNvSpPr>
          <p:nvPr/>
        </p:nvSpPr>
        <p:spPr bwMode="auto">
          <a:xfrm>
            <a:off x="2786050" y="3714752"/>
            <a:ext cx="29690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u="sng" dirty="0" smtClean="0">
                <a:latin typeface="楷体" pitchFamily="49" charset="-122"/>
                <a:ea typeface="楷体" pitchFamily="49" charset="-122"/>
              </a:rPr>
              <a:t>“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  <a:sym typeface="宋体" pitchFamily="2" charset="-122"/>
              </a:rPr>
              <a:t>发展才是硬道理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”</a:t>
            </a:r>
          </a:p>
        </p:txBody>
      </p:sp>
      <p:sp>
        <p:nvSpPr>
          <p:cNvPr id="12313" name="文本框 12312"/>
          <p:cNvSpPr txBox="1">
            <a:spLocks noChangeArrowheads="1"/>
          </p:cNvSpPr>
          <p:nvPr/>
        </p:nvSpPr>
        <p:spPr bwMode="auto">
          <a:xfrm>
            <a:off x="0" y="3670312"/>
            <a:ext cx="3976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南方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谈话（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1992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2314" name="图片 12313" descr="3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4214818"/>
            <a:ext cx="415926" cy="41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矩形 30"/>
          <p:cNvSpPr/>
          <p:nvPr/>
        </p:nvSpPr>
        <p:spPr>
          <a:xfrm>
            <a:off x="0" y="6072206"/>
            <a:ext cx="93583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邓小平是改革开放和社会主义现代化建设总设计师</a:t>
            </a:r>
            <a:endParaRPr lang="zh-CN" altLang="en-US" sz="32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43240" y="2643182"/>
            <a:ext cx="60007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zh-CN" altLang="en-US" sz="2400" b="1" dirty="0" smtClean="0">
                <a:solidFill>
                  <a:srgbClr val="0000CC"/>
                </a:solidFill>
                <a:latin typeface="楷体" pitchFamily="49" charset="-122"/>
                <a:ea typeface="楷体" pitchFamily="49" charset="-122"/>
              </a:rPr>
              <a:t>经济建设为中心，坚持四项基本原则、改革开放</a:t>
            </a:r>
            <a:r>
              <a:rPr lang="zh-CN" altLang="en-US" sz="2400" b="1" dirty="0" smtClean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）</a:t>
            </a:r>
            <a:endParaRPr lang="zh-CN" altLang="en-US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/>
      <p:bldP spid="12293" grpId="0"/>
      <p:bldP spid="12294" grpId="0"/>
      <p:bldP spid="12295" grpId="0"/>
      <p:bldP spid="12296" grpId="0"/>
      <p:bldP spid="12297" grpId="0"/>
      <p:bldP spid="12298" grpId="0"/>
      <p:bldP spid="12299" grpId="0"/>
      <p:bldP spid="12300" grpId="0"/>
      <p:bldP spid="12312" grpId="0"/>
      <p:bldP spid="12313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2289"/>
          <p:cNvSpPr txBox="1">
            <a:spLocks noChangeArrowheads="1"/>
          </p:cNvSpPr>
          <p:nvPr/>
        </p:nvSpPr>
        <p:spPr bwMode="auto">
          <a:xfrm>
            <a:off x="0" y="857232"/>
            <a:ext cx="3786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中共十六大（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2002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3" name="文本框 12292"/>
          <p:cNvSpPr txBox="1">
            <a:spLocks noChangeArrowheads="1"/>
          </p:cNvSpPr>
          <p:nvPr/>
        </p:nvSpPr>
        <p:spPr bwMode="auto">
          <a:xfrm>
            <a:off x="0" y="1731967"/>
            <a:ext cx="37147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中共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十七大（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2007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4" name="文本框 12293"/>
          <p:cNvSpPr txBox="1">
            <a:spLocks noChangeArrowheads="1"/>
          </p:cNvSpPr>
          <p:nvPr/>
        </p:nvSpPr>
        <p:spPr bwMode="auto">
          <a:xfrm>
            <a:off x="3071802" y="642918"/>
            <a:ext cx="607219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江泽民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三个代表重要思想</a:t>
            </a:r>
            <a:r>
              <a:rPr lang="zh-CN" altLang="en-US" sz="2800" b="1" dirty="0" smtClean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被确立为指导思想</a:t>
            </a:r>
            <a:endParaRPr lang="zh-CN" altLang="en-US" sz="2800" dirty="0" smtClean="0"/>
          </a:p>
        </p:txBody>
      </p:sp>
      <p:sp>
        <p:nvSpPr>
          <p:cNvPr id="12295" name="文本框 12294"/>
          <p:cNvSpPr txBox="1">
            <a:spLocks noChangeArrowheads="1"/>
          </p:cNvSpPr>
          <p:nvPr/>
        </p:nvSpPr>
        <p:spPr bwMode="auto">
          <a:xfrm>
            <a:off x="0" y="2803537"/>
            <a:ext cx="35004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中共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十八大（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2012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6" name="文本框 12295"/>
          <p:cNvSpPr txBox="1">
            <a:spLocks noChangeArrowheads="1"/>
          </p:cNvSpPr>
          <p:nvPr/>
        </p:nvSpPr>
        <p:spPr bwMode="auto">
          <a:xfrm>
            <a:off x="3071802" y="1714488"/>
            <a:ext cx="57150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胡锦涛提出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科学发展观</a:t>
            </a:r>
            <a:endParaRPr lang="zh-CN" altLang="en-US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7" name="文本框 1229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0" y="3786190"/>
            <a:ext cx="34289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中共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十九大（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2017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年）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8" name="文本框 12297"/>
          <p:cNvSpPr txBox="1">
            <a:spLocks noChangeArrowheads="1"/>
          </p:cNvSpPr>
          <p:nvPr/>
        </p:nvSpPr>
        <p:spPr bwMode="auto">
          <a:xfrm>
            <a:off x="3071770" y="3643314"/>
            <a:ext cx="60722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习近平新时代中国特色社会主义思想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被确立为指导思想</a:t>
            </a:r>
            <a:endParaRPr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2302" name="图片 12301" descr="3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322" y="3375041"/>
            <a:ext cx="344488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3" name="图片 12302" descr="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322" y="2303471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4" name="图片 12303" descr="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322" y="1303339"/>
            <a:ext cx="3667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4" name="矩形 12305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1" y="0"/>
            <a:ext cx="9144000" cy="57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其他指导思想</a:t>
            </a:r>
            <a:endParaRPr lang="en-US" altLang="zh-CN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312" name="矩形 12311"/>
          <p:cNvSpPr>
            <a:spLocks noChangeArrowheads="1"/>
          </p:cNvSpPr>
          <p:nvPr/>
        </p:nvSpPr>
        <p:spPr bwMode="auto">
          <a:xfrm>
            <a:off x="3071802" y="2500306"/>
            <a:ext cx="571504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科学发展观被确立为指导思想</a:t>
            </a:r>
            <a:endParaRPr lang="en-US" altLang="zh-CN" sz="2800" b="1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习近平当选</a:t>
            </a:r>
            <a:r>
              <a:rPr lang="zh-CN" altLang="en-US" sz="2800" b="1" dirty="0" smtClean="0">
                <a:solidFill>
                  <a:srgbClr val="000000"/>
                </a:solidFill>
                <a:latin typeface="楷体" pitchFamily="49" charset="-122"/>
                <a:ea typeface="楷体" pitchFamily="49" charset="-122"/>
                <a:sym typeface="宋体" pitchFamily="2" charset="-122"/>
              </a:rPr>
              <a:t>为中共中央总书记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3" grpId="0"/>
      <p:bldP spid="12294" grpId="0"/>
      <p:bldP spid="12295" grpId="0"/>
      <p:bldP spid="12296" grpId="0"/>
      <p:bldP spid="12297" grpId="0"/>
      <p:bldP spid="12298" grpId="0"/>
      <p:bldP spid="123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2305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1" y="0"/>
            <a:ext cx="9144000" cy="57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中国梦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（</a:t>
            </a:r>
            <a:r>
              <a:rPr lang="zh-CN" altLang="en-US" sz="2400" b="1" dirty="0" smtClean="0">
                <a:latin typeface="+mn-ea"/>
              </a:rPr>
              <a:t>内涵：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国家富强、民族振兴、人民幸福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）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844" y="571480"/>
            <a:ext cx="87868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、两个</a:t>
            </a:r>
            <a:r>
              <a:rPr lang="en-US" altLang="zh-CN" sz="2400" b="1" dirty="0" smtClean="0">
                <a:latin typeface="+mn-ea"/>
              </a:rPr>
              <a:t>“</a:t>
            </a:r>
            <a:r>
              <a:rPr lang="zh-CN" altLang="en-US" sz="2400" b="1" dirty="0" smtClean="0">
                <a:latin typeface="+mn-ea"/>
              </a:rPr>
              <a:t>一百年</a:t>
            </a:r>
            <a:r>
              <a:rPr lang="en-US" altLang="zh-CN" sz="2400" b="1" dirty="0" smtClean="0">
                <a:latin typeface="+mn-ea"/>
              </a:rPr>
              <a:t>”</a:t>
            </a:r>
            <a:r>
              <a:rPr lang="zh-CN" altLang="en-US" sz="2400" b="1" dirty="0" smtClean="0">
                <a:latin typeface="+mn-ea"/>
              </a:rPr>
              <a:t>目标</a:t>
            </a:r>
            <a:endParaRPr lang="en-US" altLang="zh-CN" sz="2400" b="1" dirty="0" smtClean="0">
              <a:latin typeface="+mn-ea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400" b="1" noProof="1" smtClean="0">
                <a:latin typeface="+mn-ea"/>
              </a:rPr>
              <a:t>①中国共产党成立</a:t>
            </a:r>
            <a:r>
              <a:rPr lang="en-US" altLang="zh-CN" sz="2400" b="1" noProof="1" smtClean="0">
                <a:latin typeface="+mn-ea"/>
              </a:rPr>
              <a:t>100</a:t>
            </a:r>
            <a:r>
              <a:rPr lang="zh-CN" altLang="en-US" sz="2400" b="1" noProof="1" smtClean="0">
                <a:latin typeface="+mn-ea"/>
              </a:rPr>
              <a:t>年时</a:t>
            </a:r>
            <a:r>
              <a:rPr lang="en-US" altLang="zh-CN" sz="2400" b="1" noProof="1" smtClean="0">
                <a:latin typeface="+mn-ea"/>
              </a:rPr>
              <a:t>,</a:t>
            </a:r>
            <a:r>
              <a:rPr lang="zh-CN" altLang="en-US" sz="2400" b="1" noProof="1" smtClean="0">
                <a:latin typeface="+mn-ea"/>
              </a:rPr>
              <a:t>实现国内生产总值和城乡居民收入比</a:t>
            </a:r>
            <a:r>
              <a:rPr lang="en-US" altLang="zh-CN" sz="2400" b="1" noProof="1" smtClean="0">
                <a:latin typeface="+mn-ea"/>
              </a:rPr>
              <a:t>2010</a:t>
            </a:r>
            <a:r>
              <a:rPr lang="zh-CN" altLang="en-US" sz="2400" b="1" noProof="1" smtClean="0">
                <a:latin typeface="+mn-ea"/>
              </a:rPr>
              <a:t>年翻一番，全面建成小康社会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400" b="1" noProof="1" smtClean="0">
                <a:latin typeface="+mn-ea"/>
              </a:rPr>
              <a:t>②新中国成立</a:t>
            </a:r>
            <a:r>
              <a:rPr lang="en-US" altLang="zh-CN" sz="2400" b="1" noProof="1" smtClean="0">
                <a:latin typeface="+mn-ea"/>
              </a:rPr>
              <a:t>100</a:t>
            </a:r>
            <a:r>
              <a:rPr lang="zh-CN" altLang="en-US" sz="2400" b="1" noProof="1" smtClean="0">
                <a:latin typeface="+mn-ea"/>
              </a:rPr>
              <a:t>年时</a:t>
            </a:r>
            <a:r>
              <a:rPr lang="en-US" altLang="zh-CN" sz="2400" b="1" noProof="1" smtClean="0">
                <a:latin typeface="+mn-ea"/>
              </a:rPr>
              <a:t>,</a:t>
            </a:r>
            <a:r>
              <a:rPr lang="zh-CN" altLang="en-US" sz="2400" b="1" noProof="1" smtClean="0">
                <a:latin typeface="+mn-ea"/>
              </a:rPr>
              <a:t>建成</a:t>
            </a:r>
            <a:r>
              <a:rPr lang="zh-CN" altLang="en-US" sz="2400" b="1" noProof="1" smtClean="0">
                <a:solidFill>
                  <a:srgbClr val="0000CC"/>
                </a:solidFill>
                <a:latin typeface="+mn-ea"/>
              </a:rPr>
              <a:t>富强、民主、文明、和谐</a:t>
            </a:r>
            <a:r>
              <a:rPr lang="zh-CN" altLang="en-US" sz="2400" b="1" noProof="1" smtClean="0">
                <a:latin typeface="+mn-ea"/>
              </a:rPr>
              <a:t>的社会主义现代化国家，实现中华民族伟大复兴</a:t>
            </a:r>
          </a:p>
          <a:p>
            <a:r>
              <a:rPr lang="en-US" altLang="zh-CN" sz="2400" b="1" dirty="0" smtClean="0">
                <a:latin typeface="+mn-ea"/>
                <a:sym typeface="宋体" charset="-122"/>
              </a:rPr>
              <a:t>2</a:t>
            </a:r>
            <a:r>
              <a:rPr lang="zh-CN" altLang="en-US" sz="2400" b="1" dirty="0" smtClean="0">
                <a:latin typeface="+mn-ea"/>
                <a:sym typeface="宋体" charset="-122"/>
              </a:rPr>
              <a:t>、</a:t>
            </a:r>
            <a:r>
              <a:rPr lang="en-US" altLang="zh-CN" sz="2400" b="1" dirty="0" smtClean="0">
                <a:latin typeface="+mn-ea"/>
                <a:sym typeface="宋体" charset="-122"/>
              </a:rPr>
              <a:t>“</a:t>
            </a:r>
            <a:r>
              <a:rPr lang="zh-CN" altLang="en-US" sz="2400" b="1" dirty="0" smtClean="0">
                <a:latin typeface="+mn-ea"/>
                <a:sym typeface="宋体" charset="-122"/>
              </a:rPr>
              <a:t>四个全面</a:t>
            </a:r>
            <a:r>
              <a:rPr lang="en-US" altLang="zh-CN" sz="2400" b="1" dirty="0" smtClean="0">
                <a:latin typeface="+mn-ea"/>
                <a:sym typeface="宋体" charset="-122"/>
              </a:rPr>
              <a:t>”</a:t>
            </a:r>
            <a:r>
              <a:rPr lang="zh-CN" altLang="en-US" sz="2400" b="1" dirty="0" smtClean="0">
                <a:latin typeface="+mn-ea"/>
                <a:sym typeface="宋体" charset="-122"/>
              </a:rPr>
              <a:t>战略布局</a:t>
            </a:r>
          </a:p>
          <a:p>
            <a:pPr>
              <a:buFont typeface="Arial" charset="0"/>
              <a:buNone/>
            </a:pPr>
            <a:r>
              <a:rPr lang="zh-CN" altLang="en-US" sz="2400" b="1" dirty="0" smtClean="0">
                <a:latin typeface="+mn-ea"/>
              </a:rPr>
              <a:t>内容：①全面建成小康社会②全面深化改革③全面依法治国④全面从严治党</a:t>
            </a:r>
          </a:p>
          <a:p>
            <a:r>
              <a:rPr lang="zh-CN" altLang="en-US" sz="2400" b="1" dirty="0" smtClean="0">
                <a:latin typeface="+mn-ea"/>
              </a:rPr>
              <a:t>意义：是新形势下中国共产党治国理政的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总方略</a:t>
            </a:r>
            <a:r>
              <a:rPr lang="zh-CN" altLang="en-US" sz="2400" b="1" dirty="0" smtClean="0">
                <a:latin typeface="+mn-ea"/>
              </a:rPr>
              <a:t>，为实现中华民族伟大复兴的中国梦提供了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理论指导</a:t>
            </a:r>
            <a:r>
              <a:rPr lang="zh-CN" altLang="en-US" sz="2400" b="1" dirty="0" smtClean="0">
                <a:latin typeface="+mn-ea"/>
              </a:rPr>
              <a:t>和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行动指南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r>
              <a:rPr lang="en-US" altLang="zh-CN" sz="2400" b="1" dirty="0" smtClean="0">
                <a:latin typeface="+mn-ea"/>
              </a:rPr>
              <a:t>3</a:t>
            </a:r>
            <a:r>
              <a:rPr lang="zh-CN" altLang="en-US" sz="2400" b="1" dirty="0" smtClean="0">
                <a:latin typeface="+mn-ea"/>
              </a:rPr>
              <a:t>、新发展理念：创新、协调、绿色、开放、共享</a:t>
            </a:r>
            <a:endParaRPr lang="en-US" altLang="zh-CN" sz="2400" b="1" dirty="0" smtClean="0">
              <a:latin typeface="+mn-ea"/>
            </a:endParaRPr>
          </a:p>
          <a:p>
            <a:pPr>
              <a:buFont typeface="Arial" charset="0"/>
              <a:buNone/>
            </a:pPr>
            <a:r>
              <a:rPr lang="en-US" altLang="zh-CN" sz="2400" b="1" dirty="0" smtClean="0">
                <a:latin typeface="+mn-ea"/>
              </a:rPr>
              <a:t>4</a:t>
            </a:r>
            <a:r>
              <a:rPr lang="zh-CN" altLang="en-US" sz="2400" b="1" dirty="0" smtClean="0">
                <a:latin typeface="+mn-ea"/>
              </a:rPr>
              <a:t>、改革开放以来，我国社会主义现代化建设取得了巨大成就。</a:t>
            </a:r>
            <a:endParaRPr lang="en-US" altLang="zh-CN" sz="2400" b="1" dirty="0" smtClean="0">
              <a:latin typeface="+mn-ea"/>
            </a:endParaRPr>
          </a:p>
          <a:p>
            <a:pPr>
              <a:buFont typeface="Arial" charset="0"/>
              <a:buNone/>
            </a:pPr>
            <a:r>
              <a:rPr lang="zh-CN" altLang="en-US" sz="2400" b="1" dirty="0" smtClean="0">
                <a:latin typeface="+mn-ea"/>
              </a:rPr>
              <a:t>举措：加快构建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开放型经济新体制</a:t>
            </a:r>
            <a:r>
              <a:rPr lang="zh-CN" altLang="en-US" sz="2400" b="1" dirty="0" smtClean="0">
                <a:latin typeface="+mn-ea"/>
              </a:rPr>
              <a:t>，深入实施</a:t>
            </a:r>
            <a:r>
              <a:rPr lang="en-US" altLang="zh-CN" sz="2400" b="1" dirty="0" smtClean="0">
                <a:solidFill>
                  <a:srgbClr val="0000CC"/>
                </a:solidFill>
                <a:latin typeface="+mn-ea"/>
              </a:rPr>
              <a:t>“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一带一路</a:t>
            </a:r>
            <a:r>
              <a:rPr lang="en-US" altLang="zh-CN" sz="2400" b="1" dirty="0" smtClean="0">
                <a:solidFill>
                  <a:srgbClr val="0000CC"/>
                </a:solidFill>
                <a:latin typeface="+mn-ea"/>
              </a:rPr>
              <a:t>”</a:t>
            </a:r>
            <a:r>
              <a:rPr lang="zh-CN" altLang="en-US" sz="2400" b="1" dirty="0" smtClean="0">
                <a:latin typeface="+mn-ea"/>
              </a:rPr>
              <a:t>建设，筹建和成立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亚洲基础设施投资银行</a:t>
            </a:r>
            <a:r>
              <a:rPr lang="zh-CN" altLang="en-US" sz="2400" b="1" dirty="0" smtClean="0">
                <a:latin typeface="+mn-ea"/>
              </a:rPr>
              <a:t>，加快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自由贸易试验区</a:t>
            </a:r>
            <a:r>
              <a:rPr lang="zh-CN" altLang="en-US" sz="2400" b="1" dirty="0" smtClean="0">
                <a:latin typeface="+mn-ea"/>
              </a:rPr>
              <a:t>建设，推进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人民币国际化</a:t>
            </a:r>
            <a:r>
              <a:rPr lang="zh-CN" altLang="en-US" sz="2400" b="1" dirty="0" smtClean="0">
                <a:latin typeface="+mn-ea"/>
              </a:rPr>
              <a:t>进程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42910" y="1"/>
            <a:ext cx="7772400" cy="571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四、民族团结与祖国统一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571480"/>
            <a:ext cx="17859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</a:rPr>
              <a:t>民族团结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0" y="1142984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 smtClean="0">
                <a:latin typeface="+mn-ea"/>
                <a:sym typeface="宋体" pitchFamily="2" charset="-122"/>
              </a:rPr>
              <a:t>1</a:t>
            </a:r>
            <a:r>
              <a:rPr lang="zh-CN" altLang="en-US" sz="2400" b="1" dirty="0" smtClean="0">
                <a:latin typeface="+mn-ea"/>
                <a:sym typeface="宋体" pitchFamily="2" charset="-122"/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sym typeface="宋体" pitchFamily="2" charset="-122"/>
              </a:rPr>
              <a:t>民族区域自治制度</a:t>
            </a:r>
            <a:r>
              <a:rPr lang="zh-CN" altLang="en-US" sz="2400" b="1" dirty="0" smtClean="0">
                <a:latin typeface="+mn-ea"/>
                <a:sym typeface="宋体" pitchFamily="2" charset="-122"/>
              </a:rPr>
              <a:t>（</a:t>
            </a:r>
            <a:r>
              <a:rPr lang="zh-CN" altLang="en-US" sz="2400" b="1" dirty="0" smtClean="0">
                <a:latin typeface="+mn-ea"/>
              </a:rPr>
              <a:t>基本政治制度</a:t>
            </a:r>
            <a:r>
              <a:rPr lang="zh-CN" altLang="en-US" sz="2400" b="1" dirty="0" smtClean="0">
                <a:latin typeface="+mn-ea"/>
                <a:sym typeface="宋体" pitchFamily="2" charset="-122"/>
              </a:rPr>
              <a:t>）</a:t>
            </a:r>
            <a:endParaRPr lang="zh-CN" altLang="en-US" sz="2400" b="1" dirty="0" smtClean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 smtClean="0">
                <a:latin typeface="+mn-ea"/>
              </a:rPr>
              <a:t>   1984</a:t>
            </a:r>
            <a:r>
              <a:rPr lang="zh-CN" altLang="en-US" sz="2400" b="1" dirty="0" smtClean="0">
                <a:latin typeface="+mn-ea"/>
              </a:rPr>
              <a:t>年，《中华人民共和国民族区域自治法》颁布实施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/>
            </a:pP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、民族自治区：</a:t>
            </a:r>
            <a:r>
              <a:rPr lang="zh-CN" altLang="en-US" sz="2400" b="1" noProof="1" smtClean="0">
                <a:latin typeface="+mn-ea"/>
                <a:cs typeface="+mn-ea"/>
              </a:rPr>
              <a:t>宁夏回族自治区、内蒙古自治区、广西壮族自治区、西藏自治区、新疆维吾尔自治区</a:t>
            </a:r>
            <a:endParaRPr lang="en-US" altLang="zh-CN" sz="2400" b="1" noProof="1" smtClean="0">
              <a:latin typeface="+mn-ea"/>
              <a:cs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2400" b="1" noProof="1" smtClean="0">
                <a:latin typeface="+mn-ea"/>
                <a:cs typeface="+mn-ea"/>
              </a:rPr>
              <a:t>3</a:t>
            </a:r>
            <a:r>
              <a:rPr lang="zh-CN" altLang="en-US" sz="2400" b="1" noProof="1" smtClean="0">
                <a:latin typeface="+mn-ea"/>
                <a:cs typeface="+mn-ea"/>
              </a:rPr>
              <a:t>、</a:t>
            </a:r>
            <a:r>
              <a:rPr lang="zh-CN" altLang="en-US" sz="2400" b="1" dirty="0" smtClean="0">
                <a:latin typeface="+mn-ea"/>
              </a:rPr>
              <a:t>意义：对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维护民族团结</a:t>
            </a:r>
            <a:r>
              <a:rPr lang="zh-CN" altLang="en-US" sz="2400" b="1" dirty="0" smtClean="0">
                <a:latin typeface="+mn-ea"/>
              </a:rPr>
              <a:t>、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巩固祖国统一</a:t>
            </a:r>
            <a:r>
              <a:rPr lang="zh-CN" altLang="en-US" sz="2400" b="1" dirty="0" smtClean="0">
                <a:latin typeface="+mn-ea"/>
              </a:rPr>
              <a:t>和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促进少数民族地区发展</a:t>
            </a:r>
            <a:r>
              <a:rPr lang="zh-CN" altLang="en-US" sz="2400" b="1" dirty="0" smtClean="0">
                <a:latin typeface="+mn-ea"/>
              </a:rPr>
              <a:t>具有重大意义，为实现各民族共同繁荣发展奠定了基础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2400" b="1" dirty="0" smtClean="0">
                <a:latin typeface="+mn-ea"/>
              </a:rPr>
              <a:t>4</a:t>
            </a:r>
            <a:r>
              <a:rPr lang="zh-CN" altLang="en-US" sz="2400" b="1" dirty="0" smtClean="0">
                <a:latin typeface="+mn-ea"/>
              </a:rPr>
              <a:t>、措施：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zh-CN" altLang="en-US" sz="2400" b="1" dirty="0" smtClean="0">
                <a:latin typeface="+mn-ea"/>
              </a:rPr>
              <a:t>①</a:t>
            </a:r>
            <a:r>
              <a:rPr lang="zh-CN" altLang="en-US" sz="2400" b="1" dirty="0" smtClean="0">
                <a:latin typeface="+mn-ea"/>
                <a:sym typeface="宋体" pitchFamily="2" charset="-122"/>
              </a:rPr>
              <a:t>在少数民族地区进行民主改革和社会主义改造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zh-CN" altLang="en-US" sz="2400" b="1" dirty="0" smtClean="0">
                <a:latin typeface="+mn-ea"/>
              </a:rPr>
              <a:t>②采取优惠政策，加强少数民族地区的经济建设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 smtClean="0">
                <a:latin typeface="+mn-ea"/>
              </a:rPr>
              <a:t>③重视少数民族的文化与发展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 smtClean="0">
                <a:latin typeface="+mn-ea"/>
              </a:rPr>
              <a:t>④进行西部大开发（</a:t>
            </a:r>
            <a:r>
              <a:rPr lang="en-US" altLang="zh-CN" sz="2400" b="1" dirty="0" smtClean="0">
                <a:latin typeface="+mn-ea"/>
              </a:rPr>
              <a:t>2006</a:t>
            </a:r>
            <a:r>
              <a:rPr lang="zh-CN" altLang="en-US" sz="2400" b="1" dirty="0" smtClean="0">
                <a:latin typeface="+mn-ea"/>
              </a:rPr>
              <a:t>年青藏铁路，加强联系、促进发展）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2859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祖国统一</a:t>
            </a:r>
            <a:endParaRPr lang="zh-CN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500042"/>
            <a:ext cx="9144000" cy="642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、邓小平和平统一、一国两制（完成祖国统一大业的基本方针）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zh-CN" sz="2000" b="1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、香港（英占）：</a:t>
            </a:r>
            <a:r>
              <a:rPr lang="en-US" altLang="zh-CN" sz="2000" b="1" dirty="0" smtClean="0">
                <a:latin typeface="+mn-ea"/>
              </a:rPr>
              <a:t>1997.7.1</a:t>
            </a:r>
            <a:r>
              <a:rPr lang="zh-CN" altLang="en-US" sz="2000" b="1" dirty="0" smtClean="0">
                <a:latin typeface="+mn-ea"/>
              </a:rPr>
              <a:t>    澳门（葡占）：</a:t>
            </a:r>
            <a:r>
              <a:rPr lang="en-US" altLang="zh-CN" sz="2000" b="1" dirty="0" smtClean="0">
                <a:latin typeface="+mn-ea"/>
              </a:rPr>
              <a:t>1999.12.20 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中国人民洗雪了百年国耻，在完成祖国统一大业的道路上迈出了重要一步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zh-CN" sz="2000" b="1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、两岸交往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①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1979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，中国人民解放军奉命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停止</a:t>
            </a:r>
            <a:r>
              <a:rPr lang="zh-CN" altLang="en-US" sz="2000" b="1" dirty="0" smtClean="0">
                <a:latin typeface="+mn-ea"/>
              </a:rPr>
              <a:t>对金门和马祖的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炮击</a:t>
            </a:r>
            <a:r>
              <a:rPr lang="zh-CN" altLang="en-US" sz="2000" b="1" dirty="0" smtClean="0">
                <a:latin typeface="+mn-ea"/>
              </a:rPr>
              <a:t>。中央人民政府倡议海峡两岸直接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通邮、通航、通商</a:t>
            </a:r>
            <a:r>
              <a:rPr lang="zh-CN" altLang="en-US" sz="2000" b="1" dirty="0" smtClean="0">
                <a:latin typeface="+mn-ea"/>
              </a:rPr>
              <a:t>，海峡两岸局势逐步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走向缓和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②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1987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台湾</a:t>
            </a:r>
            <a:r>
              <a:rPr lang="zh-CN" altLang="en-US" sz="2000" b="1" dirty="0" smtClean="0">
                <a:latin typeface="+mn-ea"/>
              </a:rPr>
              <a:t>当局开始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被迫调整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三不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”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政策</a:t>
            </a:r>
            <a:r>
              <a:rPr lang="zh-CN" altLang="en-US" sz="2000" b="1" dirty="0" smtClean="0">
                <a:latin typeface="+mn-ea"/>
              </a:rPr>
              <a:t>，逐步采取了一些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开放措施</a:t>
            </a:r>
            <a:r>
              <a:rPr lang="zh-CN" altLang="en-US" sz="2000" b="1" dirty="0" smtClean="0">
                <a:latin typeface="+mn-ea"/>
              </a:rPr>
              <a:t>。海峡两岸同胞近</a:t>
            </a:r>
            <a:r>
              <a:rPr lang="en-US" altLang="zh-CN" sz="2000" b="1" dirty="0" smtClean="0">
                <a:latin typeface="+mn-ea"/>
              </a:rPr>
              <a:t>40</a:t>
            </a:r>
            <a:r>
              <a:rPr lang="zh-CN" altLang="en-US" sz="2000" b="1" dirty="0" smtClean="0">
                <a:latin typeface="+mn-ea"/>
              </a:rPr>
              <a:t>年的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隔绝</a:t>
            </a:r>
            <a:r>
              <a:rPr lang="zh-CN" altLang="en-US" sz="2000" b="1" dirty="0" smtClean="0">
                <a:latin typeface="+mn-ea"/>
              </a:rPr>
              <a:t>状态终于被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打破</a:t>
            </a:r>
            <a:r>
              <a:rPr lang="zh-CN" altLang="en-US" sz="2000" b="1" dirty="0" smtClean="0">
                <a:latin typeface="+mn-ea"/>
              </a:rPr>
              <a:t>，两岸关系发生了历史性的变化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③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1990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台湾</a:t>
            </a:r>
            <a:r>
              <a:rPr lang="zh-CN" altLang="en-US" sz="2000" b="1" dirty="0" smtClean="0">
                <a:latin typeface="+mn-ea"/>
              </a:rPr>
              <a:t>成立了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海峡交流基金会</a:t>
            </a:r>
            <a:r>
              <a:rPr lang="zh-CN" altLang="en-US" sz="2000" b="1" dirty="0" smtClean="0">
                <a:latin typeface="+mn-ea"/>
              </a:rPr>
              <a:t>，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  1991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祖国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大陆</a:t>
            </a:r>
            <a:r>
              <a:rPr lang="zh-CN" altLang="en-US" sz="2000" b="1" dirty="0" smtClean="0">
                <a:latin typeface="+mn-ea"/>
              </a:rPr>
              <a:t>成立了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海峡两岸关系协会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1992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两会达成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海峡两岸均坚持一个中国原则</a:t>
            </a:r>
            <a:r>
              <a:rPr lang="zh-CN" altLang="en-US" sz="2000" b="1" dirty="0" smtClean="0">
                <a:latin typeface="+mn-ea"/>
              </a:rPr>
              <a:t>”的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九二共识</a:t>
            </a:r>
            <a:r>
              <a:rPr lang="en-US" altLang="zh-CN" sz="2000" b="1" dirty="0" smtClean="0"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（</a:t>
            </a:r>
            <a:r>
              <a:rPr lang="en-US" altLang="zh-CN" sz="2000" b="1" dirty="0" smtClean="0">
                <a:latin typeface="+mn-ea"/>
              </a:rPr>
              <a:t>1993</a:t>
            </a:r>
            <a:r>
              <a:rPr lang="zh-CN" altLang="en-US" sz="2000" b="1" dirty="0" smtClean="0">
                <a:latin typeface="+mn-ea"/>
              </a:rPr>
              <a:t>年汪辜会谈“加强两岸经济交流，互补互利”）</a:t>
            </a:r>
            <a:endParaRPr lang="zh-CN" altLang="en-US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⑤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1995</a:t>
            </a:r>
            <a:r>
              <a:rPr lang="zh-CN" altLang="en-US" sz="2000" b="1" dirty="0" smtClean="0">
                <a:latin typeface="+mn-ea"/>
              </a:rPr>
              <a:t>年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月，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江泽民</a:t>
            </a:r>
            <a:r>
              <a:rPr lang="zh-CN" altLang="en-US" sz="2000" b="1" dirty="0" smtClean="0">
                <a:latin typeface="+mn-ea"/>
              </a:rPr>
              <a:t>提出了发展两岸关系、推进祖国和平统一的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八项主张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⑥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2005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，中国国民党主席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连战</a:t>
            </a:r>
            <a:r>
              <a:rPr lang="zh-CN" altLang="en-US" sz="2000" b="1" dirty="0" smtClean="0">
                <a:latin typeface="+mn-ea"/>
              </a:rPr>
              <a:t>率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latin typeface="+mn-ea"/>
              </a:rPr>
              <a:t>和平之旅</a:t>
            </a:r>
            <a:r>
              <a:rPr lang="en-US" altLang="zh-CN" sz="2000" b="1" dirty="0" smtClean="0"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访问团访问中国大陆。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国共两党最高领导人</a:t>
            </a:r>
            <a:r>
              <a:rPr lang="zh-CN" altLang="en-US" sz="2000" b="1" dirty="0" smtClean="0">
                <a:latin typeface="+mn-ea"/>
              </a:rPr>
              <a:t>的会见，促进了两岸关系的新发展</a:t>
            </a:r>
          </a:p>
          <a:p>
            <a:pPr>
              <a:lnSpc>
                <a:spcPts val="2600"/>
              </a:lnSpc>
            </a:pPr>
            <a:r>
              <a:rPr lang="zh-CN" altLang="en-US" sz="2000" b="1" dirty="0" smtClean="0">
                <a:latin typeface="+mn-ea"/>
              </a:rPr>
              <a:t>⑦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2015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en-US" altLang="zh-CN" sz="2000" b="1" dirty="0" smtClean="0">
                <a:latin typeface="+mn-ea"/>
              </a:rPr>
              <a:t>11</a:t>
            </a:r>
            <a:r>
              <a:rPr lang="zh-CN" altLang="en-US" sz="2000" b="1" dirty="0" smtClean="0">
                <a:latin typeface="+mn-ea"/>
              </a:rPr>
              <a:t>月，中共中央总书记、国家主席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习近平</a:t>
            </a:r>
            <a:r>
              <a:rPr lang="zh-CN" altLang="en-US" sz="2000" b="1" dirty="0" smtClean="0">
                <a:latin typeface="+mn-ea"/>
              </a:rPr>
              <a:t>同台湾方面领导人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马英九</a:t>
            </a:r>
            <a:r>
              <a:rPr lang="zh-CN" altLang="en-US" sz="2000" b="1" dirty="0" smtClean="0">
                <a:latin typeface="+mn-ea"/>
              </a:rPr>
              <a:t>在新加坡会面，这次会面是</a:t>
            </a:r>
            <a:r>
              <a:rPr lang="en-US" altLang="zh-CN" sz="2000" b="1" dirty="0" smtClean="0">
                <a:latin typeface="+mn-ea"/>
              </a:rPr>
              <a:t>1949</a:t>
            </a:r>
            <a:r>
              <a:rPr lang="zh-CN" altLang="en-US" sz="2000" b="1" dirty="0" smtClean="0">
                <a:latin typeface="+mn-ea"/>
              </a:rPr>
              <a:t>年以来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两岸最高领导人</a:t>
            </a:r>
            <a:r>
              <a:rPr lang="zh-CN" altLang="en-US" sz="2000" b="1" dirty="0" smtClean="0">
                <a:latin typeface="+mn-ea"/>
              </a:rPr>
              <a:t>的首次会面，翻开了两岸关系历史性的一页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zh-CN" sz="2000" b="1" dirty="0" smtClean="0">
                <a:latin typeface="+mn-ea"/>
              </a:rPr>
              <a:t>2008</a:t>
            </a:r>
            <a:r>
              <a:rPr lang="zh-CN" altLang="en-US" sz="2000" b="1" dirty="0" smtClean="0">
                <a:latin typeface="+mn-ea"/>
              </a:rPr>
              <a:t>年，“三通”启动仪式（空运直航、海运直航、邮政合作）</a:t>
            </a:r>
            <a:endParaRPr lang="en-US" altLang="zh-CN" sz="2000" b="1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42910" y="1"/>
            <a:ext cx="7772400" cy="571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五、国防建设与外交成就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4282" y="428604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</a:rPr>
              <a:t>国防建设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917912"/>
            <a:ext cx="9144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、陆军：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陆军现代化水平大大提高</a:t>
            </a:r>
            <a:r>
              <a:rPr lang="zh-CN" altLang="en-US" sz="2000" b="1" dirty="0" smtClean="0">
                <a:latin typeface="+mn-ea"/>
              </a:rPr>
              <a:t>，发展成包括步兵、炮兵、装甲兵、防化兵、通信兵等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多兵种的现代化部队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武器装备不断更新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、海军：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①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第一支海军</a:t>
            </a:r>
            <a:r>
              <a:rPr lang="zh-CN" altLang="en-US" sz="2000" b="1" dirty="0" smtClean="0">
                <a:latin typeface="+mn-ea"/>
              </a:rPr>
              <a:t>部队</a:t>
            </a:r>
            <a:r>
              <a:rPr lang="en-US" altLang="zh-CN" sz="2000" b="1" dirty="0" smtClean="0">
                <a:latin typeface="+mn-ea"/>
              </a:rPr>
              <a:t>——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华东军区海军（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新中国成立前夕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）</a:t>
            </a:r>
            <a:endParaRPr lang="zh-CN" altLang="en-US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②三大舰队：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东海、南海和北海</a:t>
            </a:r>
            <a:r>
              <a:rPr lang="zh-CN" altLang="en-US" sz="2000" b="1" dirty="0" smtClean="0">
                <a:latin typeface="+mn-ea"/>
              </a:rPr>
              <a:t>舰队（新中国成立后）</a:t>
            </a: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③</a:t>
            </a:r>
            <a:r>
              <a:rPr lang="en-US" altLang="zh-CN" sz="2000" b="1" dirty="0" smtClean="0">
                <a:latin typeface="+mn-ea"/>
              </a:rPr>
              <a:t>1971</a:t>
            </a:r>
            <a:r>
              <a:rPr lang="zh-CN" altLang="en-US" sz="2000" b="1" dirty="0" smtClean="0">
                <a:latin typeface="+mn-ea"/>
              </a:rPr>
              <a:t>年，自行研制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导弹驱逐舰，</a:t>
            </a:r>
            <a:r>
              <a:rPr lang="zh-CN" altLang="en-US" sz="2000" b="1" dirty="0" smtClean="0">
                <a:latin typeface="+mn-ea"/>
              </a:rPr>
              <a:t>接着陆续装备自己制造的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核潜艇</a:t>
            </a:r>
          </a:p>
          <a:p>
            <a:r>
              <a:rPr lang="zh-CN" altLang="en-US" sz="2000" b="1" dirty="0" smtClean="0">
                <a:latin typeface="+mn-ea"/>
              </a:rPr>
              <a:t>④进入</a:t>
            </a:r>
            <a:r>
              <a:rPr lang="en-US" altLang="zh-CN" sz="2000" b="1" dirty="0" smtClean="0">
                <a:latin typeface="+mn-ea"/>
              </a:rPr>
              <a:t>20</a:t>
            </a:r>
            <a:r>
              <a:rPr lang="zh-CN" altLang="en-US" sz="2000" b="1" dirty="0" smtClean="0">
                <a:latin typeface="+mn-ea"/>
              </a:rPr>
              <a:t>世纪</a:t>
            </a:r>
            <a:r>
              <a:rPr lang="en-US" altLang="zh-CN" sz="2000" b="1" dirty="0" smtClean="0">
                <a:latin typeface="+mn-ea"/>
              </a:rPr>
              <a:t>90</a:t>
            </a:r>
            <a:r>
              <a:rPr lang="zh-CN" altLang="en-US" sz="2000" b="1" dirty="0" smtClean="0">
                <a:latin typeface="+mn-ea"/>
              </a:rPr>
              <a:t>年代以后，海军已由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水面舰艇部队、潜艇部队、海军航空兵、海军陆战队</a:t>
            </a:r>
            <a:r>
              <a:rPr lang="zh-CN" altLang="en-US" sz="2000" b="1" dirty="0" smtClean="0">
                <a:latin typeface="+mn-ea"/>
              </a:rPr>
              <a:t>等多兵种组成</a:t>
            </a:r>
          </a:p>
          <a:p>
            <a:r>
              <a:rPr lang="zh-CN" altLang="en-US" sz="2000" b="1" dirty="0" smtClean="0">
                <a:latin typeface="+mn-ea"/>
              </a:rPr>
              <a:t>⑤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2012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en-US" altLang="zh-CN" sz="2000" b="1" dirty="0" smtClean="0">
                <a:latin typeface="+mn-ea"/>
              </a:rPr>
              <a:t>9</a:t>
            </a:r>
            <a:r>
              <a:rPr lang="zh-CN" altLang="en-US" sz="2000" b="1" dirty="0" smtClean="0">
                <a:latin typeface="+mn-ea"/>
              </a:rPr>
              <a:t>月，我国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第一艘航空母舰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辽宁舰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交接入列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、空军：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①人民空军建立早期，飞机主要从国外购买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②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1956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，我国仿制成功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歼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-5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型歼击机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4</a:t>
            </a:r>
            <a:r>
              <a:rPr lang="zh-CN" altLang="en-US" sz="2000" b="1" dirty="0" smtClean="0">
                <a:latin typeface="+mn-ea"/>
              </a:rPr>
              <a:t>、导弹部队：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1966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第二炮兵部队</a:t>
            </a:r>
            <a:r>
              <a:rPr lang="en-US" altLang="zh-CN" sz="2000" b="1" dirty="0" smtClean="0">
                <a:latin typeface="+mn-ea"/>
              </a:rPr>
              <a:t>——2015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火箭军</a:t>
            </a:r>
            <a:r>
              <a:rPr lang="zh-CN" altLang="en-US" sz="2000" b="1" dirty="0" smtClean="0">
                <a:latin typeface="+mn-ea"/>
              </a:rPr>
              <a:t>（核反击、常规导弹精确打击）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5</a:t>
            </a:r>
            <a:r>
              <a:rPr lang="zh-CN" altLang="en-US" sz="2000" b="1" dirty="0" smtClean="0">
                <a:latin typeface="+mn-ea"/>
              </a:rPr>
              <a:t>、新时代强军之路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2014</a:t>
            </a:r>
            <a:r>
              <a:rPr lang="zh-CN" altLang="en-US" sz="2000" b="1" dirty="0" smtClean="0">
                <a:latin typeface="+mn-ea"/>
              </a:rPr>
              <a:t>年  全军政治工作会议（福建古田）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形成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军委管总、战区主战、军种主建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新格局</a:t>
            </a:r>
            <a:r>
              <a:rPr lang="zh-CN" altLang="en-US" sz="2000" b="1" dirty="0" smtClean="0">
                <a:latin typeface="+mn-ea"/>
              </a:rPr>
              <a:t>，军队组织架构和力量体系实现革命性重塑，</a:t>
            </a:r>
            <a:endParaRPr lang="zh-CN" altLang="en-US" sz="2000" b="1" dirty="0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4282" y="0"/>
            <a:ext cx="87154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/>
              <a:t>外交成就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0" y="500042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1.</a:t>
            </a:r>
            <a:r>
              <a:rPr lang="zh-CN" altLang="en-US" sz="2000" b="1" dirty="0" smtClean="0">
                <a:latin typeface="+mn-ea"/>
              </a:rPr>
              <a:t>外交政策：新中国成立后，奉行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独立自主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和平外交</a:t>
            </a:r>
            <a:r>
              <a:rPr lang="zh-CN" altLang="en-US" sz="2000" b="1" dirty="0" smtClean="0">
                <a:latin typeface="+mn-ea"/>
              </a:rPr>
              <a:t>政策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  <a:sym typeface="宋体" pitchFamily="2" charset="-122"/>
              </a:rPr>
              <a:t>2</a:t>
            </a:r>
            <a:r>
              <a:rPr lang="zh-CN" altLang="en-US" sz="2000" b="1" dirty="0" smtClean="0">
                <a:latin typeface="+mn-ea"/>
                <a:sym typeface="宋体" pitchFamily="2" charset="-122"/>
              </a:rPr>
              <a:t>、和平共处五项原则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①</a:t>
            </a:r>
            <a:r>
              <a:rPr lang="en-US" altLang="zh-CN" sz="2000" b="1" dirty="0" smtClean="0">
                <a:latin typeface="+mn-ea"/>
              </a:rPr>
              <a:t>1953</a:t>
            </a:r>
            <a:r>
              <a:rPr lang="zh-CN" altLang="en-US" sz="2000" b="1" dirty="0" smtClean="0">
                <a:latin typeface="+mn-ea"/>
              </a:rPr>
              <a:t>年，周恩来在接见印度政府代表团时首次提出。</a:t>
            </a:r>
          </a:p>
          <a:p>
            <a:r>
              <a:rPr lang="zh-CN" altLang="en-US" sz="2000" b="1" dirty="0" smtClean="0">
                <a:latin typeface="+mn-ea"/>
              </a:rPr>
              <a:t>②内容：互相尊重主权和领土完整、互不侵犯、互不干涉内政、平等互利、和平共处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③影响：在国际上产生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深远影响</a:t>
            </a:r>
            <a:r>
              <a:rPr lang="zh-CN" altLang="en-US" sz="2000" b="1" dirty="0" smtClean="0">
                <a:latin typeface="+mn-ea"/>
              </a:rPr>
              <a:t>，被世界上越来越多的国家所接受，成为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处理国与国之间关系的基本准则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3.</a:t>
            </a:r>
            <a:r>
              <a:rPr lang="zh-CN" altLang="en-US" sz="2000" b="1" dirty="0" smtClean="0">
                <a:latin typeface="+mn-ea"/>
              </a:rPr>
              <a:t>万隆会议</a:t>
            </a:r>
          </a:p>
          <a:p>
            <a:r>
              <a:rPr lang="zh-CN" altLang="en-US" sz="2000" b="1" dirty="0" smtClean="0">
                <a:latin typeface="+mn-ea"/>
              </a:rPr>
              <a:t>①召开：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1955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latin typeface="+mn-ea"/>
              </a:rPr>
              <a:t>，印度尼西亚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万隆</a:t>
            </a:r>
            <a:endParaRPr lang="zh-CN" altLang="en-US" sz="20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②地位：第一次没有殖民主义国家参加的亚非会议</a:t>
            </a:r>
            <a:endParaRPr lang="zh-CN" altLang="en-US" sz="20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③结果：周恩来提出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求同存异</a:t>
            </a:r>
            <a:r>
              <a:rPr lang="zh-CN" altLang="en-US" sz="2000" b="1" dirty="0" smtClean="0">
                <a:latin typeface="+mn-ea"/>
              </a:rPr>
              <a:t>”方针，促进了会议的圆满成功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④意义：加强了同亚非各国的团结与合作</a:t>
            </a:r>
            <a:endParaRPr lang="en-US" altLang="zh-CN" sz="2000" b="1" dirty="0" smtClean="0">
              <a:latin typeface="+mn-ea"/>
            </a:endParaRPr>
          </a:p>
          <a:p>
            <a:pPr>
              <a:defRPr/>
            </a:pPr>
            <a:r>
              <a:rPr lang="en-US" altLang="zh-CN" sz="2000" b="1" dirty="0" smtClean="0">
                <a:latin typeface="+mn-ea"/>
              </a:rPr>
              <a:t>4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zh-CN" altLang="en-US" sz="2000" b="1" dirty="0" smtClean="0">
                <a:solidFill>
                  <a:schemeClr val="accent1">
                    <a:lumMod val="10000"/>
                  </a:schemeClr>
                </a:solidFill>
                <a:latin typeface="+mn-ea"/>
              </a:rPr>
              <a:t>恢复联合国合法席位：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1971年</a:t>
            </a:r>
            <a:r>
              <a:rPr lang="zh-CN" altLang="en-US" sz="2000" b="1" dirty="0" smtClean="0">
                <a:solidFill>
                  <a:schemeClr val="accent1">
                    <a:lumMod val="10000"/>
                  </a:schemeClr>
                </a:solidFill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第26届联合国大会（</a:t>
            </a:r>
            <a:r>
              <a:rPr lang="zh-CN" altLang="en-US" sz="2000" b="1" dirty="0" smtClean="0">
                <a:solidFill>
                  <a:schemeClr val="accent1">
                    <a:lumMod val="10000"/>
                  </a:schemeClr>
                </a:solidFill>
                <a:latin typeface="+mn-ea"/>
              </a:rPr>
              <a:t>中国外交的重大胜利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）</a:t>
            </a: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5</a:t>
            </a:r>
            <a:r>
              <a:rPr lang="zh-CN" altLang="en-US" sz="2000" b="1" dirty="0" smtClean="0">
                <a:latin typeface="+mn-ea"/>
              </a:rPr>
              <a:t>、中美建交：①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1971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年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月，基辛格访华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             ②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1972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年 尼克松访华 （发表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《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联合公报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》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中美关系正常化）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             ③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1979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年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月，中美正式建交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6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、</a:t>
            </a:r>
            <a:r>
              <a:rPr lang="zh-CN" altLang="en-US" sz="2000" b="1" dirty="0" smtClean="0">
                <a:latin typeface="+mn-ea"/>
              </a:rPr>
              <a:t>中日建交：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1972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年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日本首相田中角荣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访华，中日两国正式建立外交关系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、</a:t>
            </a:r>
            <a:r>
              <a:rPr lang="zh-CN" altLang="en-US" sz="2000" b="1" dirty="0" smtClean="0">
                <a:latin typeface="+mn-ea"/>
              </a:rPr>
              <a:t>外交布局：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形成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全方位、多层次、立体化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的外交布局</a:t>
            </a:r>
            <a:endParaRPr lang="en-US" altLang="zh-CN" sz="2000" b="1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2000" b="1" dirty="0" smtClean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、表现：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首届“一带一路”国际合作高峰论坛、亚太经合组织领导人非正式会议、二十国集团领导人峰会、金砖国家领导人会晤、亚信峰会</a:t>
            </a:r>
          </a:p>
        </p:txBody>
      </p:sp>
      <p:sp>
        <p:nvSpPr>
          <p:cNvPr id="4" name="矩形 3"/>
          <p:cNvSpPr/>
          <p:nvPr/>
        </p:nvSpPr>
        <p:spPr>
          <a:xfrm>
            <a:off x="2286000" y="199783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42910" y="1"/>
            <a:ext cx="7772400" cy="571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六、科技文化与社会生活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57148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1.“</a:t>
            </a:r>
            <a:r>
              <a:rPr lang="zh-CN" altLang="en-US" sz="2000" b="1" dirty="0" smtClean="0">
                <a:latin typeface="+mn-ea"/>
              </a:rPr>
              <a:t>两弹一星</a:t>
            </a:r>
            <a:r>
              <a:rPr lang="en-US" altLang="zh-CN" sz="2000" b="1" dirty="0" smtClean="0">
                <a:latin typeface="+mn-ea"/>
              </a:rPr>
              <a:t>”</a:t>
            </a:r>
          </a:p>
          <a:p>
            <a:r>
              <a:rPr lang="zh-CN" altLang="en-US" sz="2000" b="1" dirty="0" smtClean="0">
                <a:latin typeface="+mn-ea"/>
              </a:rPr>
              <a:t>①</a:t>
            </a:r>
            <a:r>
              <a:rPr lang="en-US" altLang="zh-CN" sz="2000" b="1" dirty="0" smtClean="0">
                <a:latin typeface="+mn-ea"/>
              </a:rPr>
              <a:t>1964</a:t>
            </a:r>
            <a:r>
              <a:rPr lang="zh-CN" altLang="en-US" sz="2000" b="1" dirty="0" smtClean="0">
                <a:latin typeface="+mn-ea"/>
              </a:rPr>
              <a:t>年</a:t>
            </a:r>
            <a:r>
              <a:rPr lang="en-US" altLang="zh-CN" sz="2000" b="1" dirty="0" smtClean="0">
                <a:latin typeface="+mn-ea"/>
              </a:rPr>
              <a:t>10</a:t>
            </a:r>
            <a:r>
              <a:rPr lang="zh-CN" altLang="en-US" sz="2000" b="1" dirty="0" smtClean="0">
                <a:latin typeface="+mn-ea"/>
              </a:rPr>
              <a:t>月</a:t>
            </a:r>
            <a:r>
              <a:rPr lang="en-US" altLang="zh-CN" sz="2000" b="1" dirty="0" smtClean="0">
                <a:latin typeface="+mn-ea"/>
              </a:rPr>
              <a:t>16</a:t>
            </a:r>
            <a:r>
              <a:rPr lang="zh-CN" altLang="en-US" sz="2000" b="1" dirty="0" smtClean="0">
                <a:latin typeface="+mn-ea"/>
              </a:rPr>
              <a:t>日，我国第一颗原子弹爆炸成功</a:t>
            </a: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②1966年，我国第一颗装</a:t>
            </a:r>
            <a:r>
              <a:rPr lang="zh-CN" altLang="en-US" sz="2000" b="1" dirty="0" smtClean="0">
                <a:latin typeface="+mn-ea"/>
              </a:rPr>
              <a:t>有核弹头的地地导弹飞行试验取得成功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③1967年，我国第一颗氢弹爆炸成功</a:t>
            </a:r>
          </a:p>
          <a:p>
            <a:r>
              <a:rPr lang="en-US" altLang="zh-CN" sz="2000" b="1" dirty="0" smtClean="0">
                <a:latin typeface="+mn-ea"/>
              </a:rPr>
              <a:t>④1970年，我国成功地发射了第一颗人造地球卫星——</a:t>
            </a:r>
            <a:r>
              <a:rPr lang="en-US" altLang="zh-CN" sz="2000" b="1" dirty="0" err="1" smtClean="0">
                <a:latin typeface="+mn-ea"/>
              </a:rPr>
              <a:t>东方红一号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邓稼先</a:t>
            </a:r>
            <a:r>
              <a:rPr lang="en-US" altLang="zh-CN" sz="2000" b="1" dirty="0" smtClean="0">
                <a:latin typeface="+mn-ea"/>
              </a:rPr>
              <a:t>——</a:t>
            </a:r>
            <a:r>
              <a:rPr lang="zh-CN" altLang="en-US" sz="2000" b="1" dirty="0" smtClean="0">
                <a:latin typeface="+mn-ea"/>
              </a:rPr>
              <a:t>“两弹元勋”、钱学森</a:t>
            </a:r>
            <a:r>
              <a:rPr lang="en-US" altLang="zh-CN" sz="2000" b="1" dirty="0" smtClean="0">
                <a:latin typeface="+mn-ea"/>
              </a:rPr>
              <a:t>——</a:t>
            </a:r>
            <a:r>
              <a:rPr lang="zh-CN" altLang="en-US" sz="2000" b="1" dirty="0" smtClean="0">
                <a:latin typeface="+mn-ea"/>
              </a:rPr>
              <a:t>“中国导弹之父”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latin typeface="+mn-ea"/>
              </a:rPr>
              <a:t>意义：极大地鼓舞了中国人民的的志气，振奋了中华民族的精神。它打破了当时有核大国的核垄断，增强了我国的国防实力，大大提高了我国的国际地位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2.</a:t>
            </a:r>
            <a:r>
              <a:rPr lang="zh-CN" altLang="en-US" sz="2000" b="1" dirty="0" smtClean="0">
                <a:latin typeface="+mn-ea"/>
              </a:rPr>
              <a:t>漫步太空</a:t>
            </a:r>
          </a:p>
          <a:p>
            <a:r>
              <a:rPr lang="zh-CN" altLang="en-US" sz="2000" b="1" dirty="0" smtClean="0">
                <a:latin typeface="+mn-ea"/>
              </a:rPr>
              <a:t>①</a:t>
            </a:r>
            <a:r>
              <a:rPr lang="en-US" altLang="zh-CN" sz="2000" b="1" dirty="0" smtClean="0">
                <a:latin typeface="+mn-ea"/>
              </a:rPr>
              <a:t>1999</a:t>
            </a:r>
            <a:r>
              <a:rPr lang="zh-CN" altLang="en-US" sz="2000" b="1" dirty="0" smtClean="0">
                <a:latin typeface="+mn-ea"/>
              </a:rPr>
              <a:t>年</a:t>
            </a:r>
            <a:r>
              <a:rPr lang="en-US" altLang="zh-CN" sz="2000" b="1" dirty="0" smtClean="0">
                <a:latin typeface="+mn-ea"/>
              </a:rPr>
              <a:t>11</a:t>
            </a:r>
            <a:r>
              <a:rPr lang="zh-CN" altLang="en-US" sz="2000" b="1" dirty="0" smtClean="0">
                <a:latin typeface="+mn-ea"/>
              </a:rPr>
              <a:t>月，神舟一号无人飞船，开启了我国的飞天之旅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②2003年10月，杨利伟 神舟五号，世界上第三个掌握载人航天技术国家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000" b="1" dirty="0" smtClean="0">
                <a:latin typeface="+mn-ea"/>
              </a:rPr>
              <a:t>③2008年9月，神舟七号  翟志刚实现了太空行走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20</a:t>
            </a:r>
            <a:r>
              <a:rPr lang="zh-CN" altLang="en-US" sz="2000" b="1" dirty="0" smtClean="0">
                <a:latin typeface="+mn-ea"/>
              </a:rPr>
              <a:t>世纪</a:t>
            </a:r>
            <a:r>
              <a:rPr lang="en-US" altLang="zh-CN" sz="2000" b="1" dirty="0" smtClean="0">
                <a:latin typeface="+mn-ea"/>
              </a:rPr>
              <a:t>70</a:t>
            </a:r>
            <a:r>
              <a:rPr lang="zh-CN" altLang="en-US" sz="2000" b="1" dirty="0" smtClean="0">
                <a:latin typeface="+mn-ea"/>
              </a:rPr>
              <a:t>年代，袁隆平成功培育出籼型杂交水稻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sz="2000" b="1" dirty="0" smtClean="0">
                <a:latin typeface="+mn-ea"/>
              </a:rPr>
              <a:t>4</a:t>
            </a:r>
            <a:r>
              <a:rPr lang="zh-CN" altLang="en-US" sz="2000" b="1" dirty="0" smtClean="0">
                <a:latin typeface="+mn-ea"/>
              </a:rPr>
              <a:t>、屠呦呦   青蒿素   2015年诺贝尔生理学或医学奖</a:t>
            </a:r>
            <a:endParaRPr lang="en-US" altLang="zh-CN" sz="2000" b="1" dirty="0" smtClean="0">
              <a:latin typeface="+mn-ea"/>
            </a:endParaRPr>
          </a:p>
          <a:p>
            <a:pPr>
              <a:buFont typeface="Arial" pitchFamily="34" charset="0"/>
              <a:buNone/>
            </a:pPr>
            <a:r>
              <a:rPr lang="en-US" altLang="zh-CN" sz="2000" b="1" dirty="0" smtClean="0">
                <a:latin typeface="+mn-ea"/>
              </a:rPr>
              <a:t>5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latin typeface="+mn-ea"/>
              </a:rPr>
              <a:t>双百</a:t>
            </a:r>
            <a:r>
              <a:rPr lang="en-US" altLang="zh-CN" sz="2000" b="1" dirty="0" smtClean="0"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方针：艺术问题上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latin typeface="+mn-ea"/>
              </a:rPr>
              <a:t>百花齐放</a:t>
            </a:r>
            <a:r>
              <a:rPr lang="en-US" altLang="zh-CN" sz="2000" b="1" dirty="0" smtClean="0">
                <a:latin typeface="+mn-ea"/>
              </a:rPr>
              <a:t>”</a:t>
            </a:r>
            <a:r>
              <a:rPr lang="zh-CN" altLang="en-US" sz="2000" b="1" dirty="0" smtClean="0">
                <a:latin typeface="+mn-ea"/>
              </a:rPr>
              <a:t>、学术问题上</a:t>
            </a:r>
            <a:r>
              <a:rPr lang="en-US" altLang="zh-CN" sz="2000" b="1" dirty="0" smtClean="0">
                <a:latin typeface="+mn-ea"/>
              </a:rPr>
              <a:t>“</a:t>
            </a:r>
            <a:r>
              <a:rPr lang="zh-CN" altLang="en-US" sz="2000" b="1" dirty="0" smtClean="0">
                <a:latin typeface="+mn-ea"/>
              </a:rPr>
              <a:t>百家争鸣</a:t>
            </a:r>
            <a:r>
              <a:rPr lang="en-US" altLang="zh-CN" sz="2000" b="1" dirty="0" smtClean="0">
                <a:latin typeface="+mn-ea"/>
              </a:rPr>
              <a:t>”</a:t>
            </a:r>
          </a:p>
          <a:p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长篇小说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红岩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青春之歌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话剧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茶馆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大型音乐舞蹈史诗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东方红</a:t>
            </a:r>
          </a:p>
          <a:p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电影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英雄儿女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》《</a:t>
            </a:r>
            <a:r>
              <a:rPr lang="zh-CN" altLang="en-US" sz="2000" b="1" dirty="0" smtClean="0">
                <a:solidFill>
                  <a:srgbClr val="0000CC"/>
                </a:solidFill>
                <a:latin typeface="+mn-ea"/>
              </a:rPr>
              <a:t>林则徐</a:t>
            </a:r>
            <a:r>
              <a:rPr lang="en-US" altLang="zh-CN" sz="2000" b="1" dirty="0" smtClean="0">
                <a:solidFill>
                  <a:srgbClr val="0000CC"/>
                </a:solidFill>
                <a:latin typeface="+mn-ea"/>
              </a:rPr>
              <a:t>》</a:t>
            </a:r>
          </a:p>
          <a:p>
            <a:r>
              <a:rPr lang="en-US" altLang="zh-CN" sz="2000" b="1" dirty="0" smtClean="0">
                <a:latin typeface="+mn-ea"/>
              </a:rPr>
              <a:t>6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2012</a:t>
            </a:r>
            <a:r>
              <a:rPr lang="zh-CN" altLang="en-US" sz="2000" b="1" dirty="0" smtClean="0">
                <a:latin typeface="+mn-ea"/>
              </a:rPr>
              <a:t>年，中国作家莫言获得获得诺贝尔文学奖</a:t>
            </a:r>
          </a:p>
        </p:txBody>
      </p:sp>
      <p:sp>
        <p:nvSpPr>
          <p:cNvPr id="4" name="矩形 3"/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286000" y="26903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endParaRPr lang="zh-CN" altLang="en-US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2645</Words>
  <PresentationFormat>全屏显示(4:3)</PresentationFormat>
  <Paragraphs>247</Paragraphs>
  <Slides>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Office 主题</vt:lpstr>
      <vt:lpstr>幻灯片 1</vt:lpstr>
      <vt:lpstr>一、中华人民共和国的成立和巩固</vt:lpstr>
      <vt:lpstr>幻灯片 3</vt:lpstr>
      <vt:lpstr>幻灯片 4</vt:lpstr>
      <vt:lpstr>幻灯片 5</vt:lpstr>
      <vt:lpstr>幻灯片 6</vt:lpstr>
      <vt:lpstr>经济体制改革（目标：建立社会主义市场经济体制）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yangmin</dc:creator>
  <cp:lastModifiedBy>yangmin</cp:lastModifiedBy>
  <cp:revision>109</cp:revision>
  <dcterms:created xsi:type="dcterms:W3CDTF">2018-04-18T00:32:44Z</dcterms:created>
  <dcterms:modified xsi:type="dcterms:W3CDTF">2018-06-13T00:06:04Z</dcterms:modified>
</cp:coreProperties>
</file>