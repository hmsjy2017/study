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36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2018-6-11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2018-6-11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2018-6-11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2018-6-11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2018-6-11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2018-6-11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2018-6-11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2018-6-11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2018-6-11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2018-6-11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2018-6-11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2018-6-11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9144000" cy="68562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3200" dirty="0" smtClean="0">
                <a:solidFill>
                  <a:prstClr val="black"/>
                </a:solidFill>
                <a:latin typeface="宋体"/>
              </a:rPr>
              <a:t>第一单元</a:t>
            </a:r>
            <a:endParaRPr lang="en-US" altLang="zh-CN" sz="3200" dirty="0" smtClean="0">
              <a:solidFill>
                <a:prstClr val="black"/>
              </a:solidFill>
              <a:latin typeface="宋体"/>
            </a:endParaRPr>
          </a:p>
          <a:p>
            <a:pPr lvl="0">
              <a:lnSpc>
                <a:spcPts val="3200"/>
              </a:lnSpc>
            </a:pPr>
            <a:r>
              <a:rPr lang="zh-CN" altLang="en-US" sz="2400" b="1" dirty="0" smtClean="0">
                <a:solidFill>
                  <a:srgbClr val="0000CC"/>
                </a:solidFill>
                <a:latin typeface="宋体"/>
              </a:rPr>
              <a:t>知识回顾：</a:t>
            </a:r>
            <a:endParaRPr lang="en-US" altLang="zh-CN" sz="2400" b="1" dirty="0" smtClean="0">
              <a:solidFill>
                <a:srgbClr val="0000CC"/>
              </a:solidFill>
              <a:latin typeface="宋体"/>
            </a:endParaRPr>
          </a:p>
          <a:p>
            <a:pPr lvl="0">
              <a:lnSpc>
                <a:spcPct val="110000"/>
              </a:lnSpc>
            </a:pPr>
            <a:r>
              <a:rPr lang="zh-CN" altLang="en-US" sz="2000" b="1" dirty="0" smtClean="0">
                <a:solidFill>
                  <a:prstClr val="black"/>
                </a:solidFill>
                <a:latin typeface="宋体"/>
              </a:rPr>
              <a:t>①中国人民政治协商会议②</a:t>
            </a:r>
            <a:r>
              <a:rPr lang="en-US" altLang="zh-CN" sz="2000" b="1" dirty="0" smtClean="0">
                <a:solidFill>
                  <a:prstClr val="black"/>
                </a:solidFill>
                <a:latin typeface="宋体"/>
              </a:rPr>
              <a:t>《</a:t>
            </a:r>
            <a:r>
              <a:rPr lang="zh-CN" altLang="en-US" sz="2000" b="1" dirty="0" smtClean="0">
                <a:solidFill>
                  <a:prstClr val="black"/>
                </a:solidFill>
                <a:latin typeface="宋体"/>
              </a:rPr>
              <a:t>共同纲领</a:t>
            </a:r>
            <a:r>
              <a:rPr lang="en-US" altLang="zh-CN" sz="2000" b="1" dirty="0" smtClean="0">
                <a:solidFill>
                  <a:prstClr val="black"/>
                </a:solidFill>
                <a:latin typeface="宋体"/>
              </a:rPr>
              <a:t>》</a:t>
            </a:r>
            <a:r>
              <a:rPr lang="zh-CN" altLang="en-US" sz="2000" b="1" dirty="0" smtClean="0">
                <a:solidFill>
                  <a:prstClr val="black"/>
                </a:solidFill>
                <a:latin typeface="宋体"/>
              </a:rPr>
              <a:t>③开国大典④新纪元⑤封建主义⑥独立自主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/>
              </a:rPr>
              <a:t>⑦阿沛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/>
              </a:rPr>
              <a:t>·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/>
              </a:rPr>
              <a:t>阿旺晋美</a:t>
            </a:r>
            <a:r>
              <a:rPr lang="zh-CN" altLang="en-US" sz="2000" b="1" dirty="0" smtClean="0">
                <a:solidFill>
                  <a:prstClr val="black"/>
                </a:solidFill>
                <a:latin typeface="宋体"/>
              </a:rPr>
              <a:t>⑧祖国大陆⑨保家卫国⑩彭德怀⑪黄继光⑫经济建设⑬国际地位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/>
              </a:rPr>
              <a:t>⑭封建土地所有制</a:t>
            </a:r>
            <a:r>
              <a:rPr lang="zh-CN" altLang="en-US" sz="2000" b="1" dirty="0" smtClean="0">
                <a:solidFill>
                  <a:prstClr val="black"/>
                </a:solidFill>
                <a:latin typeface="宋体"/>
              </a:rPr>
              <a:t>⑮</a:t>
            </a:r>
            <a:r>
              <a:rPr lang="en-US" altLang="zh-CN" sz="2000" b="1" dirty="0" smtClean="0">
                <a:solidFill>
                  <a:prstClr val="black"/>
                </a:solidFill>
                <a:latin typeface="宋体"/>
              </a:rPr>
              <a:t>《</a:t>
            </a:r>
            <a:r>
              <a:rPr lang="zh-CN" altLang="en-US" sz="2000" b="1" dirty="0" smtClean="0">
                <a:solidFill>
                  <a:prstClr val="black"/>
                </a:solidFill>
                <a:latin typeface="宋体"/>
              </a:rPr>
              <a:t>中华人民共和国土地改革法</a:t>
            </a:r>
            <a:r>
              <a:rPr lang="en-US" altLang="zh-CN" sz="2000" b="1" dirty="0" smtClean="0">
                <a:solidFill>
                  <a:prstClr val="black"/>
                </a:solidFill>
                <a:latin typeface="宋体"/>
              </a:rPr>
              <a:t>》</a:t>
            </a:r>
            <a:r>
              <a:rPr lang="zh-CN" altLang="en-US" sz="2000" b="1" dirty="0" smtClean="0">
                <a:solidFill>
                  <a:prstClr val="black"/>
                </a:solidFill>
                <a:latin typeface="宋体"/>
              </a:rPr>
              <a:t>⑯地主阶级⑰封建土地制度⑱农村生产力⑲工业化</a:t>
            </a:r>
            <a:endParaRPr lang="en-US" altLang="zh-CN" sz="2000" b="1" dirty="0" smtClean="0">
              <a:solidFill>
                <a:prstClr val="black"/>
              </a:solidFill>
              <a:latin typeface="宋体"/>
            </a:endParaRPr>
          </a:p>
          <a:p>
            <a:pPr lvl="0">
              <a:lnSpc>
                <a:spcPts val="3200"/>
              </a:lnSpc>
            </a:pPr>
            <a:r>
              <a:rPr lang="zh-CN" altLang="en-US" sz="2400" b="1" dirty="0" smtClean="0">
                <a:solidFill>
                  <a:srgbClr val="0000CC"/>
                </a:solidFill>
                <a:latin typeface="宋体"/>
              </a:rPr>
              <a:t>课堂练习：</a:t>
            </a:r>
            <a:endParaRPr lang="en-US" altLang="zh-CN" sz="2400" b="1" dirty="0" smtClean="0">
              <a:solidFill>
                <a:srgbClr val="0000CC"/>
              </a:solidFill>
              <a:latin typeface="宋体"/>
            </a:endParaRPr>
          </a:p>
          <a:p>
            <a:pPr lvl="0">
              <a:lnSpc>
                <a:spcPct val="110000"/>
              </a:lnSpc>
            </a:pPr>
            <a:r>
              <a:rPr lang="zh-CN" altLang="en-US" sz="2200" b="1" dirty="0" smtClean="0">
                <a:solidFill>
                  <a:prstClr val="black"/>
                </a:solidFill>
                <a:latin typeface="宋体"/>
              </a:rPr>
              <a:t>（</a:t>
            </a:r>
            <a:r>
              <a:rPr lang="en-US" altLang="zh-CN" sz="2200" b="1" dirty="0" smtClean="0">
                <a:solidFill>
                  <a:prstClr val="black"/>
                </a:solidFill>
                <a:latin typeface="宋体"/>
              </a:rPr>
              <a:t>1</a:t>
            </a:r>
            <a:r>
              <a:rPr lang="zh-CN" altLang="en-US" sz="2200" b="1" dirty="0" smtClean="0">
                <a:solidFill>
                  <a:prstClr val="black"/>
                </a:solidFill>
                <a:latin typeface="宋体"/>
              </a:rPr>
              <a:t>）开国大典   </a:t>
            </a:r>
            <a:r>
              <a:rPr lang="en-US" altLang="zh-CN" sz="2200" b="1" dirty="0" smtClean="0">
                <a:solidFill>
                  <a:prstClr val="black"/>
                </a:solidFill>
                <a:latin typeface="宋体"/>
              </a:rPr>
              <a:t>1949.10.1</a:t>
            </a:r>
          </a:p>
          <a:p>
            <a:pPr lvl="0">
              <a:lnSpc>
                <a:spcPct val="110000"/>
              </a:lnSpc>
            </a:pPr>
            <a:r>
              <a:rPr lang="zh-CN" altLang="en-US" sz="2200" b="1" dirty="0" smtClean="0">
                <a:solidFill>
                  <a:prstClr val="black"/>
                </a:solidFill>
                <a:latin typeface="宋体"/>
              </a:rPr>
              <a:t>（</a:t>
            </a:r>
            <a:r>
              <a:rPr lang="en-US" altLang="zh-CN" sz="2200" b="1" dirty="0" smtClean="0">
                <a:solidFill>
                  <a:prstClr val="black"/>
                </a:solidFill>
                <a:latin typeface="宋体"/>
              </a:rPr>
              <a:t>2</a:t>
            </a:r>
            <a:r>
              <a:rPr lang="zh-CN" altLang="en-US" sz="2200" b="1" dirty="0" smtClean="0">
                <a:solidFill>
                  <a:prstClr val="black"/>
                </a:solidFill>
                <a:latin typeface="宋体"/>
              </a:rPr>
              <a:t>）标志着中华人民共和国的成立</a:t>
            </a:r>
            <a:endParaRPr lang="en-US" altLang="zh-CN" sz="2200" b="1" dirty="0" smtClean="0">
              <a:solidFill>
                <a:prstClr val="black"/>
              </a:solidFill>
              <a:latin typeface="宋体"/>
            </a:endParaRPr>
          </a:p>
          <a:p>
            <a:pPr marL="342900" lvl="0" indent="-342900">
              <a:lnSpc>
                <a:spcPct val="110000"/>
              </a:lnSpc>
              <a:defRPr/>
            </a:pPr>
            <a:r>
              <a:rPr lang="zh-CN" altLang="en-US" sz="2200" b="1" dirty="0" smtClean="0">
                <a:solidFill>
                  <a:prstClr val="black"/>
                </a:solidFill>
                <a:latin typeface="宋体"/>
              </a:rPr>
              <a:t> 意义：①中华人民共和国的成立，开辟了中国历史新纪元。</a:t>
            </a:r>
          </a:p>
          <a:p>
            <a:pPr marL="342900" lvl="0" indent="-342900">
              <a:lnSpc>
                <a:spcPct val="110000"/>
              </a:lnSpc>
              <a:defRPr/>
            </a:pPr>
            <a:r>
              <a:rPr lang="zh-CN" altLang="en-US" sz="2200" b="1" dirty="0" smtClean="0">
                <a:solidFill>
                  <a:prstClr val="black"/>
                </a:solidFill>
                <a:latin typeface="宋体"/>
              </a:rPr>
              <a:t>       ②推翻了帝国主义、封建主义和官僚资本主义的统治。</a:t>
            </a:r>
          </a:p>
          <a:p>
            <a:pPr marL="342900" lvl="0" indent="-342900">
              <a:lnSpc>
                <a:spcPct val="110000"/>
              </a:lnSpc>
              <a:defRPr/>
            </a:pPr>
            <a:r>
              <a:rPr lang="zh-CN" altLang="en-US" sz="2200" b="1" dirty="0" smtClean="0">
                <a:solidFill>
                  <a:prstClr val="black"/>
                </a:solidFill>
                <a:latin typeface="宋体"/>
              </a:rPr>
              <a:t>       ③中国真正成为独立自主的国家，中国人从此站起来了。</a:t>
            </a:r>
          </a:p>
          <a:p>
            <a:pPr marL="342900" lvl="0" indent="-342900">
              <a:lnSpc>
                <a:spcPct val="110000"/>
              </a:lnSpc>
              <a:defRPr/>
            </a:pPr>
            <a:r>
              <a:rPr lang="zh-CN" altLang="en-US" sz="2200" b="1" dirty="0" smtClean="0">
                <a:solidFill>
                  <a:prstClr val="black"/>
                </a:solidFill>
                <a:latin typeface="宋体"/>
              </a:rPr>
              <a:t>       ④新中国的成立，壮大了世界和平民主和社会主义的力量。</a:t>
            </a:r>
            <a:endParaRPr lang="en-US" altLang="zh-CN" sz="2200" b="1" dirty="0" smtClean="0">
              <a:solidFill>
                <a:prstClr val="black"/>
              </a:solidFill>
              <a:latin typeface="宋体"/>
            </a:endParaRPr>
          </a:p>
          <a:p>
            <a:pPr marL="342900" lvl="0" indent="-342900">
              <a:lnSpc>
                <a:spcPct val="110000"/>
              </a:lnSpc>
              <a:defRPr/>
            </a:pPr>
            <a:r>
              <a:rPr lang="zh-CN" altLang="en-US" sz="2200" b="1" dirty="0" smtClean="0">
                <a:solidFill>
                  <a:prstClr val="black"/>
                </a:solidFill>
                <a:latin typeface="宋体"/>
              </a:rPr>
              <a:t>（</a:t>
            </a:r>
            <a:r>
              <a:rPr lang="en-US" altLang="zh-CN" sz="2200" b="1" dirty="0" smtClean="0">
                <a:solidFill>
                  <a:prstClr val="black"/>
                </a:solidFill>
                <a:latin typeface="宋体"/>
              </a:rPr>
              <a:t>3</a:t>
            </a:r>
            <a:r>
              <a:rPr lang="zh-CN" altLang="en-US" sz="2200" b="1" dirty="0" smtClean="0">
                <a:solidFill>
                  <a:prstClr val="black"/>
                </a:solidFill>
                <a:latin typeface="宋体"/>
              </a:rPr>
              <a:t>）抗美援朝、保家卫国</a:t>
            </a:r>
            <a:r>
              <a:rPr lang="en-US" altLang="zh-CN" sz="2200" b="1" smtClean="0">
                <a:solidFill>
                  <a:prstClr val="black"/>
                </a:solidFill>
                <a:latin typeface="宋体"/>
              </a:rPr>
              <a:t>     </a:t>
            </a:r>
            <a:r>
              <a:rPr lang="zh-CN" altLang="en-US" sz="2200" b="1" smtClean="0">
                <a:solidFill>
                  <a:prstClr val="black"/>
                </a:solidFill>
                <a:latin typeface="宋体"/>
              </a:rPr>
              <a:t>（</a:t>
            </a:r>
            <a:r>
              <a:rPr lang="en-US" altLang="zh-CN" sz="2200" b="1" dirty="0" smtClean="0">
                <a:solidFill>
                  <a:prstClr val="black"/>
                </a:solidFill>
                <a:latin typeface="宋体"/>
              </a:rPr>
              <a:t>4</a:t>
            </a:r>
            <a:r>
              <a:rPr lang="zh-CN" altLang="en-US" sz="2200" b="1" dirty="0" smtClean="0">
                <a:solidFill>
                  <a:prstClr val="black"/>
                </a:solidFill>
                <a:latin typeface="宋体"/>
              </a:rPr>
              <a:t>）黄继光、邱少云</a:t>
            </a:r>
            <a:endParaRPr lang="en-US" altLang="zh-CN" sz="2200" b="1" dirty="0" smtClean="0">
              <a:solidFill>
                <a:prstClr val="black"/>
              </a:solidFill>
              <a:latin typeface="宋体"/>
            </a:endParaRPr>
          </a:p>
          <a:p>
            <a:pPr marL="342900" lvl="0" indent="-342900">
              <a:lnSpc>
                <a:spcPct val="110000"/>
              </a:lnSpc>
              <a:defRPr/>
            </a:pPr>
            <a:r>
              <a:rPr lang="zh-CN" altLang="en-US" sz="2200" b="1" dirty="0" smtClean="0">
                <a:solidFill>
                  <a:prstClr val="black"/>
                </a:solidFill>
                <a:latin typeface="宋体"/>
              </a:rPr>
              <a:t>（</a:t>
            </a:r>
            <a:r>
              <a:rPr lang="en-US" altLang="zh-CN" sz="2200" b="1" dirty="0" smtClean="0">
                <a:solidFill>
                  <a:prstClr val="black"/>
                </a:solidFill>
                <a:latin typeface="宋体"/>
              </a:rPr>
              <a:t>5</a:t>
            </a:r>
            <a:r>
              <a:rPr lang="zh-CN" altLang="en-US" sz="2200" b="1" dirty="0" smtClean="0">
                <a:solidFill>
                  <a:prstClr val="black"/>
                </a:solidFill>
                <a:latin typeface="宋体"/>
              </a:rPr>
              <a:t>）</a:t>
            </a:r>
            <a:r>
              <a:rPr lang="en-US" altLang="zh-CN" sz="2200" b="1" dirty="0" smtClean="0">
                <a:solidFill>
                  <a:prstClr val="black"/>
                </a:solidFill>
                <a:latin typeface="宋体"/>
              </a:rPr>
              <a:t>《</a:t>
            </a:r>
            <a:r>
              <a:rPr lang="zh-CN" altLang="en-US" sz="2200" b="1" dirty="0" smtClean="0">
                <a:solidFill>
                  <a:prstClr val="black"/>
                </a:solidFill>
                <a:latin typeface="宋体"/>
              </a:rPr>
              <a:t>中华人民共和国土地改革法</a:t>
            </a:r>
            <a:r>
              <a:rPr lang="en-US" altLang="zh-CN" sz="2200" b="1" dirty="0" smtClean="0">
                <a:solidFill>
                  <a:prstClr val="black"/>
                </a:solidFill>
                <a:latin typeface="宋体"/>
              </a:rPr>
              <a:t>》  1950</a:t>
            </a:r>
            <a:r>
              <a:rPr lang="zh-CN" altLang="en-US" sz="2200" b="1" dirty="0" smtClean="0">
                <a:solidFill>
                  <a:prstClr val="black"/>
                </a:solidFill>
                <a:latin typeface="宋体"/>
              </a:rPr>
              <a:t>年</a:t>
            </a:r>
            <a:endParaRPr lang="en-US" altLang="zh-CN" sz="2200" b="1" dirty="0" smtClean="0">
              <a:solidFill>
                <a:prstClr val="black"/>
              </a:solidFill>
              <a:latin typeface="宋体"/>
            </a:endParaRPr>
          </a:p>
          <a:p>
            <a:pPr marL="342900" lvl="0" indent="-342900" eaLnBrk="0" hangingPunct="0">
              <a:lnSpc>
                <a:spcPct val="110000"/>
              </a:lnSpc>
            </a:pPr>
            <a:r>
              <a:rPr lang="zh-CN" altLang="en-US" sz="2200" b="1" dirty="0" smtClean="0">
                <a:solidFill>
                  <a:prstClr val="black"/>
                </a:solidFill>
                <a:latin typeface="宋体"/>
              </a:rPr>
              <a:t>（</a:t>
            </a:r>
            <a:r>
              <a:rPr lang="en-US" altLang="zh-CN" sz="2200" b="1" dirty="0" smtClean="0">
                <a:solidFill>
                  <a:prstClr val="black"/>
                </a:solidFill>
                <a:latin typeface="宋体"/>
              </a:rPr>
              <a:t>6</a:t>
            </a:r>
            <a:r>
              <a:rPr lang="zh-CN" altLang="en-US" sz="2200" b="1" dirty="0" smtClean="0">
                <a:solidFill>
                  <a:prstClr val="black"/>
                </a:solidFill>
                <a:latin typeface="宋体"/>
              </a:rPr>
              <a:t>）</a:t>
            </a:r>
            <a:r>
              <a:rPr lang="zh-CN" altLang="en-US" sz="2200" b="1" dirty="0" smtClean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Arial" pitchFamily="34" charset="0"/>
              </a:rPr>
              <a:t>彻底</a:t>
            </a:r>
            <a:r>
              <a:rPr lang="zh-CN" altLang="en-US" sz="22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Arial" pitchFamily="34" charset="0"/>
              </a:rPr>
              <a:t>摧毁</a:t>
            </a:r>
            <a:r>
              <a:rPr lang="zh-CN" altLang="en-US" sz="2200" b="1" dirty="0" smtClean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Arial" pitchFamily="34" charset="0"/>
              </a:rPr>
              <a:t>封建土地制度，消灭了地主阶级，农民</a:t>
            </a:r>
            <a:r>
              <a:rPr lang="zh-CN" altLang="en-US" sz="22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Arial" pitchFamily="34" charset="0"/>
              </a:rPr>
              <a:t>翻身</a:t>
            </a:r>
            <a:r>
              <a:rPr lang="zh-CN" altLang="en-US" sz="2200" b="1" dirty="0" smtClean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Arial" pitchFamily="34" charset="0"/>
              </a:rPr>
              <a:t>成为土地的主人大大</a:t>
            </a:r>
            <a:r>
              <a:rPr lang="zh-CN" altLang="en-US" sz="22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Arial" pitchFamily="34" charset="0"/>
              </a:rPr>
              <a:t>解放</a:t>
            </a:r>
            <a:r>
              <a:rPr lang="zh-CN" altLang="en-US" sz="2200" b="1" dirty="0" smtClean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Arial" pitchFamily="34" charset="0"/>
              </a:rPr>
              <a:t>农村生产力，为国家工业化建设准备了条件，人民政权更加</a:t>
            </a:r>
            <a:r>
              <a:rPr lang="zh-CN" altLang="en-US" sz="22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Arial" pitchFamily="34" charset="0"/>
              </a:rPr>
              <a:t>巩固</a:t>
            </a:r>
            <a:endParaRPr lang="zh-CN" altLang="en-US" sz="2200" b="1" dirty="0" smtClean="0">
              <a:solidFill>
                <a:prstClr val="black"/>
              </a:solidFill>
              <a:latin typeface="Times New Roman" pitchFamily="18" charset="0"/>
              <a:ea typeface="宋体" pitchFamily="2" charset="-122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43710"/>
          </a:xfrm>
        </p:spPr>
        <p:txBody>
          <a:bodyPr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zh-CN" altLang="en-US" dirty="0" smtClean="0"/>
              <a:t>第二单元</a:t>
            </a:r>
            <a:endParaRPr lang="en-US" altLang="zh-CN" dirty="0" smtClean="0"/>
          </a:p>
          <a:p>
            <a:pPr marL="0" indent="0">
              <a:lnSpc>
                <a:spcPts val="3200"/>
              </a:lnSpc>
              <a:spcBef>
                <a:spcPts val="0"/>
              </a:spcBef>
              <a:buNone/>
            </a:pPr>
            <a:r>
              <a:rPr lang="zh-CN" altLang="en-US" sz="2400" b="1" dirty="0" smtClean="0">
                <a:solidFill>
                  <a:srgbClr val="0000CC"/>
                </a:solidFill>
                <a:latin typeface="+mn-ea"/>
              </a:rPr>
              <a:t>知识回顾：</a:t>
            </a:r>
            <a:endParaRPr lang="en-US" altLang="zh-CN" sz="2400" b="1" dirty="0" smtClean="0">
              <a:solidFill>
                <a:srgbClr val="0000CC"/>
              </a:solidFill>
              <a:latin typeface="+mn-ea"/>
            </a:endParaRPr>
          </a:p>
          <a:p>
            <a:pPr marL="0" indent="0">
              <a:lnSpc>
                <a:spcPts val="3200"/>
              </a:lnSpc>
              <a:spcBef>
                <a:spcPts val="0"/>
              </a:spcBef>
              <a:buNone/>
            </a:pPr>
            <a:r>
              <a:rPr lang="zh-CN" altLang="en-US" sz="2400" b="1" dirty="0" smtClean="0">
                <a:latin typeface="+mn-ea"/>
              </a:rPr>
              <a:t>①社会主义②</a:t>
            </a:r>
            <a:r>
              <a:rPr lang="en-US" altLang="zh-CN" sz="2400" b="1" dirty="0" smtClean="0">
                <a:latin typeface="+mn-ea"/>
              </a:rPr>
              <a:t>1953</a:t>
            </a:r>
            <a:r>
              <a:rPr lang="zh-CN" altLang="en-US" sz="2400" b="1" dirty="0" smtClean="0">
                <a:latin typeface="+mn-ea"/>
              </a:rPr>
              <a:t>③苏联④工业化⑤</a:t>
            </a:r>
            <a:r>
              <a:rPr lang="en-US" altLang="zh-CN" sz="2400" b="1" dirty="0" smtClean="0">
                <a:latin typeface="+mn-ea"/>
              </a:rPr>
              <a:t>1954</a:t>
            </a:r>
            <a:r>
              <a:rPr lang="zh-CN" altLang="en-US" sz="2400" b="1" dirty="0" smtClean="0">
                <a:latin typeface="+mn-ea"/>
              </a:rPr>
              <a:t>⑥</a:t>
            </a:r>
            <a:r>
              <a:rPr lang="en-US" altLang="zh-CN" sz="2400" b="1" dirty="0" smtClean="0">
                <a:latin typeface="+mn-ea"/>
              </a:rPr>
              <a:t>《</a:t>
            </a:r>
            <a:r>
              <a:rPr lang="zh-CN" altLang="en-US" sz="2400" b="1" dirty="0" smtClean="0">
                <a:latin typeface="+mn-ea"/>
              </a:rPr>
              <a:t>中华人民共和国宪法</a:t>
            </a:r>
            <a:r>
              <a:rPr lang="en-US" altLang="zh-CN" sz="2400" b="1" dirty="0" smtClean="0">
                <a:latin typeface="+mn-ea"/>
              </a:rPr>
              <a:t>》</a:t>
            </a:r>
            <a:r>
              <a:rPr lang="zh-CN" altLang="en-US" sz="2400" b="1" dirty="0" smtClean="0">
                <a:latin typeface="+mn-ea"/>
              </a:rPr>
              <a:t>⑦人民代表大会制度⑧社会主义公有制⑨资本主义工商业⑩</a:t>
            </a:r>
            <a:r>
              <a:rPr lang="en-US" altLang="zh-CN" sz="2400" b="1" dirty="0" smtClean="0">
                <a:latin typeface="+mn-ea"/>
              </a:rPr>
              <a:t>1956</a:t>
            </a:r>
            <a:r>
              <a:rPr lang="zh-CN" altLang="en-US" sz="2400" b="1" dirty="0" smtClean="0">
                <a:solidFill>
                  <a:srgbClr val="FF0000"/>
                </a:solidFill>
                <a:latin typeface="+mn-ea"/>
              </a:rPr>
              <a:t>⑪社会主义</a:t>
            </a:r>
            <a:r>
              <a:rPr lang="zh-CN" altLang="en-US" sz="2400" b="1" dirty="0" smtClean="0">
                <a:latin typeface="+mn-ea"/>
              </a:rPr>
              <a:t>⑫社会主义初级阶段⑬大跃进⑭人民公社化运动⑮文化大革命</a:t>
            </a:r>
            <a:r>
              <a:rPr lang="zh-CN" altLang="en-US" sz="2400" b="1" dirty="0" smtClean="0">
                <a:solidFill>
                  <a:srgbClr val="FF0000"/>
                </a:solidFill>
                <a:latin typeface="+mn-ea"/>
              </a:rPr>
              <a:t>⑯工业体系</a:t>
            </a:r>
            <a:r>
              <a:rPr lang="zh-CN" altLang="en-US" sz="2400" b="1" dirty="0" smtClean="0">
                <a:latin typeface="+mn-ea"/>
              </a:rPr>
              <a:t>⑰王进喜</a:t>
            </a:r>
            <a:endParaRPr lang="en-US" altLang="zh-CN" sz="2400" b="1" dirty="0" smtClean="0">
              <a:latin typeface="+mn-ea"/>
            </a:endParaRPr>
          </a:p>
          <a:p>
            <a:pPr marL="0" indent="0">
              <a:lnSpc>
                <a:spcPts val="3200"/>
              </a:lnSpc>
              <a:spcBef>
                <a:spcPts val="0"/>
              </a:spcBef>
              <a:buNone/>
            </a:pPr>
            <a:r>
              <a:rPr lang="zh-CN" altLang="en-US" sz="2400" b="1" dirty="0" smtClean="0">
                <a:solidFill>
                  <a:srgbClr val="0000CC"/>
                </a:solidFill>
                <a:latin typeface="+mn-ea"/>
              </a:rPr>
              <a:t>课堂练习：</a:t>
            </a:r>
            <a:endParaRPr lang="en-US" altLang="zh-CN" sz="2400" b="1" dirty="0" smtClean="0">
              <a:solidFill>
                <a:srgbClr val="0000CC"/>
              </a:solidFill>
              <a:latin typeface="+mn-ea"/>
            </a:endParaRPr>
          </a:p>
          <a:p>
            <a:pPr marL="0" indent="0">
              <a:lnSpc>
                <a:spcPts val="3200"/>
              </a:lnSpc>
              <a:spcBef>
                <a:spcPts val="0"/>
              </a:spcBef>
              <a:buNone/>
            </a:pPr>
            <a:r>
              <a:rPr lang="zh-CN" altLang="en-US" sz="2400" b="1" dirty="0" smtClean="0">
                <a:latin typeface="+mn-ea"/>
              </a:rPr>
              <a:t>（</a:t>
            </a:r>
            <a:r>
              <a:rPr lang="en-US" altLang="zh-CN" sz="2400" b="1" dirty="0" smtClean="0">
                <a:latin typeface="+mn-ea"/>
              </a:rPr>
              <a:t>1</a:t>
            </a:r>
            <a:r>
              <a:rPr lang="zh-CN" altLang="en-US" sz="2400" b="1" dirty="0" smtClean="0">
                <a:latin typeface="+mn-ea"/>
              </a:rPr>
              <a:t>）我国工业水平低、基础薄弱</a:t>
            </a:r>
            <a:endParaRPr lang="en-US" altLang="zh-CN" sz="2400" b="1" dirty="0" smtClean="0">
              <a:latin typeface="+mn-ea"/>
            </a:endParaRPr>
          </a:p>
          <a:p>
            <a:pPr marL="0" indent="0">
              <a:lnSpc>
                <a:spcPts val="3200"/>
              </a:lnSpc>
              <a:spcBef>
                <a:spcPts val="0"/>
              </a:spcBef>
              <a:buNone/>
            </a:pPr>
            <a:r>
              <a:rPr lang="en-US" altLang="zh-CN" sz="2400" b="1" dirty="0" smtClean="0">
                <a:latin typeface="+mn-ea"/>
              </a:rPr>
              <a:t>      </a:t>
            </a:r>
            <a:r>
              <a:rPr lang="zh-CN" altLang="en-US" sz="2400" b="1" dirty="0" smtClean="0">
                <a:latin typeface="+mn-ea"/>
              </a:rPr>
              <a:t>第一个五年计划</a:t>
            </a:r>
            <a:endParaRPr lang="en-US" altLang="zh-CN" sz="2400" b="1" dirty="0" smtClean="0">
              <a:latin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 smtClean="0">
                <a:latin typeface="+mn-ea"/>
              </a:rPr>
              <a:t>（</a:t>
            </a:r>
            <a:r>
              <a:rPr lang="en-US" altLang="zh-CN" sz="2400" b="1" dirty="0" smtClean="0">
                <a:latin typeface="+mn-ea"/>
              </a:rPr>
              <a:t>2</a:t>
            </a:r>
            <a:r>
              <a:rPr lang="zh-CN" altLang="en-US" sz="2400" b="1" dirty="0" smtClean="0">
                <a:latin typeface="+mn-ea"/>
              </a:rPr>
              <a:t>）基本任务：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①集中主要力量发展</a:t>
            </a:r>
            <a:r>
              <a:rPr lang="zh-CN" altLang="en-US" sz="2400" b="1" dirty="0" smtClean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重工业</a:t>
            </a:r>
            <a:endParaRPr lang="en-US" altLang="zh-CN" sz="2400" b="1" dirty="0" smtClean="0">
              <a:latin typeface="黑体" pitchFamily="49" charset="-122"/>
              <a:ea typeface="黑体" pitchFamily="49" charset="-122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               ②相应地发展交通运输业</a:t>
            </a:r>
            <a:endParaRPr lang="en-US" altLang="zh-CN" sz="2400" b="1" dirty="0" smtClean="0">
              <a:latin typeface="+mn-ea"/>
            </a:endParaRPr>
          </a:p>
          <a:p>
            <a:pPr marL="0" indent="0">
              <a:lnSpc>
                <a:spcPts val="3200"/>
              </a:lnSpc>
              <a:spcBef>
                <a:spcPts val="0"/>
              </a:spcBef>
              <a:buNone/>
            </a:pPr>
            <a:r>
              <a:rPr lang="en-US" altLang="zh-CN" sz="2400" b="1" dirty="0" smtClean="0">
                <a:latin typeface="+mn-ea"/>
              </a:rPr>
              <a:t>     </a:t>
            </a:r>
            <a:r>
              <a:rPr lang="zh-CN" altLang="en-US" sz="2400" b="1" dirty="0" smtClean="0">
                <a:latin typeface="+mn-ea"/>
              </a:rPr>
              <a:t>现象：工农业比重失调，工业占比提升，农业占比下降</a:t>
            </a:r>
            <a:endParaRPr lang="en-US" altLang="zh-CN" sz="2400" b="1" dirty="0" smtClean="0">
              <a:latin typeface="+mn-ea"/>
            </a:endParaRPr>
          </a:p>
          <a:p>
            <a:pPr marL="0" indent="0">
              <a:lnSpc>
                <a:spcPts val="3200"/>
              </a:lnSpc>
              <a:spcBef>
                <a:spcPts val="0"/>
              </a:spcBef>
              <a:buNone/>
            </a:pPr>
            <a:r>
              <a:rPr lang="zh-CN" altLang="en-US" sz="2400" b="1" dirty="0" smtClean="0">
                <a:latin typeface="+mn-ea"/>
              </a:rPr>
              <a:t>     原因：大跃进和人民公社化</a:t>
            </a:r>
            <a:endParaRPr lang="en-US" altLang="zh-CN" sz="2400" b="1" dirty="0" smtClean="0">
              <a:latin typeface="+mn-ea"/>
            </a:endParaRPr>
          </a:p>
          <a:p>
            <a:pPr marL="0" indent="0">
              <a:lnSpc>
                <a:spcPts val="3200"/>
              </a:lnSpc>
              <a:spcBef>
                <a:spcPts val="0"/>
              </a:spcBef>
              <a:buNone/>
            </a:pPr>
            <a:r>
              <a:rPr lang="zh-CN" altLang="en-US" sz="2400" b="1" dirty="0" smtClean="0">
                <a:latin typeface="+mn-ea"/>
              </a:rPr>
              <a:t>（</a:t>
            </a:r>
            <a:r>
              <a:rPr lang="en-US" altLang="zh-CN" sz="2400" b="1" dirty="0" smtClean="0">
                <a:latin typeface="+mn-ea"/>
              </a:rPr>
              <a:t>3</a:t>
            </a:r>
            <a:r>
              <a:rPr lang="zh-CN" altLang="en-US" sz="2400" b="1" dirty="0" smtClean="0">
                <a:latin typeface="+mn-ea"/>
              </a:rPr>
              <a:t>）王进喜、雷锋、焦裕禄</a:t>
            </a:r>
            <a:endParaRPr lang="en-US" altLang="zh-CN" sz="2400" b="1" dirty="0" smtClean="0">
              <a:latin typeface="+mn-ea"/>
            </a:endParaRPr>
          </a:p>
          <a:p>
            <a:pPr marL="0" indent="0">
              <a:lnSpc>
                <a:spcPts val="3200"/>
              </a:lnSpc>
              <a:spcBef>
                <a:spcPts val="0"/>
              </a:spcBef>
              <a:buNone/>
            </a:pPr>
            <a:r>
              <a:rPr lang="zh-CN" altLang="en-US" sz="2400" b="1" dirty="0" smtClean="0">
                <a:latin typeface="+mn-ea"/>
              </a:rPr>
              <a:t>    优秀品质：全心全意为人民服务、艰苦奋斗、爱国主义</a:t>
            </a:r>
            <a:endParaRPr lang="en-US" altLang="zh-CN" sz="2400" b="1" dirty="0" smtClean="0">
              <a:latin typeface="+mn-ea"/>
            </a:endParaRPr>
          </a:p>
          <a:p>
            <a:pPr marL="0" indent="0">
              <a:lnSpc>
                <a:spcPts val="3200"/>
              </a:lnSpc>
              <a:spcBef>
                <a:spcPts val="0"/>
              </a:spcBef>
              <a:buNone/>
            </a:pPr>
            <a:endParaRPr lang="en-US" altLang="zh-CN" sz="2400" b="1" dirty="0" smtClean="0">
              <a:latin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43710"/>
          </a:xfrm>
        </p:spPr>
        <p:txBody>
          <a:bodyPr>
            <a:normAutofit lnSpcReduction="10000"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zh-CN" altLang="en-US" dirty="0" smtClean="0"/>
              <a:t>第三单元</a:t>
            </a:r>
            <a:endParaRPr lang="en-US" altLang="zh-CN" dirty="0" smtClean="0"/>
          </a:p>
          <a:p>
            <a:pPr marL="0" indent="0">
              <a:lnSpc>
                <a:spcPts val="3200"/>
              </a:lnSpc>
              <a:spcBef>
                <a:spcPts val="0"/>
              </a:spcBef>
              <a:buNone/>
            </a:pPr>
            <a:r>
              <a:rPr lang="zh-CN" altLang="en-US" sz="2400" b="1" dirty="0" smtClean="0">
                <a:solidFill>
                  <a:srgbClr val="0000CC"/>
                </a:solidFill>
                <a:latin typeface="+mn-ea"/>
              </a:rPr>
              <a:t>知识回顾：</a:t>
            </a:r>
            <a:endParaRPr lang="en-US" altLang="zh-CN" sz="2400" b="1" dirty="0" smtClean="0">
              <a:solidFill>
                <a:srgbClr val="0000CC"/>
              </a:solidFill>
              <a:latin typeface="+mn-ea"/>
            </a:endParaRPr>
          </a:p>
          <a:p>
            <a:pPr marL="0" indent="0">
              <a:lnSpc>
                <a:spcPts val="3200"/>
              </a:lnSpc>
              <a:spcBef>
                <a:spcPts val="0"/>
              </a:spcBef>
              <a:buNone/>
            </a:pPr>
            <a:r>
              <a:rPr lang="zh-CN" altLang="en-US" sz="2400" b="1" dirty="0" smtClean="0"/>
              <a:t>①真理标准②改革开放③北京④小岗村⑤自主权⑥农村生产力⑦十二届三中全会⑧增强企业活力⑨中共十四大⑩深圳⑪厦门⑫</a:t>
            </a:r>
            <a:r>
              <a:rPr lang="en-US" altLang="zh-CN" sz="2400" b="1" dirty="0" smtClean="0"/>
              <a:t>1984</a:t>
            </a:r>
            <a:r>
              <a:rPr lang="zh-CN" altLang="en-US" sz="2400" b="1" dirty="0" smtClean="0"/>
              <a:t>⑬海南岛⑭上海浦东⑮社会主义初级阶段理论⑯有中国特色社会主义⑰邓小平理论⑱三个代表⑲小康社会⑳从严治党</a:t>
            </a:r>
            <a:endParaRPr lang="en-US" altLang="zh-CN" sz="2400" b="1" dirty="0" smtClean="0"/>
          </a:p>
          <a:p>
            <a:pPr marL="0" indent="0">
              <a:lnSpc>
                <a:spcPts val="3200"/>
              </a:lnSpc>
              <a:spcBef>
                <a:spcPts val="0"/>
              </a:spcBef>
              <a:buNone/>
            </a:pPr>
            <a:r>
              <a:rPr lang="zh-CN" altLang="en-US" sz="2400" b="1" dirty="0" smtClean="0">
                <a:solidFill>
                  <a:srgbClr val="0000CC"/>
                </a:solidFill>
                <a:latin typeface="+mn-ea"/>
              </a:rPr>
              <a:t>课堂练习：</a:t>
            </a:r>
            <a:endParaRPr lang="en-US" altLang="zh-CN" sz="2400" b="1" dirty="0" smtClean="0">
              <a:solidFill>
                <a:srgbClr val="0000CC"/>
              </a:solidFill>
              <a:latin typeface="+mn-ea"/>
            </a:endParaRPr>
          </a:p>
          <a:p>
            <a:pPr marL="0" indent="0">
              <a:lnSpc>
                <a:spcPts val="3200"/>
              </a:lnSpc>
              <a:spcBef>
                <a:spcPts val="0"/>
              </a:spcBef>
              <a:buNone/>
            </a:pPr>
            <a:r>
              <a:rPr lang="zh-CN" altLang="en-US" sz="2400" b="1" dirty="0" smtClean="0">
                <a:latin typeface="+mn-ea"/>
              </a:rPr>
              <a:t>（</a:t>
            </a:r>
            <a:r>
              <a:rPr lang="en-US" altLang="zh-CN" sz="2400" b="1" dirty="0" smtClean="0">
                <a:latin typeface="+mn-ea"/>
              </a:rPr>
              <a:t>1</a:t>
            </a:r>
            <a:r>
              <a:rPr lang="zh-CN" altLang="en-US" sz="2400" b="1" dirty="0" smtClean="0">
                <a:latin typeface="+mn-ea"/>
              </a:rPr>
              <a:t>）中共十一届三中全会</a:t>
            </a:r>
            <a:endParaRPr lang="en-US" altLang="zh-CN" sz="2400" b="1" dirty="0" smtClean="0">
              <a:latin typeface="+mn-ea"/>
            </a:endParaRPr>
          </a:p>
          <a:p>
            <a:pPr marL="0" indent="0">
              <a:lnSpc>
                <a:spcPts val="3200"/>
              </a:lnSpc>
              <a:spcBef>
                <a:spcPts val="0"/>
              </a:spcBef>
              <a:buNone/>
            </a:pPr>
            <a:r>
              <a:rPr lang="zh-CN" altLang="en-US" sz="2400" b="1" dirty="0" smtClean="0">
                <a:latin typeface="+mn-ea"/>
              </a:rPr>
              <a:t>（</a:t>
            </a:r>
            <a:r>
              <a:rPr lang="en-US" altLang="zh-CN" sz="2400" b="1" dirty="0" smtClean="0">
                <a:latin typeface="+mn-ea"/>
              </a:rPr>
              <a:t>2</a:t>
            </a:r>
            <a:r>
              <a:rPr lang="zh-CN" altLang="en-US" sz="2400" b="1" dirty="0" smtClean="0">
                <a:latin typeface="+mn-ea"/>
              </a:rPr>
              <a:t>）①家庭联产承包责任制②城市③深圳④厦门⑤海南岛</a:t>
            </a:r>
            <a:endParaRPr lang="en-US" altLang="zh-CN" sz="2400" b="1" dirty="0" smtClean="0">
              <a:latin typeface="+mn-ea"/>
            </a:endParaRPr>
          </a:p>
          <a:p>
            <a:pPr marL="0" indent="0">
              <a:lnSpc>
                <a:spcPts val="3200"/>
              </a:lnSpc>
              <a:spcBef>
                <a:spcPts val="0"/>
              </a:spcBef>
              <a:buNone/>
            </a:pPr>
            <a:r>
              <a:rPr lang="zh-CN" altLang="en-US" sz="2400" b="1" dirty="0" smtClean="0">
                <a:latin typeface="+mn-ea"/>
              </a:rPr>
              <a:t>意义：</a:t>
            </a:r>
            <a:r>
              <a:rPr lang="zh-CN" altLang="en-US" sz="24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引进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外资、先进技术和管理经验，</a:t>
            </a:r>
            <a:r>
              <a:rPr lang="zh-CN" altLang="en-US" sz="24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推动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国内的进一步改革，</a:t>
            </a:r>
            <a:r>
              <a:rPr lang="zh-CN" altLang="en-US" sz="24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扩大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对外经济交流，</a:t>
            </a:r>
            <a:r>
              <a:rPr lang="zh-CN" altLang="en-US" sz="24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发展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社会主义现代化事业</a:t>
            </a:r>
            <a:endParaRPr lang="en-US" altLang="zh-CN" sz="2400" b="1" dirty="0" smtClean="0">
              <a:latin typeface="+mn-ea"/>
            </a:endParaRPr>
          </a:p>
          <a:p>
            <a:pPr marL="0" indent="0">
              <a:lnSpc>
                <a:spcPts val="3200"/>
              </a:lnSpc>
              <a:spcBef>
                <a:spcPts val="0"/>
              </a:spcBef>
              <a:buNone/>
            </a:pPr>
            <a:r>
              <a:rPr lang="zh-CN" altLang="en-US" sz="2400" b="1" dirty="0" smtClean="0">
                <a:latin typeface="+mn-ea"/>
              </a:rPr>
              <a:t>（</a:t>
            </a:r>
            <a:r>
              <a:rPr lang="en-US" altLang="zh-CN" sz="2400" b="1" dirty="0" smtClean="0">
                <a:latin typeface="+mn-ea"/>
              </a:rPr>
              <a:t>3</a:t>
            </a:r>
            <a:r>
              <a:rPr lang="zh-CN" altLang="en-US" sz="2400" b="1" dirty="0" smtClean="0">
                <a:latin typeface="+mn-ea"/>
              </a:rPr>
              <a:t>）经济特区</a:t>
            </a:r>
            <a:r>
              <a:rPr lang="en-US" altLang="zh-CN" sz="2400" b="1" dirty="0" smtClean="0">
                <a:latin typeface="+mn-ea"/>
              </a:rPr>
              <a:t>——</a:t>
            </a:r>
            <a:r>
              <a:rPr lang="zh-CN" altLang="en-US" sz="2400" b="1" dirty="0" smtClean="0">
                <a:latin typeface="+mn-ea"/>
              </a:rPr>
              <a:t>沿海开放城市</a:t>
            </a:r>
            <a:r>
              <a:rPr lang="en-US" altLang="zh-CN" sz="2400" b="1" dirty="0" smtClean="0">
                <a:latin typeface="+mn-ea"/>
              </a:rPr>
              <a:t>——</a:t>
            </a:r>
            <a:r>
              <a:rPr lang="zh-CN" altLang="en-US" sz="2400" b="1" dirty="0" smtClean="0">
                <a:latin typeface="+mn-ea"/>
              </a:rPr>
              <a:t>沿海经济开发区</a:t>
            </a:r>
            <a:r>
              <a:rPr lang="en-US" altLang="zh-CN" sz="2400" b="1" dirty="0" smtClean="0">
                <a:latin typeface="+mn-ea"/>
              </a:rPr>
              <a:t>——</a:t>
            </a:r>
            <a:r>
              <a:rPr lang="zh-CN" altLang="en-US" sz="2400" b="1" dirty="0" smtClean="0">
                <a:latin typeface="+mn-ea"/>
              </a:rPr>
              <a:t>内地</a:t>
            </a:r>
            <a:endParaRPr lang="en-US" altLang="zh-CN" sz="2400" b="1" dirty="0" smtClean="0">
              <a:latin typeface="+mn-ea"/>
            </a:endParaRPr>
          </a:p>
          <a:p>
            <a:pPr marL="0" indent="0">
              <a:lnSpc>
                <a:spcPts val="3200"/>
              </a:lnSpc>
              <a:spcBef>
                <a:spcPts val="0"/>
              </a:spcBef>
              <a:buNone/>
            </a:pPr>
            <a:r>
              <a:rPr lang="zh-CN" altLang="en-US" sz="2400" b="1" dirty="0" smtClean="0">
                <a:solidFill>
                  <a:srgbClr val="FF0000"/>
                </a:solidFill>
                <a:latin typeface="+mn-ea"/>
              </a:rPr>
              <a:t>全方位、多层次、宽领域</a:t>
            </a:r>
            <a:r>
              <a:rPr lang="zh-CN" altLang="en-US" sz="2400" b="1" dirty="0" smtClean="0">
                <a:latin typeface="+mn-ea"/>
              </a:rPr>
              <a:t>的对外开放格局</a:t>
            </a:r>
            <a:endParaRPr lang="en-US" altLang="zh-CN" sz="2400" b="1" dirty="0" smtClean="0">
              <a:latin typeface="+mn-ea"/>
            </a:endParaRPr>
          </a:p>
          <a:p>
            <a:pPr marL="0" indent="0">
              <a:lnSpc>
                <a:spcPts val="3200"/>
              </a:lnSpc>
              <a:spcBef>
                <a:spcPts val="0"/>
              </a:spcBef>
              <a:buNone/>
            </a:pPr>
            <a:r>
              <a:rPr lang="zh-CN" altLang="en-US" sz="2400" b="1" dirty="0" smtClean="0">
                <a:latin typeface="+mn-ea"/>
              </a:rPr>
              <a:t>（</a:t>
            </a:r>
            <a:r>
              <a:rPr lang="en-US" altLang="zh-CN" sz="2400" b="1" dirty="0" smtClean="0">
                <a:latin typeface="+mn-ea"/>
              </a:rPr>
              <a:t>4</a:t>
            </a:r>
            <a:r>
              <a:rPr lang="zh-CN" altLang="en-US" sz="2400" b="1" dirty="0" smtClean="0">
                <a:latin typeface="+mn-ea"/>
              </a:rPr>
              <a:t>）民主法治：建设社会主义法治国家</a:t>
            </a:r>
            <a:endParaRPr lang="en-US" altLang="zh-CN" sz="2400" b="1" dirty="0" smtClean="0">
              <a:latin typeface="+mn-ea"/>
            </a:endParaRPr>
          </a:p>
          <a:p>
            <a:pPr marL="0" indent="0">
              <a:lnSpc>
                <a:spcPts val="3200"/>
              </a:lnSpc>
              <a:spcBef>
                <a:spcPts val="0"/>
              </a:spcBef>
              <a:buNone/>
            </a:pPr>
            <a:r>
              <a:rPr lang="en-US" altLang="zh-CN" sz="2400" b="1" dirty="0" smtClean="0">
                <a:latin typeface="+mn-ea"/>
              </a:rPr>
              <a:t>     </a:t>
            </a:r>
            <a:r>
              <a:rPr lang="zh-CN" altLang="en-US" sz="2400" b="1" dirty="0" smtClean="0">
                <a:latin typeface="+mn-ea"/>
              </a:rPr>
              <a:t>祖国统一：香港、澳门回归</a:t>
            </a:r>
            <a:endParaRPr lang="en-US" altLang="zh-CN" sz="2400" b="1" dirty="0" smtClean="0">
              <a:latin typeface="+mn-ea"/>
            </a:endParaRPr>
          </a:p>
          <a:p>
            <a:pPr marL="0" indent="0">
              <a:lnSpc>
                <a:spcPts val="3200"/>
              </a:lnSpc>
              <a:spcBef>
                <a:spcPts val="0"/>
              </a:spcBef>
              <a:buNone/>
            </a:pPr>
            <a:r>
              <a:rPr lang="en-US" altLang="zh-CN" sz="2400" b="1" dirty="0" smtClean="0">
                <a:latin typeface="+mn-ea"/>
              </a:rPr>
              <a:t>     </a:t>
            </a:r>
            <a:r>
              <a:rPr lang="zh-CN" altLang="en-US" sz="2400" b="1" dirty="0" smtClean="0">
                <a:latin typeface="+mn-ea"/>
              </a:rPr>
              <a:t>外交领域：中美建交、</a:t>
            </a:r>
            <a:r>
              <a:rPr lang="en-US" altLang="zh-CN" sz="2400" b="1" dirty="0" smtClean="0">
                <a:latin typeface="+mn-ea"/>
              </a:rPr>
              <a:t>APEC</a:t>
            </a:r>
            <a:r>
              <a:rPr lang="zh-CN" altLang="en-US" sz="2400" b="1" dirty="0" smtClean="0">
                <a:latin typeface="+mn-ea"/>
              </a:rPr>
              <a:t>会议</a:t>
            </a:r>
            <a:endParaRPr lang="en-US" altLang="zh-CN" sz="2400" b="1" dirty="0" smtClean="0">
              <a:latin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zh-CN" altLang="en-US" dirty="0" smtClean="0"/>
              <a:t>第四单元</a:t>
            </a:r>
            <a:endParaRPr lang="en-US" altLang="zh-CN" dirty="0" smtClean="0"/>
          </a:p>
          <a:p>
            <a:pPr marL="0" indent="0">
              <a:lnSpc>
                <a:spcPts val="3200"/>
              </a:lnSpc>
              <a:spcBef>
                <a:spcPts val="0"/>
              </a:spcBef>
              <a:buNone/>
            </a:pPr>
            <a:r>
              <a:rPr lang="zh-CN" altLang="en-US" sz="2400" b="1" dirty="0" smtClean="0">
                <a:solidFill>
                  <a:srgbClr val="0000CC"/>
                </a:solidFill>
                <a:latin typeface="+mn-ea"/>
              </a:rPr>
              <a:t>知识回顾：</a:t>
            </a:r>
            <a:endParaRPr lang="en-US" altLang="zh-CN" sz="2400" b="1" dirty="0" smtClean="0">
              <a:solidFill>
                <a:srgbClr val="0000CC"/>
              </a:solidFill>
              <a:latin typeface="+mn-ea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2400" b="1" dirty="0" smtClean="0"/>
              <a:t>①民族区域自治制度②民族问题③共同繁荣④少数民族⑤社会主义⑥西部大开发⑦</a:t>
            </a:r>
            <a:r>
              <a:rPr lang="en-US" altLang="zh-CN" sz="2400" b="1" dirty="0" smtClean="0"/>
              <a:t>1997</a:t>
            </a:r>
            <a:r>
              <a:rPr lang="zh-CN" altLang="en-US" sz="2400" b="1" dirty="0" smtClean="0"/>
              <a:t>⑧</a:t>
            </a:r>
            <a:r>
              <a:rPr lang="en-US" altLang="zh-CN" sz="2400" b="1" dirty="0" smtClean="0"/>
              <a:t>1999</a:t>
            </a:r>
            <a:r>
              <a:rPr lang="zh-CN" altLang="en-US" sz="2400" b="1" dirty="0" smtClean="0"/>
              <a:t>⑨一国两制⑩三不⑪九二共识（海峡两岸均坚持一个中国原则）⑫江泽民⑬连战</a:t>
            </a:r>
            <a:endParaRPr lang="en-US" altLang="zh-CN" sz="2400" b="1" dirty="0" smtClean="0"/>
          </a:p>
          <a:p>
            <a:pPr marL="0" indent="0" algn="ctr">
              <a:spcBef>
                <a:spcPts val="0"/>
              </a:spcBef>
              <a:buNone/>
            </a:pPr>
            <a:r>
              <a:rPr lang="zh-CN" altLang="en-US" dirty="0" smtClean="0"/>
              <a:t>第五单元</a:t>
            </a:r>
            <a:endParaRPr lang="en-US" altLang="zh-CN" dirty="0" smtClean="0"/>
          </a:p>
          <a:p>
            <a:pPr marL="0" indent="0">
              <a:lnSpc>
                <a:spcPts val="3200"/>
              </a:lnSpc>
              <a:spcBef>
                <a:spcPts val="0"/>
              </a:spcBef>
              <a:buNone/>
            </a:pPr>
            <a:r>
              <a:rPr lang="zh-CN" altLang="en-US" sz="2400" b="1" dirty="0" smtClean="0">
                <a:solidFill>
                  <a:srgbClr val="0000CC"/>
                </a:solidFill>
                <a:latin typeface="+mn-ea"/>
              </a:rPr>
              <a:t>知识回顾：</a:t>
            </a:r>
            <a:endParaRPr lang="en-US" altLang="zh-CN" sz="2400" b="1" dirty="0" smtClean="0">
              <a:solidFill>
                <a:srgbClr val="0000CC"/>
              </a:solidFill>
              <a:latin typeface="+mn-ea"/>
            </a:endParaRPr>
          </a:p>
          <a:p>
            <a:pPr marL="0" indent="0">
              <a:lnSpc>
                <a:spcPts val="3200"/>
              </a:lnSpc>
              <a:spcBef>
                <a:spcPts val="0"/>
              </a:spcBef>
              <a:buNone/>
            </a:pPr>
            <a:r>
              <a:rPr lang="zh-CN" altLang="en-US" sz="2400" b="1" dirty="0" smtClean="0"/>
              <a:t>①华东军区海军②北海③国产化④第二炮兵部队⑤独立自主⑥周恩来⑦印度⑧万隆会议⑨求同存异⑩</a:t>
            </a:r>
            <a:r>
              <a:rPr lang="en-US" altLang="zh-CN" sz="2400" b="1" dirty="0" smtClean="0"/>
              <a:t>26</a:t>
            </a:r>
            <a:r>
              <a:rPr lang="zh-CN" altLang="en-US" sz="2400" b="1" dirty="0" smtClean="0"/>
              <a:t>届⑪尼克松⑫</a:t>
            </a:r>
            <a:r>
              <a:rPr lang="en-US" altLang="zh-CN" sz="2400" b="1" dirty="0" smtClean="0"/>
              <a:t>1979</a:t>
            </a:r>
            <a:r>
              <a:rPr lang="zh-CN" altLang="en-US" sz="2400" b="1" dirty="0" smtClean="0"/>
              <a:t>⑬田中角荣⑭和平外交⑮和平共处五项原则</a:t>
            </a:r>
            <a:endParaRPr lang="en-US" altLang="zh-CN" sz="2400" b="1" dirty="0" smtClean="0"/>
          </a:p>
          <a:p>
            <a:pPr marL="0" indent="0">
              <a:lnSpc>
                <a:spcPts val="3200"/>
              </a:lnSpc>
              <a:spcBef>
                <a:spcPts val="0"/>
              </a:spcBef>
              <a:buNone/>
            </a:pPr>
            <a:r>
              <a:rPr lang="zh-CN" altLang="en-US" sz="2400" b="1" dirty="0" smtClean="0">
                <a:solidFill>
                  <a:srgbClr val="0000CC"/>
                </a:solidFill>
                <a:latin typeface="+mn-ea"/>
              </a:rPr>
              <a:t>课堂练习：</a:t>
            </a:r>
            <a:endParaRPr lang="en-US" altLang="zh-CN" sz="2400" b="1" dirty="0" smtClean="0">
              <a:solidFill>
                <a:srgbClr val="0000CC"/>
              </a:solidFill>
              <a:latin typeface="+mn-ea"/>
            </a:endParaRPr>
          </a:p>
          <a:p>
            <a:pPr marL="0" indent="0">
              <a:lnSpc>
                <a:spcPts val="3200"/>
              </a:lnSpc>
              <a:spcBef>
                <a:spcPts val="0"/>
              </a:spcBef>
              <a:buNone/>
            </a:pPr>
            <a:r>
              <a:rPr lang="zh-CN" altLang="en-US" sz="2400" b="1" dirty="0" smtClean="0">
                <a:latin typeface="+mn-ea"/>
              </a:rPr>
              <a:t>（</a:t>
            </a:r>
            <a:r>
              <a:rPr lang="en-US" altLang="zh-CN" sz="2400" b="1" dirty="0" smtClean="0">
                <a:latin typeface="+mn-ea"/>
              </a:rPr>
              <a:t>1</a:t>
            </a:r>
            <a:r>
              <a:rPr lang="zh-CN" altLang="en-US" sz="2400" b="1" dirty="0" smtClean="0">
                <a:latin typeface="+mn-ea"/>
              </a:rPr>
              <a:t>）万隆会议     发展友好关系、团结合作</a:t>
            </a:r>
            <a:endParaRPr lang="en-US" altLang="zh-CN" sz="2400" b="1" dirty="0" smtClean="0">
              <a:latin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 smtClean="0">
                <a:latin typeface="+mn-ea"/>
              </a:rPr>
              <a:t>和平共处五项原则：互相尊重主权和领土完整、互不侵犯、互不干涉内政、平等互利、和平共处</a:t>
            </a:r>
            <a:endParaRPr lang="en-US" altLang="zh-CN" sz="2400" b="1" dirty="0" smtClean="0">
              <a:latin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 smtClean="0">
                <a:latin typeface="+mn-ea"/>
              </a:rPr>
              <a:t>（</a:t>
            </a:r>
            <a:r>
              <a:rPr lang="en-US" altLang="zh-CN" sz="2400" b="1" dirty="0" smtClean="0">
                <a:latin typeface="+mn-ea"/>
              </a:rPr>
              <a:t>2</a:t>
            </a:r>
            <a:r>
              <a:rPr lang="zh-CN" altLang="en-US" sz="2400" b="1" dirty="0" smtClean="0">
                <a:latin typeface="+mn-ea"/>
              </a:rPr>
              <a:t>）随着中国国际地位的提高和国际形势的变化，改善中美关系成为两国共同的要求。</a:t>
            </a:r>
            <a:endParaRPr lang="en-US" altLang="zh-CN" sz="2400" b="1" dirty="0" smtClean="0">
              <a:latin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 smtClean="0">
                <a:solidFill>
                  <a:srgbClr val="000000"/>
                </a:solidFill>
                <a:latin typeface="+mn-ea"/>
              </a:rPr>
              <a:t>1971</a:t>
            </a:r>
            <a:r>
              <a:rPr lang="zh-CN" altLang="en-US" sz="2400" b="1" dirty="0" smtClean="0">
                <a:solidFill>
                  <a:srgbClr val="000000"/>
                </a:solidFill>
                <a:latin typeface="+mn-ea"/>
              </a:rPr>
              <a:t>年，基辛格访华    </a:t>
            </a:r>
            <a:r>
              <a:rPr lang="en-US" altLang="zh-CN" sz="2400" b="1" dirty="0" smtClean="0">
                <a:solidFill>
                  <a:srgbClr val="000000"/>
                </a:solidFill>
                <a:latin typeface="+mn-ea"/>
              </a:rPr>
              <a:t>1972</a:t>
            </a:r>
            <a:r>
              <a:rPr lang="zh-CN" altLang="en-US" sz="2400" b="1" dirty="0" smtClean="0">
                <a:solidFill>
                  <a:srgbClr val="000000"/>
                </a:solidFill>
                <a:latin typeface="+mn-ea"/>
              </a:rPr>
              <a:t>年，尼克松访华</a:t>
            </a:r>
            <a:endParaRPr lang="en-US" altLang="zh-CN" sz="2400" b="1" dirty="0" smtClean="0">
              <a:latin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zh-CN" altLang="en-US" dirty="0" smtClean="0"/>
              <a:t>第六单元</a:t>
            </a:r>
            <a:endParaRPr lang="en-US" altLang="zh-CN" dirty="0" smtClean="0"/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2400" b="1" dirty="0" smtClean="0">
                <a:solidFill>
                  <a:srgbClr val="0000CC"/>
                </a:solidFill>
                <a:latin typeface="+mn-ea"/>
              </a:rPr>
              <a:t>知识回顾：</a:t>
            </a:r>
            <a:endParaRPr lang="en-US" altLang="zh-CN" sz="2400" b="1" dirty="0" smtClean="0">
              <a:solidFill>
                <a:srgbClr val="0000CC"/>
              </a:solidFill>
              <a:latin typeface="+mn-ea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2400" b="1" dirty="0" smtClean="0">
                <a:latin typeface="+mn-ea"/>
              </a:rPr>
              <a:t>①原子弹②导弹③氢弹④人造地球卫星⑤屠呦呦⑥杨利伟⑦翟志刚⑧绿色食品⑨消费结构</a:t>
            </a:r>
            <a:endParaRPr lang="en-US" altLang="zh-CN" sz="2400" b="1" dirty="0" smtClean="0">
              <a:latin typeface="+mn-ea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2400" b="1" dirty="0" smtClean="0">
                <a:solidFill>
                  <a:srgbClr val="0000CC"/>
                </a:solidFill>
                <a:latin typeface="+mn-ea"/>
              </a:rPr>
              <a:t>综合练习：</a:t>
            </a:r>
            <a:endParaRPr lang="en-US" altLang="zh-CN" sz="2400" b="1" dirty="0" smtClean="0">
              <a:solidFill>
                <a:srgbClr val="0000CC"/>
              </a:solidFill>
              <a:latin typeface="+mn-ea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b="1" dirty="0" smtClean="0">
                <a:latin typeface="+mn-ea"/>
              </a:rPr>
              <a:t>1</a:t>
            </a:r>
            <a:r>
              <a:rPr lang="zh-CN" altLang="en-US" sz="2400" b="1" dirty="0" smtClean="0">
                <a:latin typeface="+mn-ea"/>
              </a:rPr>
              <a:t>、（</a:t>
            </a:r>
            <a:r>
              <a:rPr lang="en-US" altLang="zh-CN" sz="2400" b="1" dirty="0" smtClean="0">
                <a:latin typeface="+mn-ea"/>
              </a:rPr>
              <a:t>1</a:t>
            </a:r>
            <a:r>
              <a:rPr lang="zh-CN" altLang="en-US" sz="2400" b="1" dirty="0" smtClean="0">
                <a:latin typeface="+mn-ea"/>
              </a:rPr>
              <a:t>）</a:t>
            </a:r>
            <a:r>
              <a:rPr lang="en-US" altLang="zh-CN" sz="2400" b="1" dirty="0" smtClean="0">
                <a:latin typeface="+mn-ea"/>
              </a:rPr>
              <a:t>《</a:t>
            </a:r>
            <a:r>
              <a:rPr lang="zh-CN" altLang="en-US" sz="2400" b="1" dirty="0" smtClean="0">
                <a:latin typeface="+mn-ea"/>
              </a:rPr>
              <a:t>中华人民共和国土地改革法</a:t>
            </a:r>
            <a:r>
              <a:rPr lang="en-US" altLang="zh-CN" sz="2400" b="1" dirty="0" smtClean="0">
                <a:latin typeface="+mn-ea"/>
              </a:rPr>
              <a:t>》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2400" b="1" dirty="0" smtClean="0">
                <a:latin typeface="+mn-ea"/>
              </a:rPr>
              <a:t>（</a:t>
            </a:r>
            <a:r>
              <a:rPr lang="en-US" altLang="zh-CN" sz="2400" b="1" dirty="0" smtClean="0">
                <a:latin typeface="+mn-ea"/>
              </a:rPr>
              <a:t>2</a:t>
            </a:r>
            <a:r>
              <a:rPr lang="zh-CN" altLang="en-US" sz="2400" b="1" dirty="0" smtClean="0">
                <a:latin typeface="+mn-ea"/>
              </a:rPr>
              <a:t>）农民翻身做了土地的主人</a:t>
            </a:r>
            <a:endParaRPr lang="en-US" altLang="zh-CN" sz="2400" b="1" dirty="0" smtClean="0">
              <a:latin typeface="+mn-ea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2400" b="1" dirty="0" smtClean="0">
                <a:latin typeface="+mn-ea"/>
              </a:rPr>
              <a:t>（</a:t>
            </a:r>
            <a:r>
              <a:rPr lang="en-US" altLang="zh-CN" sz="2400" b="1" dirty="0" smtClean="0">
                <a:latin typeface="+mn-ea"/>
              </a:rPr>
              <a:t>3</a:t>
            </a:r>
            <a:r>
              <a:rPr lang="zh-CN" altLang="en-US" sz="2400" b="1" dirty="0" smtClean="0">
                <a:latin typeface="+mn-ea"/>
              </a:rPr>
              <a:t>）农业社会主义改造</a:t>
            </a:r>
            <a:r>
              <a:rPr lang="en-US" altLang="zh-CN" sz="2400" b="1" dirty="0" smtClean="0">
                <a:latin typeface="+mn-ea"/>
              </a:rPr>
              <a:t>/</a:t>
            </a:r>
            <a:r>
              <a:rPr lang="zh-CN" altLang="en-US" sz="2400" b="1" dirty="0" smtClean="0">
                <a:latin typeface="+mn-ea"/>
              </a:rPr>
              <a:t>农业生产合作社</a:t>
            </a:r>
            <a:endParaRPr lang="en-US" altLang="zh-CN" sz="2400" b="1" dirty="0" smtClean="0">
              <a:latin typeface="+mn-ea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2400" b="1" dirty="0" smtClean="0">
                <a:latin typeface="+mn-ea"/>
              </a:rPr>
              <a:t>（</a:t>
            </a:r>
            <a:r>
              <a:rPr lang="en-US" altLang="zh-CN" sz="2400" b="1" dirty="0" smtClean="0">
                <a:latin typeface="+mn-ea"/>
              </a:rPr>
              <a:t>4</a:t>
            </a:r>
            <a:r>
              <a:rPr lang="zh-CN" altLang="en-US" sz="2400" b="1" dirty="0" smtClean="0">
                <a:latin typeface="+mn-ea"/>
              </a:rPr>
              <a:t>）大跃进、人民公社化</a:t>
            </a:r>
            <a:r>
              <a:rPr lang="en-US" altLang="zh-CN" sz="2400" b="1" dirty="0" smtClean="0">
                <a:latin typeface="+mn-ea"/>
              </a:rPr>
              <a:t>   </a:t>
            </a:r>
            <a:r>
              <a:rPr lang="zh-CN" altLang="en-US" sz="2400" b="1" dirty="0" smtClean="0">
                <a:solidFill>
                  <a:srgbClr val="0000CC"/>
                </a:solidFill>
                <a:latin typeface="+mn-ea"/>
              </a:rPr>
              <a:t>危害：</a:t>
            </a:r>
            <a:r>
              <a:rPr lang="zh-CN" altLang="en-US" sz="2400" b="1" dirty="0" smtClean="0">
                <a:latin typeface="+mn-ea"/>
              </a:rPr>
              <a:t>加上当时自然灾害严重等因素，我国国民经济发生严重困难</a:t>
            </a:r>
            <a:endParaRPr lang="en-US" altLang="zh-CN" sz="2400" b="1" dirty="0" smtClean="0">
              <a:latin typeface="+mn-ea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2400" b="1" dirty="0" smtClean="0">
                <a:latin typeface="+mn-ea"/>
              </a:rPr>
              <a:t>（</a:t>
            </a:r>
            <a:r>
              <a:rPr lang="en-US" altLang="zh-CN" sz="2400" b="1" dirty="0" smtClean="0">
                <a:latin typeface="+mn-ea"/>
              </a:rPr>
              <a:t>5</a:t>
            </a:r>
            <a:r>
              <a:rPr lang="zh-CN" altLang="en-US" sz="2400" b="1" dirty="0" smtClean="0">
                <a:latin typeface="+mn-ea"/>
              </a:rPr>
              <a:t>）家庭联产承包责任制   </a:t>
            </a:r>
            <a:r>
              <a:rPr lang="zh-CN" altLang="en-US" sz="2400" b="1" dirty="0" smtClean="0">
                <a:solidFill>
                  <a:srgbClr val="0000CC"/>
                </a:solidFill>
                <a:latin typeface="+mn-ea"/>
              </a:rPr>
              <a:t>作用：</a:t>
            </a:r>
            <a:r>
              <a:rPr lang="zh-CN" altLang="en-US" sz="2400" b="1" dirty="0" smtClean="0">
                <a:latin typeface="+mn-ea"/>
              </a:rPr>
              <a:t>激发了农民的劳动热情，带来农村生产力的大解放，农业生产和农民收入均有很大提高</a:t>
            </a:r>
            <a:endParaRPr lang="en-US" altLang="zh-CN" sz="2400" b="1" dirty="0" smtClean="0">
              <a:latin typeface="+mn-ea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2400" b="1" dirty="0" smtClean="0">
                <a:latin typeface="+mn-ea"/>
              </a:rPr>
              <a:t>（</a:t>
            </a:r>
            <a:r>
              <a:rPr lang="en-US" altLang="zh-CN" sz="2400" b="1" dirty="0" smtClean="0">
                <a:latin typeface="+mn-ea"/>
              </a:rPr>
              <a:t>6</a:t>
            </a:r>
            <a:r>
              <a:rPr lang="zh-CN" altLang="en-US" sz="2400" b="1" dirty="0" smtClean="0">
                <a:latin typeface="+mn-ea"/>
              </a:rPr>
              <a:t>）发展必须遵循客观经济发展规律</a:t>
            </a:r>
            <a:r>
              <a:rPr lang="en-US" altLang="zh-CN" sz="2400" b="1" dirty="0" smtClean="0">
                <a:latin typeface="+mn-ea"/>
              </a:rPr>
              <a:t>/</a:t>
            </a:r>
            <a:r>
              <a:rPr lang="zh-CN" altLang="en-US" sz="2400" b="1" dirty="0" smtClean="0">
                <a:latin typeface="+mn-ea"/>
              </a:rPr>
              <a:t>发展必须符合国情</a:t>
            </a:r>
            <a:endParaRPr lang="en-US" altLang="zh-CN" sz="2400" b="1" dirty="0" smtClean="0">
              <a:latin typeface="+mn-ea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b="1" dirty="0" smtClean="0">
                <a:latin typeface="+mn-ea"/>
              </a:rPr>
              <a:t>2</a:t>
            </a:r>
            <a:r>
              <a:rPr lang="zh-CN" altLang="en-US" sz="2400" b="1" dirty="0" smtClean="0">
                <a:latin typeface="+mn-ea"/>
              </a:rPr>
              <a:t>、（</a:t>
            </a:r>
            <a:r>
              <a:rPr lang="en-US" altLang="zh-CN" sz="2400" b="1" dirty="0" smtClean="0">
                <a:latin typeface="+mn-ea"/>
              </a:rPr>
              <a:t>1</a:t>
            </a:r>
            <a:r>
              <a:rPr lang="zh-CN" altLang="en-US" sz="2400" b="1" dirty="0" smtClean="0">
                <a:latin typeface="+mn-ea"/>
              </a:rPr>
              <a:t>）新中国成立   社会主义三大改造基本完成</a:t>
            </a:r>
            <a:endParaRPr lang="en-US" altLang="zh-CN" sz="2400" b="1" dirty="0" smtClean="0">
              <a:latin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 smtClean="0">
                <a:latin typeface="+mn-ea"/>
              </a:rPr>
              <a:t>（</a:t>
            </a:r>
            <a:r>
              <a:rPr lang="en-US" altLang="zh-CN" sz="2400" b="1" dirty="0" smtClean="0">
                <a:latin typeface="+mn-ea"/>
              </a:rPr>
              <a:t>2</a:t>
            </a:r>
            <a:r>
              <a:rPr lang="zh-CN" altLang="en-US" sz="2400" b="1" dirty="0" smtClean="0">
                <a:latin typeface="+mn-ea"/>
              </a:rPr>
              <a:t>）中共十一届三中全会  </a:t>
            </a:r>
            <a:r>
              <a:rPr lang="zh-CN" altLang="en-US" sz="2400" b="1" dirty="0" smtClean="0">
                <a:solidFill>
                  <a:srgbClr val="0000CC"/>
                </a:solidFill>
                <a:latin typeface="+mn-ea"/>
              </a:rPr>
              <a:t>决策：</a:t>
            </a:r>
            <a:r>
              <a:rPr lang="zh-CN" altLang="en-US" sz="2400" b="1" dirty="0" smtClean="0">
                <a:latin typeface="+mn-ea"/>
              </a:rPr>
              <a:t>冲破了长期以来</a:t>
            </a:r>
            <a:r>
              <a:rPr lang="en-US" altLang="zh-CN" sz="2400" b="1" dirty="0" smtClean="0">
                <a:latin typeface="+mn-ea"/>
              </a:rPr>
              <a:t>“</a:t>
            </a:r>
            <a:r>
              <a:rPr lang="zh-CN" altLang="en-US" sz="2400" b="1" dirty="0" smtClean="0">
                <a:latin typeface="+mn-ea"/>
              </a:rPr>
              <a:t>左</a:t>
            </a:r>
            <a:r>
              <a:rPr lang="en-US" altLang="zh-CN" sz="2400" b="1" dirty="0" smtClean="0">
                <a:latin typeface="+mn-ea"/>
              </a:rPr>
              <a:t>”</a:t>
            </a:r>
            <a:r>
              <a:rPr lang="zh-CN" altLang="en-US" sz="2400" b="1" dirty="0" smtClean="0">
                <a:latin typeface="+mn-ea"/>
              </a:rPr>
              <a:t>倾错误的严重束缚，确定了解放思想、开动脑筋、实事求是、团结一致向前看的指导方针，果断停止使用</a:t>
            </a:r>
            <a:r>
              <a:rPr lang="en-US" altLang="zh-CN" sz="2400" b="1" dirty="0" smtClean="0">
                <a:latin typeface="+mn-ea"/>
              </a:rPr>
              <a:t>“</a:t>
            </a:r>
            <a:r>
              <a:rPr lang="zh-CN" altLang="en-US" sz="2400" b="1" dirty="0" smtClean="0">
                <a:latin typeface="+mn-ea"/>
              </a:rPr>
              <a:t>以阶级斗争为纲</a:t>
            </a:r>
            <a:r>
              <a:rPr lang="en-US" altLang="zh-CN" sz="2400" b="1" dirty="0" smtClean="0">
                <a:latin typeface="+mn-ea"/>
              </a:rPr>
              <a:t>”</a:t>
            </a:r>
            <a:r>
              <a:rPr lang="zh-CN" altLang="en-US" sz="2400" b="1" dirty="0" smtClean="0">
                <a:latin typeface="+mn-ea"/>
              </a:rPr>
              <a:t>的口号，作出了把党和国家</a:t>
            </a:r>
            <a:r>
              <a:rPr lang="zh-CN" altLang="en-US" sz="2400" b="1" dirty="0" smtClean="0">
                <a:solidFill>
                  <a:srgbClr val="FF0000"/>
                </a:solidFill>
                <a:latin typeface="+mn-ea"/>
              </a:rPr>
              <a:t>工作中心转移到经济建设</a:t>
            </a:r>
            <a:r>
              <a:rPr lang="zh-CN" altLang="en-US" sz="2400" b="1" dirty="0" smtClean="0">
                <a:latin typeface="+mn-ea"/>
              </a:rPr>
              <a:t>上来，</a:t>
            </a:r>
            <a:r>
              <a:rPr lang="zh-CN" altLang="en-US" sz="2400" b="1" dirty="0" smtClean="0">
                <a:solidFill>
                  <a:srgbClr val="FF0000"/>
                </a:solidFill>
                <a:latin typeface="+mn-ea"/>
              </a:rPr>
              <a:t>实行改革开放</a:t>
            </a:r>
            <a:r>
              <a:rPr lang="zh-CN" altLang="en-US" sz="2400" b="1" dirty="0" smtClean="0">
                <a:latin typeface="+mn-ea"/>
              </a:rPr>
              <a:t>的历史性决策</a:t>
            </a:r>
            <a:endParaRPr lang="en-US" altLang="zh-CN" sz="2400" b="1" dirty="0" smtClean="0">
              <a:latin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 smtClean="0">
                <a:latin typeface="+mn-ea"/>
              </a:rPr>
              <a:t>（</a:t>
            </a:r>
            <a:r>
              <a:rPr lang="en-US" altLang="zh-CN" sz="2400" b="1" dirty="0" smtClean="0">
                <a:latin typeface="+mn-ea"/>
              </a:rPr>
              <a:t>3</a:t>
            </a:r>
            <a:r>
              <a:rPr lang="zh-CN" altLang="en-US" sz="2400" b="1" dirty="0" smtClean="0">
                <a:latin typeface="+mn-ea"/>
              </a:rPr>
              <a:t>）和平统一、一国两制的方针     中共十五大</a:t>
            </a:r>
            <a:endParaRPr lang="en-US" altLang="zh-CN" sz="2400" b="1" dirty="0" smtClean="0">
              <a:latin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 smtClean="0">
                <a:latin typeface="+mn-ea"/>
              </a:rPr>
              <a:t>（</a:t>
            </a:r>
            <a:r>
              <a:rPr lang="en-US" altLang="zh-CN" sz="2400" b="1" dirty="0" smtClean="0">
                <a:latin typeface="+mn-ea"/>
              </a:rPr>
              <a:t>4</a:t>
            </a:r>
            <a:r>
              <a:rPr lang="zh-CN" altLang="en-US" sz="2400" b="1" dirty="0" smtClean="0">
                <a:latin typeface="+mn-ea"/>
              </a:rPr>
              <a:t>）</a:t>
            </a:r>
            <a:r>
              <a:rPr lang="zh-CN" altLang="en-US" sz="2400" b="1" dirty="0" smtClean="0">
                <a:solidFill>
                  <a:srgbClr val="0000CC"/>
                </a:solidFill>
                <a:latin typeface="+mn-ea"/>
              </a:rPr>
              <a:t>经济建设急于求成：</a:t>
            </a:r>
            <a:r>
              <a:rPr lang="zh-CN" altLang="en-US" sz="2400" b="1" dirty="0" smtClean="0">
                <a:latin typeface="+mn-ea"/>
              </a:rPr>
              <a:t>大跃进 </a:t>
            </a:r>
            <a:endParaRPr lang="en-US" altLang="zh-CN" sz="2400" b="1" dirty="0" smtClean="0">
              <a:latin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 smtClean="0">
                <a:latin typeface="+mn-ea"/>
              </a:rPr>
              <a:t>     </a:t>
            </a:r>
            <a:r>
              <a:rPr lang="zh-CN" altLang="en-US" sz="2400" b="1" dirty="0" smtClean="0">
                <a:solidFill>
                  <a:srgbClr val="0000CC"/>
                </a:solidFill>
                <a:latin typeface="+mn-ea"/>
              </a:rPr>
              <a:t>所有制结构急于求纯：</a:t>
            </a:r>
            <a:r>
              <a:rPr lang="zh-CN" altLang="en-US" sz="2400" b="1" dirty="0" smtClean="0">
                <a:latin typeface="+mn-ea"/>
              </a:rPr>
              <a:t>人民公社化运动</a:t>
            </a:r>
            <a:endParaRPr lang="en-US" altLang="zh-CN" sz="2400" b="1" dirty="0" smtClean="0">
              <a:latin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 smtClean="0">
                <a:latin typeface="+mn-ea"/>
              </a:rPr>
              <a:t>     </a:t>
            </a:r>
            <a:r>
              <a:rPr lang="zh-CN" altLang="en-US" sz="2400" b="1" dirty="0" smtClean="0">
                <a:solidFill>
                  <a:srgbClr val="0000CC"/>
                </a:solidFill>
                <a:latin typeface="+mn-ea"/>
              </a:rPr>
              <a:t>阶级斗争扩大化：</a:t>
            </a:r>
            <a:r>
              <a:rPr lang="zh-CN" altLang="en-US" sz="2400" b="1" dirty="0" smtClean="0">
                <a:latin typeface="+mn-ea"/>
              </a:rPr>
              <a:t>文化大革命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</TotalTime>
  <Words>866</Words>
  <PresentationFormat>全屏显示(4:3)</PresentationFormat>
  <Paragraphs>64</Paragraphs>
  <Slides>5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6" baseType="lpstr">
      <vt:lpstr>Office 主题</vt:lpstr>
      <vt:lpstr>幻灯片 1</vt:lpstr>
      <vt:lpstr>幻灯片 2</vt:lpstr>
      <vt:lpstr>幻灯片 3</vt:lpstr>
      <vt:lpstr>幻灯片 4</vt:lpstr>
      <vt:lpstr>幻灯片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yangmin</dc:creator>
  <cp:lastModifiedBy>yangmin</cp:lastModifiedBy>
  <cp:revision>39</cp:revision>
  <dcterms:created xsi:type="dcterms:W3CDTF">2018-06-07T00:32:39Z</dcterms:created>
  <dcterms:modified xsi:type="dcterms:W3CDTF">2018-06-11T09:05:09Z</dcterms:modified>
</cp:coreProperties>
</file>